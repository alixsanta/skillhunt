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Jours-homme</c:v>
                </c:pt>
              </c:strCache>
            </c:strRef>
          </c:tx>
          <c:spPr>
            <a:solidFill>
              <a:srgbClr val="1F5468"/>
            </a:solidFill>
            <a:effectLst/>
          </c:spPr>
          <c:invertIfNegative val="0"/>
          <c:dLbls>
            <c:numFmt formatCode="#,##0" sourceLinked="0"/>
            <c:txPr>
              <a:bodyPr/>
              <a:lstStyle/>
              <a:p>
                <a:pPr>
                  <a:defRPr b="1" i="0" strike="noStrike" sz="1050" u="none">
                    <a:solidFill>
                      <a:srgbClr val="0E1D28"/>
                    </a:solidFill>
                    <a:latin typeface="Calibri"/>
                  </a:defRPr>
                </a:pPr>
              </a:p>
            </c:txPr>
            <c:showLegendKey val="0"/>
            <c:showVal val="1"/>
            <c:showCatName val="0"/>
            <c:showSerName val="0"/>
            <c:showPercent val="0"/>
            <c:showBubbleSize val="0"/>
            <c:showLeaderLines val="0"/>
          </c:dLbls>
          <c:cat>
            <c:multiLvlStrRef>
              <c:f>Sheet1!$A$2:$A$7</c:f>
              <c:multiLvlStrCache>
                <c:ptCount val="6"/>
                <c:lvl>
                  <c:pt idx="0">
                    <c:v>EP05 Frontend</c:v>
                  </c:pt>
                  <c:pt idx="1">
                    <c:v>EP06 Qualité &amp; déploiement</c:v>
                  </c:pt>
                  <c:pt idx="2">
                    <c:v>EP02 Monolithe &amp; Auth</c:v>
                  </c:pt>
                  <c:pt idx="3">
                    <c:v>EP03 Matching</c:v>
                  </c:pt>
                  <c:pt idx="4">
                    <c:v>EP01 DevOps &amp; Sécurité</c:v>
                  </c:pt>
                  <c:pt idx="5">
                    <c:v>EP04 Médias &amp; Portfolio</c:v>
                  </c:pt>
                </c:lvl>
              </c:multiLvlStrCache>
            </c:multiLvlStrRef>
          </c:cat>
          <c:val>
            <c:numRef>
              <c:f>Sheet1!$B$2:$B$7</c:f>
              <c:numCache>
                <c:formatCode>General</c:formatCode>
                <c:ptCount val="6"/>
                <c:pt idx="0">
                  <c:v>38</c:v>
                </c:pt>
                <c:pt idx="1">
                  <c:v>20</c:v>
                </c:pt>
                <c:pt idx="2">
                  <c:v>18</c:v>
                </c:pt>
                <c:pt idx="3">
                  <c:v>17</c:v>
                </c:pt>
                <c:pt idx="4">
                  <c:v>14</c:v>
                </c:pt>
                <c:pt idx="5">
                  <c:v>14</c:v>
                </c:pt>
              </c:numCache>
            </c:numRef>
          </c:val>
        </c:ser>
        <c:dLbls>
          <c:numFmt formatCode="#,##0" sourceLinked="0"/>
          <c:txPr>
            <a:bodyPr/>
            <a:lstStyle/>
            <a:p>
              <a:pPr>
                <a:defRPr b="1" i="0" strike="noStrike" sz="1050" u="none">
                  <a:solidFill>
                    <a:srgbClr val="0E1D28"/>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17303F"/>
                </a:solidFill>
                <a:latin typeface="Calibri"/>
              </a:defRPr>
            </a:pPr>
            <a:endParaRPr lang="en-US"/>
          </a:p>
        </c:txPr>
        <c:crossAx val="2094734552"/>
        <c:crosses val="autoZero"/>
        <c:auto val="1"/>
        <c:lblAlgn val="ctr"/>
        <c:noMultiLvlLbl val="1"/>
      </c:catAx>
      <c:valAx>
        <c:axId val="2094734552"/>
        <c:scaling>
          <c:orientation val="minMax"/>
          <c:max val="45"/>
        </c:scaling>
        <c:delete val="0"/>
        <c:axPos val="b"/>
        <c:majorGridlines>
          <c:spPr>
            <a:ln w="6350" cap="flat">
              <a:solidFill>
                <a:srgbClr val="D5DFE5"/>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50" b="0" i="0" u="none" strike="noStrike">
                <a:solidFill>
                  <a:srgbClr val="5B6E7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 — Ne pas lire la slide.
« SkillHunt répond à un problème de marché : une entreprise qui a besoin d'un télépilote de drone certifié pour une mission ne sait pas où le trouver, et le télépilote indépendant n'a pas de canal d'acquisition. Je vais vous présenter comment j'ai piloté ce projet, et vous en faire la démonstration. »
Durée cible : 30 secondes.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00:15 — C'EST ICI QUE SE DIT LE PROBLÈME DE MARCHÉ. La slide 1 ne sert qu'à vous présenter ; celle-ci porte le pourquoi du projet.
« SkillHunt répond à un problème de marché simple : une entreprise ou un particulier qui a besoin d'un télépilote de drone certifié pour une mission ne sait pas où le trouver — et le télépilote indépendant, lui, n'a aucun canal d'acquisition. »
GESTE : laissez le jury voir les deux panneaux pendant la première phrase, puis DÉSIGNEZ LE VIDE CENTRAL en disant « ne sait pas où le trouver ». La slide fait le travail de la métaphore, vous n'avez pas à la commenter.
Ne lisez jamais les libellés sous les icônes.
Enchaînez sur la chute : « SkillHunt est ce canal », puis passez à la slide suivante. Trente secondes en tout.
Si on vous demande pourquoi ce marché : il est réglementé (brevet DGAC), le matériel coûte cher et détermine ce que le télépilote peut accepter comme mission — deux critères qu'aucune plateforme généraliste ne sait filtrer.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00:30 — DEUX CHOSES À FAIRE ICI, ET UNE SEULE MINUTE.
1. LE CADRE. « SkillHunt a été développé en autonomie complète. J'ai donc conçu, écrit et opéré l'intégralité du dispositif de conduite de projet pour l'équipe de trois profils que ce périmètre exige. Rien n'est simulé : tickets, arbitrages, incidents et versions sont datés dans le dépôt. »
Puis la convention de lecture : « pour que vous ne soyez jamais dans le doute, j'utilise deux marqueurs. RÉEL, ce qui a effectivement été fait et tracé. CIBLE, le dimensionnement conçu pour l'équipe d'industrialisation. »
Le référentiel autorise explicitement une mise en situation « réelle ou fictive » — vous êtes dans le cadre. Ne vous excusez jamais d'avoir travaillé seule.
2. LE DÉROULÉ. Annoncez les durées à voix haute : un jury rassuré sur votre maîtrise du temps interrompt beaucoup moins, c'est un gain net de trois à quatre minutes. « Trois de ces compétences sont éliminatoires, je les ai signalées en rouge. »
Ne commentez pas les cinq lignes une par une.
Un même ticket porte deux identifiants : SCRUM-xx est sa clé Jira, SH-xx son identifiant dans le dépôt — les deux figurent dans le titre. C'est la réponse en une phrase si le jury s'en étonne.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01:00 — LE PROBLÈME A DÉJÀ ÉTÉ DIT SUR LA SLIDE PRÉCÉDENTE. Cette slide porte la réponse et l'architecture : deux cartes, une phrase chacune. Les icônes remplacent les puces, ne les commentez pas.
Insistez sur l'Armurerie, c'est le cœur différenciant : « la qualité du matching dépend à cent pour cent de la donnée saisie par le freelance. Remplir la liste de son matériel est une corvée : je l'ai transformée en une expérience gratifiante. »
PRONONCIATION : gamification se dit à la française, ga-mi-fi-ca-tion. Le terme français officiel est « ludification » — vous pouvez le placer une fois.
Le bandeau Lot 1 / Lot 2 annonce le cas d'arbitrage et donne envie de l'entendre. Ne développez pas ici.
LA BANDE DE CHIFFRES : une seule phrase, « ces chiffres sont vérifiables dans le dépôt et dans le Jira du projet. » Ne les lisez pas un par un, ils sont là pour être vus.
ATTENTION — le chat est en texte seul, 1-à-1 recruteur ↔ freelance. Le partage de fichiers lourds est hors périmètre, reporté avec EP04. Ne le promettez jamais.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02:00 — Transition. Deux secondes à l'écran, on enchaîne.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02:05 — Compétence éliminatoire.
POURQUOI DES SPRINTS DE DEUX SEMAINES, question probable : « deux semaines, c'est le minimum pour livrer un incrément testé et revu plutôt qu'une démo jetable ; c'est assez court pour ré-arbitrer le périmètre six fois dans le projet au lieu de deux ; et c'est la maille qui correspond à une capacité de travail limitée aux soirées — sur une semaine, un imprévu personnel fait sauter le sprint entier. »
Le critère exige LES BÉNÉFICES ATTENDUS, pas seulement le nom de la méthode. Énoncez les trois bénéfices explicitement — la slide ne porte que des titres, la phrase complète est ici :
· Périmètre incertain — il fallait valider le matching sur de vrais usages avant de le figer dans une spécification.
· Cadence de démonstration régulière — une validation continue par le commanditaire, donc aucun effet tunnel.
· Réglementation drone mouvante — absorber une nouvelle exigence dans le sprint suivant sans tout replanifier.
Puis montrez la capture : « voici le Sprint 0 dans Jira. Un sprint n'existe pas sans objectif écrit — le mien est là, daté du 29 janvier au 12 février, avec sept tickets estimés en Story Points pour un total de 24. »
LES DEUX MÉTHODES ÉCARTÉES SONT À DÉVELOPPER À L'ORAL, la ligne en italique ne fait que les nommer :
· Cycle en V — suppose des spécifications figées en amont, incompatible avec la découverte du besoin sur un marché de niche mal documenté.
· Kanban seul — flux continu sans cadence, donc aucun rendez-vous de validation naturel avec le commanditaire. Conservé malgré tout pour le flux de correctifs.
Critère visé : « le choix de la méthodologie est justifié avec les bénéfices attendus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03:15 — Le critère « compatibilité méthode / outil » est un critère à part entière, et celui que les candidats ratent le plus souvent.
LA PHRASE À DIRE, MOT POUR MOT — elle n'est plus sur la slide, elle est à vous :
« Le Gantt ne pilote pas les tâches, il pilote les jalons. Les tâches vivent dans les sprints. C'est ce qui rend un outil séquentiel compatible avec une méthode itérative : chaque lot du Gantt est un incrément livrable, pas une phase figée. »
Sur la Chronologie, pointez trois choses :
1. Les sept lots sont datés et se chevauchent — un ordonnancement, pas une cascade.
2. Les icônes de lien sur EP02 et EP03 : des dépendances déclarées, pas implicites.
3. La barre jaune d'EP04, seule à droite de la ligne d'aujourd'hui : « ce lot est le microservice Média, décalé parce que je l'ai arbitré hors périmètre. Le Gantt montre la décision, il ne la cache pas. »
Sur le backlog, une seule phrase, et elle est forte : « ce qu'il reste au backlog, ce sont les tickets du microservice Média et de l'application mobile — exactement ce que l'arbitrage du 16 juillet a reporté en Lot 2. Le backlog n'est pas un reste-à-faire subi, c'est une décision. »
PERT écarté : utile pour le chemin critique, illisible en revue client. À garder pour les questions.
Critère visé : « l'outil de planification est compatible avec la méthodologie projet choisie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04:15 — Les cinq phases sont nommées EXACTEMENT comme le référentiel les nomme. Le jury a la grille sous les yeux : il coche par reconnaissance de vocabulaire.
« Chaque phase se ferme sur un jalon, et chaque jalon est un point de validation contractuel — j'y reviendrai en partie 4. »
L'ARITHMÉTIQUE DES SPRINTS, si on vous la demande : Sprint 0 de cadrage en S1–S2 (c'est celui de la capture Jira, daté du 29 janvier au 12 février), puis six sprints de deux semaines de S3 à S14. Les sprints 1 et 2 couvrent la mesure et la conception, les sprints 3 à 6 la réalisation. Restitution en S15–S16. Total : 16 semaines.
ARCHITECTURE C4, si on vous la demande : c'est le modèle de Simon Brown, qui documente une architecture à quatre niveaux de zoom — contexte (le système et ses acteurs), conteneurs (applications, bases, services), composants (l'intérieur d'un conteneur), code. L'intérêt : on montre le niveau 1 au client et le niveau 3 aux développeurs sans jamais redessiner. C'est pourquoi J1 ne valide que les niveaux 1 et 2 — l'architecture cible — tandis que la conception détaillée est livrée en J2.
Si le jury demande l'écart au réel : « le plan prévoyait 16 semaines ; l'exécution réelle a couru du 10 juin au 25 août avec une mise en production au 23 juillet. Je vous montre l'écart et ce qu'il a déclenché dans deux slides. » — n'anticipez pas ici, gardez l'arbitrage pour la partie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05:00 — Le message : la charge n'est pas une intuition, elle est décomposée, bufferisée, puis suivie.
CE QU'EST LE BUFFER, si on vous le demande : « le buffer est la marge que j'ajoute à la charge brute d'un lot. Le calcul est : charge estimée égale développement plus QA, multiplié par un plus le coefficient. Le coefficient n'est pas uniforme, il est proportionnel à l'incertitude technique : zéro sur l'infrastructure que je maîtrise, dix pour cent sur le monolithe et le frontend, vingt sur le matching et la qualité, vingt-cinq sur le microservice Média — le lot le moins cadré. »
« Le microservice Média porte le buffer le plus lourd — et c'est celui que j'ai fini par arbitrer hors périmètre. »
⚠ À VÉRIFIER AVANT LA SOUTENANCE : dans la WBS du dossier, la somme des charges par lot donne 121 J/H (14+18+17+14+38+20) alors que le total annoncé est 119. Corrigez le dossier avant le dépôt. Si la question tombe sans que ce soit corrigé, ne bluffez pas : « vous avez raison, la somme des lots donne 121 ; l'écart vient d'un arrondi que je corrige. »
Puis la capture Jira à droite : « le découpage en lots n'est pas resté sur le papier. Voici l'avancement réel par lot, tel que l'outil le calcule. »
Cette dernière phrase prépare l'arbitrage : le buffer le plus gros était sur le lot le plus risqué, et c'est celui qui a sauté.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05:45 — Un jury de professionnels teste presque toujours la capacité à chiffrer. Ne survolez pas.
LES SIGLES, si le jury les demande :
· TJM — Taux Journalier Moyen, le prix d'une journée de travail d'un profil. 600 € pour le Lead, 400 € pour le développeur full-stack, 450 € pour la designer.
· WBS — Work Breakdown Structure, en français organigramme des tâches : la décomposition du projet en lots puis en tâches élémentaires, chacune chiffrée. C'est d'elle que sortent les 119 J/H.
· CDN — Content Delivery Network, réseau de diffusion de contenu : des serveurs répartis géographiquement qui gardent une copie des fichiers lourds près de l'utilisateur. Ici S3 pour stocker, CloudFront pour diffuser. Deux bénéfices : lecture fluide des portfolios vidéo, et maîtrise des coûts de transfert sortant.
LES 11 400 € : l'estimation FinOps du dossier est calculée sur une base de 1 000 utilisateurs actifs. Dites-le, c'est ce qui rend le chiffre crédible.
ATTENTION — question probable : « pourquoi 160 jours staffés pour 119 jours estimés ? » Réponse préparée : « les 119 J/H sont la charge de production issue de la WBS. Les 41 jours d'écart couvrent la coordination, la recette et la reprise de dette technique, qui ne produisent pas de fonctionnalité mais sont indispensables. Un plan qui staffe exactement la charge de production est un plan qui dérape. »
LE MATÉRIEL, À DÉVELOPPER — la carte ne donne que les trois têtes de chapitre : trois environnements isolés et conteneurisés (développement, staging, production), une VM cloud OVHcloud avec son registre d'images privé, le dépôt Git et la chaîne d'intégration continue, et pour les portfolios un stockage objet S3 avec diffusion par CDN.
Vérifiez avant la soutenance que ce chiffre est le même dans votre dossier BC01.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06:45 — LE CRITÈRE HANDICAP TOMBE ICI POUR LA PREMIÈRE FOIS. Il revient deux fois ensuite : slide 20 (pilotage d'équipe) et slide 24 (modalités de formation).
LA FORMULATION EXACTE, à ne pas déformer : « je n'ai pas eu de collaborateur en situation de handicap dans ce projet. J'ai en revanche une règle que j'applique réellement — tout ce qui est décidé est écrit. Cette règle n'a pas été pensée pour l'accessibilité, mais c'est exactement ce qui rend un poste tenable pour un développeur malentendant. Voici ce que j'y ajouterais pour l'équipe cible. »
Ne prétendez jamais avoir managé une personne en situation de handicap. Le critère demande que l'affectation en tienne compte, pas que le cas se soit produit.
Les deux pastilles disent au jury ce qu'il regarde : la matrice RACI est le dimensionnement de l'équipe cible, le ticket Jira est réel. Ne laissez jamais planer le doute.
Sur la capture, pointez la personne assignée, l'estimation à 5 points, l'échéance du 23 juillet, et surtout la ligne « Compétences RNCP : C2.2.2 » : chaque ticket sait à quelle compétence du référentiel il contribue.
=== TROIS QUESTIONS PROBABLES SUR CETTE SLIDE ===
« Peut-on avoir deux fois la même lettre sur une ligne d'une matrice RACI ? » — Oui, sauf pour le A. La règle est : un seul A par ligne, car une seule personne rend des comptes ; idéalement un seul R ; et autant de C et de I que nécessaire. Ma matrice respecte la règle sur les six lignes : les doublons ne portent que sur C et I.
« Rollback en moins de cinq minutes, qu'est-ce que c'est ? » — Le retour arrière. Chaque déploiement pose des images taguées par version ; si les healthchecks échouent après une mise en production, on redéploie automatiquement le tag précédent, N-1, en moins de cinq minutes. C'est ce que rend possible la table de correspondance version-tag-image du journal des versions. C'est le plan de continuité de ce ticket — d'où son titre, « mise en production V1.0 + PCA ».
« Qu'est-ce que le RGAA ? » — Le Référentiel Général d'Amélioration de l'Accessibilité, version 4.1. C'est le référentiel français d'accessibilité numérique ; il transpose les critères internationaux WCAG 2.1 niveau AA et s'impose au secteur public et aux grandes entreprises. Sur le projet, l'audit est automatisé et bloquant en intégration : 100 sur 100 sur les pages publiques.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07:45 — Critère explicite de la grille, et pourtant très souvent oublié : « les points de vigilance sont soulignés ».
Le point fort de cette slide : chaque risque porte une parade ET un indicateur de contrôle chiffré. Un risque sans indicateur n'est pas piloté, il est seulement listé.
« Ces indicateurs alimentent directement le tableau de bord que je vous montre maintenant. » — transition vers la partie 2.
=== QUESTIONS-RÉPONSES TECHNIQUES SUR CETTE SLIDE ===
« Comment vérifie-t-on les métadonnées d'un PDF ? » — À l'upload, un service extrait les métadonnées du fichier : producteur, outil de création, dates de création et de modification, XMP. Un brevet DGAC authentique sort d'une chaîne d'édition administrative ; un PDF fabriqué sort d'un éditeur d'image ou d'un traitement de texte, et sa date de création ne colle pas à celle du document. Le même service purge ensuite les données personnelles inutiles, au titre de la minimisation RGPD.
IMPORTANT — présentez-le dans cet ordre : le contrôle décisif est le workflow de validation par un administrateur humain ; les métadonnées ne sont qu'un filtre de premier niveau. Des métadonnées se falsifient en une commande. Si vous inversez l'ordre, un jury technique vous démonte en une question.
« Comment empêchez-vous quelqu'un de déclarer un matériel qu'il ne possède pas ? » — « Je ne l'empêche pas, et c'est assumé. La déclaration de matériel est déclarative ; ce qui est vérifié, ce sont les certifications, parce que ce sont elles qui portent le risque juridique. Le matériel est un critère de recherche, le brevet un critère de conformité : les deux n'ont pas besoin du même niveau de preuve. »
« Votre badge Vérifié engage votre responsabilité. Vous l'assumez ? » — « Il engage la plateforme sur ce qu'elle a vérifié : l'existence et la validité d'un document à une date. Pas sur la compétence de la personne. C'est pour cela que le badge est daté et que la validation est tracée dans l'espace d'administration. »
« Pourquoi bannir les requêtes SQL brutes plutôt que les paramétrer correctement ? » — « Parce qu'une règle vérifiable automatiquement vaut mieux qu'une bonne pratique. Une requête brute se repère en revue et en analyse statique ; une requête paramétrée à moitié, non. L'ORM et la validation par DTO déplacent le contrôle du développeur vers l'outillage. »
« Comment savez-vous que votre parade contre la saturation du transcodage fonctionne, puisque EP04 n'est pas en production ? » — NE BLUFFEZ PAS, c'est la question piège de cette slide. « Je ne le sais pas, et c'est la bonne réponse. R1 porte sur un lot reporté : la parade est conçue et budgétée, elle n'est pas éprouvée. Mon indicateur de contrôle, la taille de la file d'attente, n'aura de valeur qu'au Lot 2. »
« Un risque à 16 sur 25, vous le jugez acceptable ? » — « Non, c'est pour cela qu'il est le seul à ce niveau et qu'il a déclenché trois parades cumulées. La criticité 16 n'est pas une tolérance, c'est une priorité de traitement.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09:00 — Transition.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09:05 — Compétence éliminatoire.
Ne détaillez pas les trois captures : ce sont des preuves à montrer du doigt, pas à lire. Une phrase chacune.
· Pull Requests : « 55 fusionnées, et chaque branche porte le numéro de son ticket. »
· Intégration continue : « six pipelines, 274 exécutions. Un échec bloque la fusion. »
· Journal des versions : « la table de correspondance, c'est mon outil de retour arrière, pas de la documentation. »
Le mot qui coche le critère est ADÉQUATION : ne dites pas seulement ce que vous avez utilisé, dites pourquoi cet outillage épouse Scrum. Le bandeau du bas est là pour ça — développez la Pull Request : lint, audit, tests et build doivent être verts, sans quoi la fusion est techniquement impossible.
⚠ QUESTION PIÈGE : « un ticket se transforme-t-il toujours en image déployée en production ? » — Non, et la chaîne ne dit pas cela. Un ticket de documentation, une exploration technique, un ticket fermé sans suite ou un ticket du Lot 2 ne produisent aucune image. La formulation exacte est l'inverse : toute exigence qui VA jusqu'en production a obligatoirement franchi ces quatre maillons, dans cet ordre. La chaîne décrit un chemin obligatoire, pas un destin automatique.
Critère visé : « l'outil de suivi utilisé est en adéquation avec le projet et la méthodologie choisie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10:00 — CE QUE FAIT CETTE SLIDE, si on vous le demande : elle prouve que le pilotage ne se fait pas à l'intuition.
Le critère dit « mesurables et quantifiables » et exige la couverture des délais, des coûts et de l'avancement. D'où deux colonnes distinctes : un SEUIL exigé et une VALEUR constatée. Un indicateur sans seuil n'est pas un indicateur, c'est une observation.
Lisez la phrase d'introduction, c'est elle qui porte l'argument : « techniquement impossible », pas « contractuellement interdit ». La preuve de ce mécanisme est la capture d'intégration continue de la slide précédente.
La ligne SH-14 est volontairement inconfortable : un ticket estimé 5 points qui en a coûté 8 à 13. NE LA CACHEZ PAS. « Le tableau de bord sert précisément à voir ces écarts, et c'est un écart de ce type qui a déclenché l'arbitrage que je vais vous présenter. »
Critère visé : « les indicateurs sont mesurables et quantifiables ; ils permettent de suivre les délais, les coûts et l'avancement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11:00 — Cinq volets, cinq panneaux. Le jury a cette liste dans sa grille : parcourez-les dans l'ordre, en les nommant.
Le message d'ensemble : un tableau de bord de chef de projet n'est pas la capture d'un seul outil. Jira porte l'avancement ; les délais viennent des jalons et des versions déployées ; les coûts de mon suivi de charge ; les risques de ma cotation ; la charge, de la production réelle. Dites-le, cela vaut mieux que de prétendre que tout tient dans Jira.
Sur la capture Jira : « chaque ligne est un lot, chaque colonne un statut. 39 tickets terminés sur 66. EP02 et EP05 sont clos. EP04, le microservice Média, est le seul lot où presque rien n'est terminé — c'est le lot que j'ai reporté en Lot 2. »
NE PRÉSENTEZ PAS LE PIC DE 138 COMMITS COMME UNE PROUESSE. C'est un indicateur de surcharge, et c'est ce qui rend crédible tout ce qui suit : « le tableau de bord a fait son travail — il m'a montré que le périmètre excédait la capacité, une semaine avant la livraison. »
Les deux semaines à zéro sont des pauses assumées après livraison.
« POURQUOI SEULEMENT 950 € PAR MOIS ? », question probable. Réponse : « c'est le coût d'un Lot 1 monolithique et frugal. Une seule VM OVHcloud porte tous les services conteneurisés, donc aucun service managé facturé à l'unité. Le géospatial tourne dans PostgreSQL via PostGIS au lieu d'une API cartographique facturée à la requête — mon dossier retient un coût d'API strictement nul quel que soit le nombre d'utilisateurs. Et le stockage média lourd, qui est le vrai poste coûteux, n'est pas en production puisque EP04 est en Lot 2. Le Lot 2 fera monter ce chiffre, et c'est budgété. » L'estimation annuelle de 11 400 € est calculée sur une base de 1 000 utilisateurs actifs.
Critère visé : « les tableaux de bord intègrent l'avancement, le suivi des coûts, des délais, des risques et des Ressources Humaines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12:00 — Racontez-le comme une histoire, avec des chiffres et une date. C'est ce que le jury retiendra de toute la partie 2.
Le premier critère de C3.2.2 exige les CONSÉQUENCES, pas seulement le problème. Les trois cartes sont là pour ça — nommez-les à voix haute : délai, qualité, dette.
La phrase du triangle de fer en bas est votre transition vers les options. Marquez une pause avant de changer de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13:00 — Le référentiel cite NOMMÉMENT le logigramme comme outil d'aide à la décision. Il est à gauche : montrez-le du doigt.
Trois arguments dans cet ordre pour l'option C : (1) elle préserve la date contractuelle ; (2) le microservice Média est une infrastructure lourde sans impact sur la démonstration du cœur différenciant, qui est le matching ; (3) rien n'est abandonné — tout reste au backlog avec son statut et son budget.
PUIS LE COUP DE GRÂCE, colonne de droite : « l'arbitrage n'a pas seulement sauvé la date. La marge qu'il a dégagée m'a permis de livrer trois fonctionnalités que j'avais moi-même dé-priorisées. C'est la preuve que la décision était bonne. »
Marquez une pause ici. C'est le sommet de la présentation.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15:00 — Transition. C'est la partie où la plupart des candidats perdent des points : onze critères s'y jouent.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15:05 — Le référentiel nomme les quatre styles : directif, persuasif, participatif, délégatif. Utilisez EXACTEMENT ces quatre mots.
N'en présentez jamais un seul : ce que le jury évalue, c'est votre capacité à en changer selon le contexte et la maturité de l'interlocuteur.
POURQUOI CHAQUE STYLE, à dire à l'oral — ce n'est plus sur la slide :
· Directif — non négociable, aucune marge d'interprétation : le risque juridique est porté par le projet.
· Persuasif — décision arrêtée, mais qui exige l'adhésion pour être tenue dans la durée.
· Participatif — la qualité de la solution dépend de l'intelligence collective : l'équipe sait mieux que moi.
· Délégatif — compétence avérée : la supervision porte sur le résultat et la revue de code, pas sur le chemin.
LA PHRASE HANDICAP EN ENTIER, la slide n'en garde qu'une ligne : « le délégatif suppose que l'information circule sans moi — il n'est tenable que parce que tout est écrit. L'intégration et l'aménagement du poste, eux, se décident en participatif : avec la personne concernée, jamais pour elle. »
Principes d'animation associés, si on vous les demande : écoute active en rétrospective, bienveillance dans la revue de code (on critique le code, jamais la personne), leadership assumé sur les décisions de conformité.
Critères visés : « le style managérial est identifié et décrit » et « les spécificités des personnes en situation de handicap sont prises en compte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16:15 — LA SLIDE QUE PRESQUE AUCUN CANDIDAT NE FAIT. Le critère existe pourtant : « une analyse critique d'une situation ou d'une posture managériale est présentée », suivi de « les recommandations sont réalistes et réalisables ». Deux critères d'un coup.
Assumez pleinement. Un jury de professionnels ne sanctionne pas l'erreur reconnue et corrigée : il sanctionne l'absence de recul. Un candidat qui n'a jamais rien mal fait n'a jamais rien piloté.
Le mot important est « posture » : ce n'est pas un bug que vous analysez, c'est votre manière de diriger. Dites bien « posture délégative envers mon outillage ».
Terminez sur la recommandation chiffrée : c'est ce qui la rend « réalisable » au sens du critère.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17:15 — Deux critères ici, et deux seulement : le partage de ressources, et la pertinence des outils au regard de l'objectif.
C'est pour cela que le tableau a une colonne « objectif poursuivi ». NE LISEZ PAS LES SEPT LIGNES. Prenez-en trois — le ticket, la revue de Pull Request, le journal des versions — et dites pour chacune à quoi elle sert. Le reste, le jury le lit seul.
Terminez sur le bandeau ambre, c'est lui qui coche le premier critère : tout est versionné au même endroit que le code, donc le contexte se transmet sans réunion.
Une minute trente, pas plus.
=== SI ON VOUS INTERROGE SUR LE CONTEXTE MULTICULTUREL ET INTERNATIONAL ===
Il figure dans l'intitulé de la compétence C3.3.1 mais ne fait l'objet d'aucune ligne de critère : ne l'imposez pas, tenez-le en réserve. Réponse préparée :
« Le marché visé est européen et le cadre réglementaire l'est aussi. J'en ai tiré une règle écrite dans le fichier de conventions du projet : les identifiants du code sont en anglais, les commentaires et les messages destinés à l'utilisateur en français. Un contributeur non francophone peut donc lire et modifier le code sans traducteur. S'y ajoutent une plage de recouvrement horaire garantie, les calendriers nationaux intégrés au planning des sprints, et la règle « aucune décision validée à l'oral seul » — la même que celle posée pour l'accessibilité.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18:15 — LA RÈGLE DU NIVEAU REQUIS, à défendre si on vous demande pourquoi 3 et pas 4 : « le niveau requis est dicté par le projet, pas par un idéal. Un 4 est exigé là où la personne est le dernier recours — le Lead sur l'architecture et la sécurité, la Designer sur l'UX. Un 3 suffit là où le travail passe en revue. Exiger 4 partout produirait une équipe que personne ne peut recruter, et signalerait surtout que je ne sais pas prioriser. »
LES TROIS ÉCARTS, À COMMENTER À L'ORAL DANS CET ORDRE :
1. Observabilité, acquis nul — la plateforme a tourné 27 jours en production sans aucun moyen de savoir si elle fonctionnait, et cet écart a produit une anomalie exposée 26 jours.
2. Géospatial PostGIS, un seul porteur au niveau requis — point de fragilité unique, traité par du binômage.
3. Accessibilité RGAA, niveau 2 pour un requis 3 — alors que le seuil est bloquant en intégration.
Le critère demande une grille des compétences ACTUELLES ET À ACQUÉRIR : d'où le format « actuel / requis » dans chaque case. Les écarts sont en rouge, c'est lisible d'un coup d'œil.
Et le critère dit « commentée ». Ne laissez jamais le jury lire la grille seul : commentez les trois écarts à voix haute, dans l'ordre de gravité.
L'argument massue : l'écart d'observabilité a un coût réel et mesuré, 26 jours d'exposition. Un écart de compétence chiffré par sa conséquence, c'est rare et cela se remarque.
=== L'ANOMALIE EXPOSÉE 26 JOURS, C'EST AN-01 — À CONNAÎTRE PAR CŒUR ===
Symptôme : les conteneurs gateway et frontend-web étaient marqués « unhealthy » par Docker alors qu'ils servaient correctement le trafic, HTTP 200 vérifié.
Cause racine : wget, en BusyBox/Alpine, utilisé par le HEALTHCHECK, résout localhost en IPv6 double-deux-points-un, alors que les fichiers nginx.conf ne déclarent que « listen 80 », donc en IPv4.
Détection : le 6 août, fortuitement, via docker compose ps — aucune sonde ne couvrait ces conteneurs.
Exposition : 26 jours, du 23 juillet au 18 août.
LA PHRASE QUI FAIT LA DIFFÉRENCE : « AN-01 n'est pas une panne — le conteneur servait le trafic. C'est sa sonde qui était fausse. Une supervision par métriques observe le service, pas la justesse de ses propres sondes. » Ajoutez que le ticket SH-29 affirmait l'inverse et que vous l'avez corrigé et daté sur place.
=== « UN SEUL PORTEUR AU NIVEAU REQUIS », CE QUE ÇA VEUT DIRE ===
Une seule personne de l'équipe cible atteint le niveau exigé sur PostGIS. C'est un facteur de bus égal à un : si elle est absente, le chantier géospatial s'arrête, et personne ne peut relire son code sérieusement. La parade est la programmation en binôme puis la rotation — un second profil monte au niveau requis en travaillant à côté d'elle. Coût : zéro euro de formation externe, et le point de fragilité disparaît.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19:15 — Chaque écart de la slide précédente reçoit ici une réponse datée, avec une modalité et un état. Un plan sans échéance n'est pas un plan.
La colonne « État » est votre atout : trois lignes sur cinq sont RÉALISÉES, avec des preuves dans le dépôt. Ce n'est pas un plan théorique.
TROISIÈME ET DERNIÈRE OCCURRENCE DU CRITÈRE HANDICAP, sur les modalités de formation. Ne l'oubliez pas. Le bandeau ambre ne porte que deux lignes, développez-les :
« Chaque montée en compétence de ce plan a déjà produit un support écrit — runbook d'exploitation, documents de conception, politique de dépendances. Une formation qui laisse une trace écrite est une formation suivable sans l'oral. Pour l'équipe cible, j'y ajoute quatre modalités : un format asynchrone à rythme libre plutôt que du présentiel, du temps supplémentaire sur les parcours certifiants, un aménagement matériel du poste, et des vidéos sous-titrées. »
N'oubliez pas non plus la dernière ligne : le critère mentionne explicitement la transmission des besoins de recrutement au service RH.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21:00 — Transition. Partie courte : trois minutes, quatre critères.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21:05 — Deux critères : la clarté des comptes rendus, et l'organisation des points de validation « de manière à assurer le suivi qualité ». La colonne de droite, avec ses quatre niveaux, coche le second.
À DIRE À L'ORAL, ce n'est plus sur la slide — c'est l'argument qui coche le premier critère :
« Le quatrième bloc, les décisions attendues, est ce qui transforme un compte rendu en outil de décision. Le client n'a pas à extraire lui-même ce qu'on attend de lui : il ouvre le document, il voit trois questions, il répond. Et la régularité du format est ce qui rend la lecture rapide. »
Si vous avez un vrai compte rendu ou une décision de cadrage datée dans votre dépôt, montrez-la à la place du gabarit.
Rythme rapide : une minute trente pour la slide entière.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22:30 — Le critère est « les indicateurs de satisfaction sont définis et COHÉRENTS AU REGARD DU PROJET ». D'où la structure en deux versants : sur une place de marché, mesurer la satisfaction d'un seul côté ne dit rien de la viabilité du produit. Dites cette phrase.
Les trois chiffres, en une phrase chacun :
· 16 sur 18 — la campagne de recette compte 18 scénarios ; 16 sont passés du premier coup, les 2 autres ont été corrigés et re-testés.
· 0 — aucune anomalie bloquante n'était encore ouverte au moment de la livraison.
· moins de 24 h — un utilisateur a vu sa création de compte refusée par une erreur 405 ; l'anomalie a été signalée, diagnostiquée, corrigée et re-vérifiée dans la journée.
Assumer la limite est un choix délibéré et payant : un jury de professionnels préfère très largement une limite nommée à un indicateur inventé, et il repère les indicateurs inventés.
Si on vous demande pourquoi vous ne l'avez pas fait : « la démonstration a été ouverte tardivement et sur un environnement temporaire ; j'ai préféré consacrer ce temps à instrumenter la production. C'était le bon arbitrage pour le produit, c'en est un mauvais pour la mesure de satisfaction.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24:00 — Transition. Respirez, buvez une gorgée d'eau, basculez sur le navigateur.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24:05 — COMPÉTENCE ÉLIMINATOIRE. Cinq minutes, quatre temps, un fil narratif — jamais une visite de menus.
=== L'ENVIRONNEMENT : LA STACK LOCALE ===
L'abonnement OVHcloud est résilié : la production n'est plus joignable. La démonstration se fait sur la stack conteneurisée locale, http://localhost:8088. Les quatre critères de C3.4.2 — le logiciel est utilisable, la démonstration reprend les fonctionnalités attendues, le vocabulaire est adapté, la démonstration aboutit à une validation — n'exigent aucun hébergement en ligne. Ne vous excusez pas : « la plateforme tourne devant vous sur les images qui ont été déployées en production le 23 juillet. »
Procédure complète, à imprimer : docs/soutenance/GUIDE_DEMO_JOUR_J.md.
=== T-45 MINUTES, LES DEUX COMMANDES ===
docker compose --profile app up -d   (SANS --build : les images sont construites au J-1)
bash scripts/seed-demo.sh            (jeu de démonstration, idempotent)
Puis vérifier : docker compose --profile app ps — tout doit être healthy — et curl http://localhost:8088/api/v1/health/ready.
Ne démarrez pas le profil obs : six conteneurs de plus pour rien.
=== LA FICHE MÉMO ===
Mot de passe de tous les comptes : MotDePasse2026!
Recruteur demo2026-recruteur@skillhunt.io · Freelance de secours demo2026-pilote@skillhunt.io · Admin demo2026-admin@skillhunt.io
Freelance créé en direct : pilote-jury-&lt;jour&gt;&lt;mois&gt;@skillhunt.io — CHANGEZ LE SUFFIXE à chaque répétition, un email déjà utilisé renvoie une erreur devant le jury.
Recherche qui matche : compétences drone, telepilote · ville Toulouse · rayon 50 km. Score attendu : DemoPilote 0.88.
=== LA QUESTION CERTAINE : COMMENT LE SCORE EST-IL CALCULÉ ? ===
0,50 × compétences + 0,30 × matériel + 0,20 × localisation. Et la phrase qui fait la différence : les compétences sont INFÉRÉES des catégories de matériel validé — le score ne repose pas sur du déclaratif, il repose sur du matériel vérifié. C'est exactement ça, le cœur différenciant.
=== DEUX GESTES À NE PAS PROMETTRE ===
1. Il n'y a PAS d'écran d'administration en Lot 1, c'est écrit dans le code. Ne dites jamais « je bascule sur l'espace d'administration ». Dites : « la validation par l'administrateur est une API documentée. Dans le Lot 1, j'ai arbitré de ne pas construire d'écran d'administration : il n'apporte rien à la démonstration du cœur différenciant, et il coûtait deux jours. Voici la file de validation dans la documentation OpenAPI, et voici l'appel qui bascule l'équipement en statut vérifié. »
2. Il n'y a PAS d'écran de dépôt de certification. Ne le montrez pas au temps 1. Dites-le au temps 2, sur le même écran : « la certification suit exactement le même circuit — dépôt, file de validation, lien signé à durée limitée, purge des données personnelles du document original. L'API est là ; l'écran de dépôt fait partie du Lot 2. »
=== VOCABULAIRE — CRITÈRE À PART ENTIÈRE ===
On dit : profil vérifié · score de correspondance · mission publiée.
On ne dit pas : point d'accès · jointure · intergiciel · conteneur.
Si un membre du jury vous ramène sur la technique, répondez techniquement : c'est alors lui qui a changé de registre.
=== PRÉPARATION MATÉRIELLE, NON NÉGOCIABLE ===
· Docker Desktop lancé et stack démarrée AVANT d'entrer en salle ; notifications coupées ; zoom du navigateur à 125 %.
· Quatre onglets ouverts : /register vierge, /api/docs, /recherche connecté en recruteur dans une fenêtre PRIVÉE, et un terminal avec la commande du temps 2 déjà tapée mais non validée.
· Vidéo de secours de trois minutes, sur clé ET intégrée au diaporama.
· Jeu de données crédible : vraies communes, vraies références de drones. Aucun « test test 123 » à l'écran.
· Le scénario répété au moins cinq fois : la démonstration doit tenir pendant que vous parlez.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28:00 — Une minute, pas plus.
Les quatre chiffres du haut se lisent seuls : ne les commentez pas un par un. Une phrase suffit : « voilà ce que le dispositif a produit. »
PUIS LA VERSION 2, et c'est elle qui porte la conclusion : « le Lot 2 n'est pas une liste de regrets, c'est une feuille de route datée et budgétée. Le microservice Média et l'application mobile étaient au périmètre initial ; je les ai arbitrés, pas abandonnés. S'y ajoutent les améliorations du frontend issues de la recette, et un renforcement du système de vérification des certifications — parce que c'est lui qui porte le risque le plus critique de mon registre. »
LA PHRASE DE CLÔTURE, à apprendre par cœur et à dire lentement, en regardant le jury et non l'écran : « le pilotage ne consiste pas à faire tenir un plan, mais à décider vite quand le plan ne tient plus. »
Puis TAISEZ-VOUS et laissez venir les questions. Ne meublez pas : le silence après une bonne conclusion travaille pour vous.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1.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9-1.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D28"/>
        </a:solidFill>
      </p:bgPr>
    </p:bg>
    <p:spTree>
      <p:nvGrpSpPr>
        <p:cNvPr id="1" name=""/>
        <p:cNvGrpSpPr/>
        <p:nvPr/>
      </p:nvGrpSpPr>
      <p:grpSpPr>
        <a:xfrm>
          <a:off x="0" y="0"/>
          <a:ext cx="0" cy="0"/>
          <a:chOff x="0" y="0"/>
          <a:chExt cx="0" cy="0"/>
        </a:xfrm>
      </p:grpSpPr>
      <p:sp>
        <p:nvSpPr>
          <p:cNvPr id="3" name="Shape 0"/>
          <p:cNvSpPr/>
          <p:nvPr/>
        </p:nvSpPr>
        <p:spPr>
          <a:xfrm>
            <a:off x="566928" y="960120"/>
            <a:ext cx="2834640" cy="384048"/>
          </a:xfrm>
          <a:prstGeom prst="roundRect">
            <a:avLst>
              <a:gd name="adj" fmla="val 16667"/>
            </a:avLst>
          </a:prstGeom>
          <a:solidFill>
            <a:srgbClr val="D98A21"/>
          </a:solidFill>
          <a:ln w="12700">
            <a:solidFill>
              <a:srgbClr val="D98A21"/>
            </a:solidFill>
            <a:prstDash val="solid"/>
          </a:ln>
        </p:spPr>
      </p:sp>
      <p:sp>
        <p:nvSpPr>
          <p:cNvPr id="4" name="Text 1"/>
          <p:cNvSpPr/>
          <p:nvPr/>
        </p:nvSpPr>
        <p:spPr>
          <a:xfrm>
            <a:off x="566928" y="960120"/>
            <a:ext cx="2834640" cy="384048"/>
          </a:xfrm>
          <a:prstGeom prst="rect">
            <a:avLst/>
          </a:prstGeom>
          <a:noFill/>
          <a:ln/>
        </p:spPr>
        <p:txBody>
          <a:bodyPr wrap="square" lIns="0" tIns="0" rIns="0" bIns="0" rtlCol="0" anchor="ctr"/>
          <a:lstStyle/>
          <a:p>
            <a:pPr algn="ctr" indent="0" marL="0">
              <a:buNone/>
            </a:pPr>
            <a:r>
              <a:rPr lang="en-US" sz="1150" b="1" dirty="0">
                <a:solidFill>
                  <a:srgbClr val="0E1D28"/>
                </a:solidFill>
                <a:latin typeface="Courier New" pitchFamily="34" charset="0"/>
                <a:ea typeface="Courier New" pitchFamily="34" charset="-122"/>
                <a:cs typeface="Courier New" pitchFamily="34" charset="-120"/>
              </a:rPr>
              <a:t>BLOC 3 · RNCP 39583</a:t>
            </a:r>
            <a:endParaRPr lang="en-US" sz="1150" dirty="0"/>
          </a:p>
        </p:txBody>
      </p:sp>
      <p:sp>
        <p:nvSpPr>
          <p:cNvPr id="5" name="Text 2"/>
          <p:cNvSpPr/>
          <p:nvPr/>
        </p:nvSpPr>
        <p:spPr>
          <a:xfrm>
            <a:off x="566928" y="1600200"/>
            <a:ext cx="11057839" cy="1234440"/>
          </a:xfrm>
          <a:prstGeom prst="rect">
            <a:avLst/>
          </a:prstGeom>
          <a:noFill/>
          <a:ln/>
        </p:spPr>
        <p:txBody>
          <a:bodyPr wrap="square" lIns="0" tIns="0" rIns="0" bIns="0" rtlCol="0" anchor="ctr"/>
          <a:lstStyle/>
          <a:p>
            <a:pPr indent="0" marL="0">
              <a:buNone/>
            </a:pPr>
            <a:r>
              <a:rPr lang="en-US" sz="7200" b="1" dirty="0">
                <a:solidFill>
                  <a:srgbClr val="FFFFFF"/>
                </a:solidFill>
                <a:latin typeface="Cambria" pitchFamily="34" charset="0"/>
                <a:ea typeface="Cambria" pitchFamily="34" charset="-122"/>
                <a:cs typeface="Cambria" pitchFamily="34" charset="-120"/>
              </a:rPr>
              <a:t>SkillHunt</a:t>
            </a:r>
            <a:endParaRPr lang="en-US" sz="7200" dirty="0"/>
          </a:p>
        </p:txBody>
      </p:sp>
      <p:sp>
        <p:nvSpPr>
          <p:cNvPr id="6" name="Text 3"/>
          <p:cNvSpPr/>
          <p:nvPr/>
        </p:nvSpPr>
        <p:spPr>
          <a:xfrm>
            <a:off x="566928" y="2788920"/>
            <a:ext cx="8595360" cy="822960"/>
          </a:xfrm>
          <a:prstGeom prst="rect">
            <a:avLst/>
          </a:prstGeom>
          <a:noFill/>
          <a:ln/>
        </p:spPr>
        <p:txBody>
          <a:bodyPr wrap="square" lIns="0" tIns="0" rIns="0" bIns="0" rtlCol="0" anchor="t"/>
          <a:lstStyle/>
          <a:p>
            <a:pPr indent="0" marL="0">
              <a:buNone/>
            </a:pPr>
            <a:r>
              <a:rPr lang="en-US" sz="2200" dirty="0">
                <a:solidFill>
                  <a:srgbClr val="F0AE44"/>
                </a:solidFill>
                <a:latin typeface="Cambria" pitchFamily="34" charset="0"/>
                <a:ea typeface="Cambria" pitchFamily="34" charset="-122"/>
                <a:cs typeface="Cambria" pitchFamily="34" charset="-120"/>
              </a:rPr>
              <a:t>Coordonner et piloter un projet de développement d'applications logicielles</a:t>
            </a:r>
            <a:endParaRPr lang="en-US" sz="2200" dirty="0"/>
          </a:p>
        </p:txBody>
      </p:sp>
      <p:sp>
        <p:nvSpPr>
          <p:cNvPr id="7" name="Text 4"/>
          <p:cNvSpPr/>
          <p:nvPr/>
        </p:nvSpPr>
        <p:spPr>
          <a:xfrm>
            <a:off x="566928" y="3657600"/>
            <a:ext cx="7863840" cy="731520"/>
          </a:xfrm>
          <a:prstGeom prst="rect">
            <a:avLst/>
          </a:prstGeom>
          <a:noFill/>
          <a:ln/>
        </p:spPr>
        <p:txBody>
          <a:bodyPr wrap="square" lIns="0" tIns="0" rIns="0" bIns="0" rtlCol="0" anchor="ctr"/>
          <a:lstStyle/>
          <a:p>
            <a:pPr indent="0" marL="0">
              <a:buNone/>
            </a:pPr>
            <a:r>
              <a:rPr lang="en-US" sz="1400" dirty="0">
                <a:solidFill>
                  <a:srgbClr val="A9BDC9"/>
                </a:solidFill>
                <a:latin typeface="Calibri" pitchFamily="34" charset="0"/>
                <a:ea typeface="Calibri" pitchFamily="34" charset="-122"/>
                <a:cs typeface="Calibri" pitchFamily="34" charset="-120"/>
              </a:rPr>
              <a:t>Plateforme de mise en relation entre freelances des métiers techniques de niche — télépilotes de drone, ingénieurs robotique, opérateurs 360° — et recruteurs.</a:t>
            </a:r>
            <a:endParaRPr lang="en-US" sz="1400" dirty="0"/>
          </a:p>
        </p:txBody>
      </p:sp>
      <p:sp>
        <p:nvSpPr>
          <p:cNvPr id="8" name="Shape 5"/>
          <p:cNvSpPr/>
          <p:nvPr/>
        </p:nvSpPr>
        <p:spPr>
          <a:xfrm>
            <a:off x="566928" y="4892040"/>
            <a:ext cx="11057839" cy="0"/>
          </a:xfrm>
          <a:prstGeom prst="line">
            <a:avLst/>
          </a:prstGeom>
          <a:noFill/>
          <a:ln w="12700">
            <a:solidFill>
              <a:srgbClr val="2C4657"/>
            </a:solidFill>
            <a:prstDash val="solid"/>
          </a:ln>
        </p:spPr>
      </p:sp>
      <p:sp>
        <p:nvSpPr>
          <p:cNvPr id="9" name="Text 6"/>
          <p:cNvSpPr/>
          <p:nvPr/>
        </p:nvSpPr>
        <p:spPr>
          <a:xfrm>
            <a:off x="566928" y="5074920"/>
            <a:ext cx="4572000" cy="3200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Alix Allegre</a:t>
            </a:r>
            <a:endParaRPr lang="en-US" sz="1600" dirty="0"/>
          </a:p>
        </p:txBody>
      </p:sp>
      <p:sp>
        <p:nvSpPr>
          <p:cNvPr id="10" name="Text 7"/>
          <p:cNvSpPr/>
          <p:nvPr/>
        </p:nvSpPr>
        <p:spPr>
          <a:xfrm>
            <a:off x="566928" y="5413248"/>
            <a:ext cx="6400800" cy="320040"/>
          </a:xfrm>
          <a:prstGeom prst="rect">
            <a:avLst/>
          </a:prstGeom>
          <a:noFill/>
          <a:ln/>
        </p:spPr>
        <p:txBody>
          <a:bodyPr wrap="square" lIns="0" tIns="0" rIns="0" bIns="0" rtlCol="0" anchor="ctr"/>
          <a:lstStyle/>
          <a:p>
            <a:pPr indent="0" marL="0">
              <a:buNone/>
            </a:pPr>
            <a:r>
              <a:rPr lang="en-US" sz="1200" dirty="0">
                <a:solidFill>
                  <a:srgbClr val="8FA6B4"/>
                </a:solidFill>
                <a:latin typeface="Calibri" pitchFamily="34" charset="0"/>
                <a:ea typeface="Calibri" pitchFamily="34" charset="-122"/>
                <a:cs typeface="Calibri" pitchFamily="34" charset="-120"/>
              </a:rPr>
              <a:t>Master 2 — Expert en développement logiciel · École Ynov · Année 2025-2026</a:t>
            </a:r>
            <a:endParaRPr lang="en-US" sz="1200" dirty="0"/>
          </a:p>
        </p:txBody>
      </p:sp>
      <p:sp>
        <p:nvSpPr>
          <p:cNvPr id="11" name="Text 8"/>
          <p:cNvSpPr/>
          <p:nvPr/>
        </p:nvSpPr>
        <p:spPr>
          <a:xfrm>
            <a:off x="8881567" y="5029200"/>
            <a:ext cx="2743200" cy="731520"/>
          </a:xfrm>
          <a:prstGeom prst="rect">
            <a:avLst/>
          </a:prstGeom>
          <a:noFill/>
          <a:ln/>
        </p:spPr>
        <p:txBody>
          <a:bodyPr wrap="square" lIns="0" tIns="0" rIns="0" bIns="0" rtlCol="0" anchor="ctr"/>
          <a:lstStyle/>
          <a:p>
            <a:pPr algn="r" indent="0" marL="0">
              <a:lnSpc>
                <a:spcPct val="120000"/>
              </a:lnSpc>
              <a:buNone/>
            </a:pPr>
            <a:r>
              <a:rPr lang="en-US" sz="1100" dirty="0">
                <a:solidFill>
                  <a:srgbClr val="8FA6B4"/>
                </a:solidFill>
                <a:latin typeface="Courier New" pitchFamily="34" charset="0"/>
                <a:ea typeface="Courier New" pitchFamily="34" charset="-122"/>
                <a:cs typeface="Courier New" pitchFamily="34" charset="-120"/>
              </a:rPr>
              <a:t>30 min de présentation</a:t>
            </a:r>
            <a:endParaRPr lang="en-US" sz="1100" dirty="0"/>
          </a:p>
          <a:p>
            <a:pPr algn="r" indent="0" marL="0">
              <a:lnSpc>
                <a:spcPct val="120000"/>
              </a:lnSpc>
              <a:buNone/>
            </a:pPr>
            <a:r>
              <a:rPr lang="en-US" sz="1100" dirty="0">
                <a:solidFill>
                  <a:srgbClr val="8FA6B4"/>
                </a:solidFill>
                <a:latin typeface="Courier New" pitchFamily="34" charset="0"/>
                <a:ea typeface="Courier New" pitchFamily="34" charset="-122"/>
                <a:cs typeface="Courier New" pitchFamily="34" charset="-120"/>
              </a:rPr>
              <a:t>15 min d'échanges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D28"/>
        </a:solidFill>
      </p:bgPr>
    </p:bg>
    <p:spTree>
      <p:nvGrpSpPr>
        <p:cNvPr id="1" name=""/>
        <p:cNvGrpSpPr/>
        <p:nvPr/>
      </p:nvGrpSpPr>
      <p:grpSpPr>
        <a:xfrm>
          <a:off x="0" y="0"/>
          <a:ext cx="0" cy="0"/>
          <a:chOff x="0" y="0"/>
          <a:chExt cx="0" cy="0"/>
        </a:xfrm>
      </p:grpSpPr>
      <p:sp>
        <p:nvSpPr>
          <p:cNvPr id="3" name="Text 0"/>
          <p:cNvSpPr/>
          <p:nvPr/>
        </p:nvSpPr>
        <p:spPr>
          <a:xfrm>
            <a:off x="566928" y="475488"/>
            <a:ext cx="7315200" cy="237744"/>
          </a:xfrm>
          <a:prstGeom prst="rect">
            <a:avLst/>
          </a:prstGeom>
          <a:noFill/>
          <a:ln/>
        </p:spPr>
        <p:txBody>
          <a:bodyPr wrap="square" lIns="0" tIns="0" rIns="0" bIns="0" rtlCol="0" anchor="ctr"/>
          <a:lstStyle/>
          <a:p>
            <a:pPr indent="0" marL="0">
              <a:buNone/>
            </a:pPr>
            <a:r>
              <a:rPr lang="en-US" sz="1050" b="1" spc="160" kern="0" dirty="0">
                <a:solidFill>
                  <a:srgbClr val="F0AE44"/>
                </a:solidFill>
                <a:latin typeface="Courier New" pitchFamily="34" charset="0"/>
                <a:ea typeface="Courier New" pitchFamily="34" charset="-122"/>
                <a:cs typeface="Courier New" pitchFamily="34" charset="-120"/>
              </a:rPr>
              <a:t>LE PROBLÈME DE MARCHÉ</a:t>
            </a:r>
            <a:endParaRPr lang="en-US" sz="1050" dirty="0"/>
          </a:p>
        </p:txBody>
      </p:sp>
      <p:sp>
        <p:nvSpPr>
          <p:cNvPr id="4" name="Text 1"/>
          <p:cNvSpPr/>
          <p:nvPr/>
        </p:nvSpPr>
        <p:spPr>
          <a:xfrm>
            <a:off x="566928" y="749808"/>
            <a:ext cx="10058400" cy="603504"/>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Deux besoins qui ne se rencontrent pas</a:t>
            </a:r>
            <a:endParaRPr lang="en-US" sz="3400" dirty="0"/>
          </a:p>
        </p:txBody>
      </p:sp>
      <p:sp>
        <p:nvSpPr>
          <p:cNvPr id="5" name="Shape 2"/>
          <p:cNvSpPr/>
          <p:nvPr/>
        </p:nvSpPr>
        <p:spPr>
          <a:xfrm>
            <a:off x="566928" y="1737360"/>
            <a:ext cx="4160520" cy="3520440"/>
          </a:xfrm>
          <a:prstGeom prst="roundRect">
            <a:avLst>
              <a:gd name="adj" fmla="val 1558"/>
            </a:avLst>
          </a:prstGeom>
          <a:solidFill>
            <a:srgbClr val="162936"/>
          </a:solidFill>
          <a:ln w="9525">
            <a:solidFill>
              <a:srgbClr val="24404F"/>
            </a:solidFill>
            <a:prstDash val="solid"/>
          </a:ln>
        </p:spPr>
      </p:sp>
      <p:pic>
        <p:nvPicPr>
          <p:cNvPr id="6" name="Image 0" descr="/home/claude/icons/entreprise.png">    </p:cNvPr>
          <p:cNvPicPr>
            <a:picLocks noChangeAspect="1"/>
          </p:cNvPicPr>
          <p:nvPr/>
        </p:nvPicPr>
        <p:blipFill>
          <a:blip r:embed="rId1"/>
          <a:stretch>
            <a:fillRect/>
          </a:stretch>
        </p:blipFill>
        <p:spPr>
          <a:xfrm>
            <a:off x="2167128" y="1956816"/>
            <a:ext cx="960120" cy="960120"/>
          </a:xfrm>
          <a:prstGeom prst="rect">
            <a:avLst/>
          </a:prstGeom>
        </p:spPr>
      </p:pic>
      <p:sp>
        <p:nvSpPr>
          <p:cNvPr id="7" name="Text 3"/>
          <p:cNvSpPr/>
          <p:nvPr/>
        </p:nvSpPr>
        <p:spPr>
          <a:xfrm>
            <a:off x="566928" y="3035808"/>
            <a:ext cx="4160520" cy="31089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LE CLIENT</a:t>
            </a:r>
            <a:endParaRPr lang="en-US" sz="1800" dirty="0"/>
          </a:p>
        </p:txBody>
      </p:sp>
      <p:sp>
        <p:nvSpPr>
          <p:cNvPr id="8" name="Text 4"/>
          <p:cNvSpPr/>
          <p:nvPr/>
        </p:nvSpPr>
        <p:spPr>
          <a:xfrm>
            <a:off x="877824" y="3383280"/>
            <a:ext cx="3538728" cy="603504"/>
          </a:xfrm>
          <a:prstGeom prst="rect">
            <a:avLst/>
          </a:prstGeom>
          <a:noFill/>
          <a:ln/>
        </p:spPr>
        <p:txBody>
          <a:bodyPr wrap="square" lIns="0" tIns="0" rIns="0" bIns="0" rtlCol="0" anchor="t"/>
          <a:lstStyle/>
          <a:p>
            <a:pPr algn="ctr" indent="0" marL="0">
              <a:buNone/>
            </a:pPr>
            <a:r>
              <a:rPr lang="en-US" sz="1250" dirty="0">
                <a:solidFill>
                  <a:srgbClr val="A9BDC9"/>
                </a:solidFill>
                <a:latin typeface="Calibri" pitchFamily="34" charset="0"/>
                <a:ea typeface="Calibri" pitchFamily="34" charset="-122"/>
                <a:cs typeface="Calibri" pitchFamily="34" charset="-120"/>
              </a:rPr>
              <a:t>cherche un télépilote certifié, disponible à la date du chantier et proche du site.</a:t>
            </a:r>
            <a:endParaRPr lang="en-US" sz="1250" dirty="0"/>
          </a:p>
        </p:txBody>
      </p:sp>
      <p:sp>
        <p:nvSpPr>
          <p:cNvPr id="9" name="Shape 5"/>
          <p:cNvSpPr/>
          <p:nvPr/>
        </p:nvSpPr>
        <p:spPr>
          <a:xfrm>
            <a:off x="1115568" y="4078224"/>
            <a:ext cx="3063240" cy="0"/>
          </a:xfrm>
          <a:prstGeom prst="line">
            <a:avLst/>
          </a:prstGeom>
          <a:noFill/>
          <a:ln w="12700">
            <a:solidFill>
              <a:srgbClr val="24404F"/>
            </a:solidFill>
            <a:prstDash val="solid"/>
          </a:ln>
        </p:spPr>
      </p:sp>
      <p:pic>
        <p:nvPicPr>
          <p:cNvPr id="10" name="Image 1" descr="/home/claude/icons/calendrier.png">    </p:cNvPr>
          <p:cNvPicPr>
            <a:picLocks noChangeAspect="1"/>
          </p:cNvPicPr>
          <p:nvPr/>
        </p:nvPicPr>
        <p:blipFill>
          <a:blip r:embed="rId2"/>
          <a:stretch>
            <a:fillRect/>
          </a:stretch>
        </p:blipFill>
        <p:spPr>
          <a:xfrm>
            <a:off x="1095756" y="4261104"/>
            <a:ext cx="512064" cy="512064"/>
          </a:xfrm>
          <a:prstGeom prst="rect">
            <a:avLst/>
          </a:prstGeom>
        </p:spPr>
      </p:pic>
      <p:sp>
        <p:nvSpPr>
          <p:cNvPr id="11" name="Text 6"/>
          <p:cNvSpPr/>
          <p:nvPr/>
        </p:nvSpPr>
        <p:spPr>
          <a:xfrm>
            <a:off x="704088" y="4846320"/>
            <a:ext cx="1295400" cy="310896"/>
          </a:xfrm>
          <a:prstGeom prst="rect">
            <a:avLst/>
          </a:prstGeom>
          <a:noFill/>
          <a:ln/>
        </p:spPr>
        <p:txBody>
          <a:bodyPr wrap="square" lIns="0" tIns="0" rIns="0" bIns="0" rtlCol="0" anchor="t"/>
          <a:lstStyle/>
          <a:p>
            <a:pPr algn="ctr" indent="0" marL="0">
              <a:buNone/>
            </a:pPr>
            <a:r>
              <a:rPr lang="en-US" sz="1000" dirty="0">
                <a:solidFill>
                  <a:srgbClr val="8FA6B4"/>
                </a:solidFill>
                <a:latin typeface="Calibri" pitchFamily="34" charset="0"/>
                <a:ea typeface="Calibri" pitchFamily="34" charset="-122"/>
                <a:cs typeface="Calibri" pitchFamily="34" charset="-120"/>
              </a:rPr>
              <a:t>Mission datée</a:t>
            </a:r>
            <a:endParaRPr lang="en-US" sz="1000" dirty="0"/>
          </a:p>
        </p:txBody>
      </p:sp>
      <p:pic>
        <p:nvPicPr>
          <p:cNvPr id="12" name="Image 2" descr="/home/claude/icons/zone.png">    </p:cNvPr>
          <p:cNvPicPr>
            <a:picLocks noChangeAspect="1"/>
          </p:cNvPicPr>
          <p:nvPr/>
        </p:nvPicPr>
        <p:blipFill>
          <a:blip r:embed="rId3"/>
          <a:stretch>
            <a:fillRect/>
          </a:stretch>
        </p:blipFill>
        <p:spPr>
          <a:xfrm>
            <a:off x="2391156" y="4261104"/>
            <a:ext cx="512064" cy="512064"/>
          </a:xfrm>
          <a:prstGeom prst="rect">
            <a:avLst/>
          </a:prstGeom>
        </p:spPr>
      </p:pic>
      <p:sp>
        <p:nvSpPr>
          <p:cNvPr id="13" name="Text 7"/>
          <p:cNvSpPr/>
          <p:nvPr/>
        </p:nvSpPr>
        <p:spPr>
          <a:xfrm>
            <a:off x="1999488" y="4846320"/>
            <a:ext cx="1295400" cy="310896"/>
          </a:xfrm>
          <a:prstGeom prst="rect">
            <a:avLst/>
          </a:prstGeom>
          <a:noFill/>
          <a:ln/>
        </p:spPr>
        <p:txBody>
          <a:bodyPr wrap="square" lIns="0" tIns="0" rIns="0" bIns="0" rtlCol="0" anchor="t"/>
          <a:lstStyle/>
          <a:p>
            <a:pPr algn="ctr" indent="0" marL="0">
              <a:buNone/>
            </a:pPr>
            <a:r>
              <a:rPr lang="en-US" sz="1000" dirty="0">
                <a:solidFill>
                  <a:srgbClr val="8FA6B4"/>
                </a:solidFill>
                <a:latin typeface="Calibri" pitchFamily="34" charset="0"/>
                <a:ea typeface="Calibri" pitchFamily="34" charset="-122"/>
                <a:cs typeface="Calibri" pitchFamily="34" charset="-120"/>
              </a:rPr>
              <a:t>Zone d'intervention</a:t>
            </a:r>
            <a:endParaRPr lang="en-US" sz="1000" dirty="0"/>
          </a:p>
        </p:txBody>
      </p:sp>
      <p:pic>
        <p:nvPicPr>
          <p:cNvPr id="14" name="Image 3" descr="/home/claude/icons/certification.png">    </p:cNvPr>
          <p:cNvPicPr>
            <a:picLocks noChangeAspect="1"/>
          </p:cNvPicPr>
          <p:nvPr/>
        </p:nvPicPr>
        <p:blipFill>
          <a:blip r:embed="rId4"/>
          <a:stretch>
            <a:fillRect/>
          </a:stretch>
        </p:blipFill>
        <p:spPr>
          <a:xfrm>
            <a:off x="3686556" y="4261104"/>
            <a:ext cx="512064" cy="512064"/>
          </a:xfrm>
          <a:prstGeom prst="rect">
            <a:avLst/>
          </a:prstGeom>
        </p:spPr>
      </p:pic>
      <p:sp>
        <p:nvSpPr>
          <p:cNvPr id="15" name="Text 8"/>
          <p:cNvSpPr/>
          <p:nvPr/>
        </p:nvSpPr>
        <p:spPr>
          <a:xfrm>
            <a:off x="3294888" y="4846320"/>
            <a:ext cx="1295400" cy="310896"/>
          </a:xfrm>
          <a:prstGeom prst="rect">
            <a:avLst/>
          </a:prstGeom>
          <a:noFill/>
          <a:ln/>
        </p:spPr>
        <p:txBody>
          <a:bodyPr wrap="square" lIns="0" tIns="0" rIns="0" bIns="0" rtlCol="0" anchor="t"/>
          <a:lstStyle/>
          <a:p>
            <a:pPr algn="ctr" indent="0" marL="0">
              <a:buNone/>
            </a:pPr>
            <a:r>
              <a:rPr lang="en-US" sz="1000" dirty="0">
                <a:solidFill>
                  <a:srgbClr val="8FA6B4"/>
                </a:solidFill>
                <a:latin typeface="Calibri" pitchFamily="34" charset="0"/>
                <a:ea typeface="Calibri" pitchFamily="34" charset="-122"/>
                <a:cs typeface="Calibri" pitchFamily="34" charset="-120"/>
              </a:rPr>
              <a:t>Brevet exigé</a:t>
            </a:r>
            <a:endParaRPr lang="en-US" sz="1000" dirty="0"/>
          </a:p>
        </p:txBody>
      </p:sp>
      <p:sp>
        <p:nvSpPr>
          <p:cNvPr id="16" name="Shape 9"/>
          <p:cNvSpPr/>
          <p:nvPr/>
        </p:nvSpPr>
        <p:spPr>
          <a:xfrm>
            <a:off x="7464247" y="1737360"/>
            <a:ext cx="4160520" cy="3520440"/>
          </a:xfrm>
          <a:prstGeom prst="roundRect">
            <a:avLst>
              <a:gd name="adj" fmla="val 1558"/>
            </a:avLst>
          </a:prstGeom>
          <a:solidFill>
            <a:srgbClr val="162936"/>
          </a:solidFill>
          <a:ln w="9525">
            <a:solidFill>
              <a:srgbClr val="24404F"/>
            </a:solidFill>
            <a:prstDash val="solid"/>
          </a:ln>
        </p:spPr>
      </p:sp>
      <p:pic>
        <p:nvPicPr>
          <p:cNvPr id="17" name="Image 4" descr="/home/claude/icons/freelance.png">    </p:cNvPr>
          <p:cNvPicPr>
            <a:picLocks noChangeAspect="1"/>
          </p:cNvPicPr>
          <p:nvPr/>
        </p:nvPicPr>
        <p:blipFill>
          <a:blip r:embed="rId5"/>
          <a:stretch>
            <a:fillRect/>
          </a:stretch>
        </p:blipFill>
        <p:spPr>
          <a:xfrm>
            <a:off x="9064447" y="1956816"/>
            <a:ext cx="960120" cy="960120"/>
          </a:xfrm>
          <a:prstGeom prst="rect">
            <a:avLst/>
          </a:prstGeom>
        </p:spPr>
      </p:pic>
      <p:sp>
        <p:nvSpPr>
          <p:cNvPr id="18" name="Text 10"/>
          <p:cNvSpPr/>
          <p:nvPr/>
        </p:nvSpPr>
        <p:spPr>
          <a:xfrm>
            <a:off x="7464247" y="3035808"/>
            <a:ext cx="4160520" cy="31089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LE FREELANCE</a:t>
            </a:r>
            <a:endParaRPr lang="en-US" sz="1800" dirty="0"/>
          </a:p>
        </p:txBody>
      </p:sp>
      <p:sp>
        <p:nvSpPr>
          <p:cNvPr id="19" name="Text 11"/>
          <p:cNvSpPr/>
          <p:nvPr/>
        </p:nvSpPr>
        <p:spPr>
          <a:xfrm>
            <a:off x="7775143" y="3383280"/>
            <a:ext cx="3538728" cy="603504"/>
          </a:xfrm>
          <a:prstGeom prst="rect">
            <a:avLst/>
          </a:prstGeom>
          <a:noFill/>
          <a:ln/>
        </p:spPr>
        <p:txBody>
          <a:bodyPr wrap="square" lIns="0" tIns="0" rIns="0" bIns="0" rtlCol="0" anchor="t"/>
          <a:lstStyle/>
          <a:p>
            <a:pPr algn="ctr" indent="0" marL="0">
              <a:buNone/>
            </a:pPr>
            <a:r>
              <a:rPr lang="en-US" sz="1250" dirty="0">
                <a:solidFill>
                  <a:srgbClr val="A9BDC9"/>
                </a:solidFill>
                <a:latin typeface="Calibri" pitchFamily="34" charset="0"/>
                <a:ea typeface="Calibri" pitchFamily="34" charset="-122"/>
                <a:cs typeface="Calibri" pitchFamily="34" charset="-120"/>
              </a:rPr>
              <a:t>possède le matériel, les brevets et l'expérience — mais aucun canal d'acquisition.</a:t>
            </a:r>
            <a:endParaRPr lang="en-US" sz="1250" dirty="0"/>
          </a:p>
        </p:txBody>
      </p:sp>
      <p:sp>
        <p:nvSpPr>
          <p:cNvPr id="20" name="Shape 12"/>
          <p:cNvSpPr/>
          <p:nvPr/>
        </p:nvSpPr>
        <p:spPr>
          <a:xfrm>
            <a:off x="8012887" y="4078224"/>
            <a:ext cx="3063240" cy="0"/>
          </a:xfrm>
          <a:prstGeom prst="line">
            <a:avLst/>
          </a:prstGeom>
          <a:noFill/>
          <a:ln w="12700">
            <a:solidFill>
              <a:srgbClr val="24404F"/>
            </a:solidFill>
            <a:prstDash val="solid"/>
          </a:ln>
        </p:spPr>
      </p:sp>
      <p:pic>
        <p:nvPicPr>
          <p:cNvPr id="21" name="Image 5" descr="/home/claude/icons/drone.png">    </p:cNvPr>
          <p:cNvPicPr>
            <a:picLocks noChangeAspect="1"/>
          </p:cNvPicPr>
          <p:nvPr/>
        </p:nvPicPr>
        <p:blipFill>
          <a:blip r:embed="rId6"/>
          <a:stretch>
            <a:fillRect/>
          </a:stretch>
        </p:blipFill>
        <p:spPr>
          <a:xfrm>
            <a:off x="7993075" y="4261104"/>
            <a:ext cx="512064" cy="512064"/>
          </a:xfrm>
          <a:prstGeom prst="rect">
            <a:avLst/>
          </a:prstGeom>
        </p:spPr>
      </p:pic>
      <p:sp>
        <p:nvSpPr>
          <p:cNvPr id="22" name="Text 13"/>
          <p:cNvSpPr/>
          <p:nvPr/>
        </p:nvSpPr>
        <p:spPr>
          <a:xfrm>
            <a:off x="7601407" y="4846320"/>
            <a:ext cx="1295400" cy="310896"/>
          </a:xfrm>
          <a:prstGeom prst="rect">
            <a:avLst/>
          </a:prstGeom>
          <a:noFill/>
          <a:ln/>
        </p:spPr>
        <p:txBody>
          <a:bodyPr wrap="square" lIns="0" tIns="0" rIns="0" bIns="0" rtlCol="0" anchor="t"/>
          <a:lstStyle/>
          <a:p>
            <a:pPr algn="ctr" indent="0" marL="0">
              <a:buNone/>
            </a:pPr>
            <a:r>
              <a:rPr lang="en-US" sz="1000" dirty="0">
                <a:solidFill>
                  <a:srgbClr val="F0AE44"/>
                </a:solidFill>
                <a:latin typeface="Calibri" pitchFamily="34" charset="0"/>
                <a:ea typeface="Calibri" pitchFamily="34" charset="-122"/>
                <a:cs typeface="Calibri" pitchFamily="34" charset="-120"/>
              </a:rPr>
              <a:t>Drone certifié</a:t>
            </a:r>
            <a:endParaRPr lang="en-US" sz="1000" dirty="0"/>
          </a:p>
        </p:txBody>
      </p:sp>
      <p:pic>
        <p:nvPicPr>
          <p:cNvPr id="23" name="Image 6" descr="/home/claude/icons/camera360.png">    </p:cNvPr>
          <p:cNvPicPr>
            <a:picLocks noChangeAspect="1"/>
          </p:cNvPicPr>
          <p:nvPr/>
        </p:nvPicPr>
        <p:blipFill>
          <a:blip r:embed="rId7"/>
          <a:stretch>
            <a:fillRect/>
          </a:stretch>
        </p:blipFill>
        <p:spPr>
          <a:xfrm>
            <a:off x="9288475" y="4261104"/>
            <a:ext cx="512064" cy="512064"/>
          </a:xfrm>
          <a:prstGeom prst="rect">
            <a:avLst/>
          </a:prstGeom>
        </p:spPr>
      </p:pic>
      <p:sp>
        <p:nvSpPr>
          <p:cNvPr id="24" name="Text 14"/>
          <p:cNvSpPr/>
          <p:nvPr/>
        </p:nvSpPr>
        <p:spPr>
          <a:xfrm>
            <a:off x="8896807" y="4846320"/>
            <a:ext cx="1295400" cy="310896"/>
          </a:xfrm>
          <a:prstGeom prst="rect">
            <a:avLst/>
          </a:prstGeom>
          <a:noFill/>
          <a:ln/>
        </p:spPr>
        <p:txBody>
          <a:bodyPr wrap="square" lIns="0" tIns="0" rIns="0" bIns="0" rtlCol="0" anchor="t"/>
          <a:lstStyle/>
          <a:p>
            <a:pPr algn="ctr" indent="0" marL="0">
              <a:buNone/>
            </a:pPr>
            <a:r>
              <a:rPr lang="en-US" sz="1000" dirty="0">
                <a:solidFill>
                  <a:srgbClr val="F0AE44"/>
                </a:solidFill>
                <a:latin typeface="Calibri" pitchFamily="34" charset="0"/>
                <a:ea typeface="Calibri" pitchFamily="34" charset="-122"/>
                <a:cs typeface="Calibri" pitchFamily="34" charset="-120"/>
              </a:rPr>
              <a:t>Caméra 360°</a:t>
            </a:r>
            <a:endParaRPr lang="en-US" sz="1000" dirty="0"/>
          </a:p>
        </p:txBody>
      </p:sp>
      <p:pic>
        <p:nvPicPr>
          <p:cNvPr id="25" name="Image 7" descr="/home/claude/icons/lidar.png">    </p:cNvPr>
          <p:cNvPicPr>
            <a:picLocks noChangeAspect="1"/>
          </p:cNvPicPr>
          <p:nvPr/>
        </p:nvPicPr>
        <p:blipFill>
          <a:blip r:embed="rId8"/>
          <a:stretch>
            <a:fillRect/>
          </a:stretch>
        </p:blipFill>
        <p:spPr>
          <a:xfrm>
            <a:off x="10583875" y="4261104"/>
            <a:ext cx="512064" cy="512064"/>
          </a:xfrm>
          <a:prstGeom prst="rect">
            <a:avLst/>
          </a:prstGeom>
        </p:spPr>
      </p:pic>
      <p:sp>
        <p:nvSpPr>
          <p:cNvPr id="26" name="Text 15"/>
          <p:cNvSpPr/>
          <p:nvPr/>
        </p:nvSpPr>
        <p:spPr>
          <a:xfrm>
            <a:off x="10192207" y="4846320"/>
            <a:ext cx="1295400" cy="310896"/>
          </a:xfrm>
          <a:prstGeom prst="rect">
            <a:avLst/>
          </a:prstGeom>
          <a:noFill/>
          <a:ln/>
        </p:spPr>
        <p:txBody>
          <a:bodyPr wrap="square" lIns="0" tIns="0" rIns="0" bIns="0" rtlCol="0" anchor="t"/>
          <a:lstStyle/>
          <a:p>
            <a:pPr algn="ctr" indent="0" marL="0">
              <a:buNone/>
            </a:pPr>
            <a:r>
              <a:rPr lang="en-US" sz="1000" dirty="0">
                <a:solidFill>
                  <a:srgbClr val="F0AE44"/>
                </a:solidFill>
                <a:latin typeface="Calibri" pitchFamily="34" charset="0"/>
                <a:ea typeface="Calibri" pitchFamily="34" charset="-122"/>
                <a:cs typeface="Calibri" pitchFamily="34" charset="-120"/>
              </a:rPr>
              <a:t>LiDAR, robotique</a:t>
            </a:r>
            <a:endParaRPr lang="en-US" sz="1000" dirty="0"/>
          </a:p>
        </p:txBody>
      </p:sp>
      <p:sp>
        <p:nvSpPr>
          <p:cNvPr id="27" name="Shape 16"/>
          <p:cNvSpPr/>
          <p:nvPr/>
        </p:nvSpPr>
        <p:spPr>
          <a:xfrm>
            <a:off x="4727448" y="3200400"/>
            <a:ext cx="911200" cy="0"/>
          </a:xfrm>
          <a:prstGeom prst="line">
            <a:avLst/>
          </a:prstGeom>
          <a:noFill/>
          <a:ln w="19050">
            <a:solidFill>
              <a:srgbClr val="31566B"/>
            </a:solidFill>
            <a:prstDash val="dash"/>
          </a:ln>
        </p:spPr>
      </p:sp>
      <p:sp>
        <p:nvSpPr>
          <p:cNvPr id="28" name="Shape 17"/>
          <p:cNvSpPr/>
          <p:nvPr/>
        </p:nvSpPr>
        <p:spPr>
          <a:xfrm>
            <a:off x="6553048" y="3200400"/>
            <a:ext cx="911200" cy="0"/>
          </a:xfrm>
          <a:prstGeom prst="line">
            <a:avLst/>
          </a:prstGeom>
          <a:noFill/>
          <a:ln w="19050">
            <a:solidFill>
              <a:srgbClr val="31566B"/>
            </a:solidFill>
            <a:prstDash val="dash"/>
          </a:ln>
        </p:spPr>
      </p:sp>
      <p:sp>
        <p:nvSpPr>
          <p:cNvPr id="29" name="Shape 18"/>
          <p:cNvSpPr/>
          <p:nvPr/>
        </p:nvSpPr>
        <p:spPr>
          <a:xfrm>
            <a:off x="5711800" y="2816352"/>
            <a:ext cx="768096" cy="768096"/>
          </a:xfrm>
          <a:prstGeom prst="ellipse">
            <a:avLst/>
          </a:prstGeom>
          <a:solidFill>
            <a:srgbClr val="0E1D28"/>
          </a:solidFill>
          <a:ln w="19050">
            <a:solidFill>
              <a:srgbClr val="D98A21"/>
            </a:solidFill>
            <a:prstDash val="solid"/>
          </a:ln>
        </p:spPr>
      </p:sp>
      <p:sp>
        <p:nvSpPr>
          <p:cNvPr id="30" name="Text 19"/>
          <p:cNvSpPr/>
          <p:nvPr/>
        </p:nvSpPr>
        <p:spPr>
          <a:xfrm>
            <a:off x="5711800" y="2816352"/>
            <a:ext cx="768096" cy="768096"/>
          </a:xfrm>
          <a:prstGeom prst="rect">
            <a:avLst/>
          </a:prstGeom>
          <a:noFill/>
          <a:ln/>
        </p:spPr>
        <p:txBody>
          <a:bodyPr wrap="square" lIns="0" tIns="0" rIns="0" bIns="0" rtlCol="0" anchor="ctr"/>
          <a:lstStyle/>
          <a:p>
            <a:pPr algn="ctr" indent="0" marL="0">
              <a:buNone/>
            </a:pPr>
            <a:r>
              <a:rPr lang="en-US" sz="3000" b="1" dirty="0">
                <a:solidFill>
                  <a:srgbClr val="F0AE44"/>
                </a:solidFill>
                <a:latin typeface="Cambria" pitchFamily="34" charset="0"/>
                <a:ea typeface="Cambria" pitchFamily="34" charset="-122"/>
                <a:cs typeface="Cambria" pitchFamily="34" charset="-120"/>
              </a:rPr>
              <a:t>?</a:t>
            </a:r>
            <a:endParaRPr lang="en-US" sz="3000" dirty="0"/>
          </a:p>
        </p:txBody>
      </p:sp>
      <p:sp>
        <p:nvSpPr>
          <p:cNvPr id="31" name="Text 20"/>
          <p:cNvSpPr/>
          <p:nvPr/>
        </p:nvSpPr>
        <p:spPr>
          <a:xfrm>
            <a:off x="4861408" y="3767328"/>
            <a:ext cx="2468880" cy="548640"/>
          </a:xfrm>
          <a:prstGeom prst="rect">
            <a:avLst/>
          </a:prstGeom>
          <a:noFill/>
          <a:ln/>
        </p:spPr>
        <p:txBody>
          <a:bodyPr wrap="square" lIns="0" tIns="0" rIns="0" bIns="0" rtlCol="0" anchor="t"/>
          <a:lstStyle/>
          <a:p>
            <a:pPr algn="ctr" indent="0" marL="0">
              <a:lnSpc>
                <a:spcPct val="130000"/>
              </a:lnSpc>
              <a:buNone/>
            </a:pPr>
            <a:r>
              <a:rPr lang="en-US" sz="950" dirty="0">
                <a:solidFill>
                  <a:srgbClr val="8FA6B4"/>
                </a:solidFill>
                <a:latin typeface="Courier New" pitchFamily="34" charset="0"/>
                <a:ea typeface="Courier New" pitchFamily="34" charset="-122"/>
                <a:cs typeface="Courier New" pitchFamily="34" charset="-120"/>
              </a:rPr>
              <a:t>aucun canal</a:t>
            </a:r>
            <a:endParaRPr lang="en-US" sz="950" dirty="0"/>
          </a:p>
          <a:p>
            <a:pPr algn="ctr" indent="0" marL="0">
              <a:lnSpc>
                <a:spcPct val="130000"/>
              </a:lnSpc>
              <a:buNone/>
            </a:pPr>
            <a:r>
              <a:rPr lang="en-US" sz="950" dirty="0">
                <a:solidFill>
                  <a:srgbClr val="8FA6B4"/>
                </a:solidFill>
                <a:latin typeface="Courier New" pitchFamily="34" charset="0"/>
                <a:ea typeface="Courier New" pitchFamily="34" charset="-122"/>
                <a:cs typeface="Courier New" pitchFamily="34" charset="-120"/>
              </a:rPr>
              <a:t>ne les met en relation</a:t>
            </a:r>
            <a:endParaRPr lang="en-US" sz="950" dirty="0"/>
          </a:p>
        </p:txBody>
      </p:sp>
      <p:sp>
        <p:nvSpPr>
          <p:cNvPr id="32" name="Shape 21"/>
          <p:cNvSpPr/>
          <p:nvPr/>
        </p:nvSpPr>
        <p:spPr>
          <a:xfrm>
            <a:off x="566928" y="5486400"/>
            <a:ext cx="11057839" cy="868680"/>
          </a:xfrm>
          <a:prstGeom prst="roundRect">
            <a:avLst>
              <a:gd name="adj" fmla="val 5263"/>
            </a:avLst>
          </a:prstGeom>
          <a:solidFill>
            <a:srgbClr val="162936"/>
          </a:solidFill>
          <a:ln w="9525">
            <a:solidFill>
              <a:srgbClr val="24404F"/>
            </a:solidFill>
            <a:prstDash val="solid"/>
          </a:ln>
        </p:spPr>
      </p:sp>
      <p:sp>
        <p:nvSpPr>
          <p:cNvPr id="33" name="Text 22"/>
          <p:cNvSpPr/>
          <p:nvPr/>
        </p:nvSpPr>
        <p:spPr>
          <a:xfrm>
            <a:off x="877824" y="5596128"/>
            <a:ext cx="4937760" cy="329184"/>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SkillHunt est ce canal.</a:t>
            </a:r>
            <a:endParaRPr lang="en-US" sz="2000" dirty="0"/>
          </a:p>
        </p:txBody>
      </p:sp>
      <p:sp>
        <p:nvSpPr>
          <p:cNvPr id="34" name="Text 23"/>
          <p:cNvSpPr/>
          <p:nvPr/>
        </p:nvSpPr>
        <p:spPr>
          <a:xfrm>
            <a:off x="877824" y="5943600"/>
            <a:ext cx="10436047" cy="310896"/>
          </a:xfrm>
          <a:prstGeom prst="rect">
            <a:avLst/>
          </a:prstGeom>
          <a:noFill/>
          <a:ln/>
        </p:spPr>
        <p:txBody>
          <a:bodyPr wrap="square" lIns="0" tIns="0" rIns="0" bIns="0" rtlCol="0" anchor="ctr"/>
          <a:lstStyle/>
          <a:p>
            <a:pPr indent="0" marL="0">
              <a:buNone/>
            </a:pPr>
            <a:r>
              <a:rPr lang="en-US" sz="1250" dirty="0">
                <a:solidFill>
                  <a:srgbClr val="A9BDC9"/>
                </a:solidFill>
                <a:latin typeface="Calibri" pitchFamily="34" charset="0"/>
                <a:ea typeface="Calibri" pitchFamily="34" charset="-122"/>
                <a:cs typeface="Calibri" pitchFamily="34" charset="-120"/>
              </a:rPr>
              <a:t>Une plateforme de mise en relation pour les métiers techniques de niche, où le matériel possédé et la certification vérifiée sont des critères de recherche.</a:t>
            </a:r>
            <a:endParaRPr lang="en-US" sz="1250" dirty="0"/>
          </a:p>
        </p:txBody>
      </p:sp>
      <p:sp>
        <p:nvSpPr>
          <p:cNvPr id="35" name="Text 24"/>
          <p:cNvSpPr/>
          <p:nvPr/>
        </p:nvSpPr>
        <p:spPr>
          <a:xfrm>
            <a:off x="10984687" y="6419088"/>
            <a:ext cx="640080" cy="256032"/>
          </a:xfrm>
          <a:prstGeom prst="rect">
            <a:avLst/>
          </a:prstGeom>
          <a:noFill/>
          <a:ln/>
        </p:spPr>
        <p:txBody>
          <a:bodyPr wrap="square" lIns="0" tIns="0" rIns="0" bIns="0" rtlCol="0" anchor="ctr"/>
          <a:lstStyle/>
          <a:p>
            <a:pPr algn="r" indent="0" marL="0">
              <a:buNone/>
            </a:pPr>
            <a:r>
              <a:rPr lang="en-US" sz="1000" dirty="0">
                <a:solidFill>
                  <a:srgbClr val="5D7686"/>
                </a:solidFill>
                <a:latin typeface="Courier New" pitchFamily="34" charset="0"/>
                <a:ea typeface="Courier New" pitchFamily="34" charset="-122"/>
                <a:cs typeface="Courier New"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66928" y="384048"/>
            <a:ext cx="7740487" cy="219456"/>
          </a:xfrm>
          <a:prstGeom prst="rect">
            <a:avLst/>
          </a:prstGeom>
          <a:noFill/>
          <a:ln/>
        </p:spPr>
        <p:txBody>
          <a:bodyPr wrap="square" lIns="0" tIns="0" rIns="0" bIns="0" rtlCol="0" anchor="ctr"/>
          <a:lstStyle/>
          <a:p>
            <a:pPr indent="0" marL="0">
              <a:buNone/>
            </a:pPr>
            <a:r>
              <a:rPr lang="en-US" sz="1050" b="1" spc="160" kern="0" dirty="0">
                <a:solidFill>
                  <a:srgbClr val="1F5468"/>
                </a:solidFill>
                <a:latin typeface="Courier New" pitchFamily="34" charset="0"/>
                <a:ea typeface="Courier New" pitchFamily="34" charset="-122"/>
                <a:cs typeface="Courier New" pitchFamily="34" charset="-120"/>
              </a:rPr>
              <a:t>AVANT DE COMMENCER</a:t>
            </a:r>
            <a:endParaRPr lang="en-US" sz="1050" dirty="0"/>
          </a:p>
        </p:txBody>
      </p:sp>
      <p:sp>
        <p:nvSpPr>
          <p:cNvPr id="4" name="Text 1"/>
          <p:cNvSpPr/>
          <p:nvPr/>
        </p:nvSpPr>
        <p:spPr>
          <a:xfrm>
            <a:off x="566928" y="621792"/>
            <a:ext cx="8403958" cy="731520"/>
          </a:xfrm>
          <a:prstGeom prst="rect">
            <a:avLst/>
          </a:prstGeom>
          <a:noFill/>
          <a:ln/>
        </p:spPr>
        <p:txBody>
          <a:bodyPr wrap="square" lIns="0" tIns="0" rIns="0" bIns="0" rtlCol="0" anchor="t"/>
          <a:lstStyle/>
          <a:p>
            <a:pPr indent="0" marL="0">
              <a:buNone/>
            </a:pPr>
            <a:r>
              <a:rPr lang="en-US" sz="2900" b="1" dirty="0">
                <a:solidFill>
                  <a:srgbClr val="0E1D28"/>
                </a:solidFill>
                <a:latin typeface="Cambria" pitchFamily="34" charset="0"/>
                <a:ea typeface="Cambria" pitchFamily="34" charset="-122"/>
                <a:cs typeface="Cambria" pitchFamily="34" charset="-120"/>
              </a:rPr>
              <a:t>Cadre et déroulé de la présentation</a:t>
            </a:r>
            <a:endParaRPr lang="en-US" sz="2900" dirty="0"/>
          </a:p>
        </p:txBody>
      </p:sp>
      <p:sp>
        <p:nvSpPr>
          <p:cNvPr id="5" name="Text 2"/>
          <p:cNvSpPr/>
          <p:nvPr/>
        </p:nvSpPr>
        <p:spPr>
          <a:xfrm>
            <a:off x="566928" y="1371600"/>
            <a:ext cx="11057839" cy="256032"/>
          </a:xfrm>
          <a:prstGeom prst="rect">
            <a:avLst/>
          </a:prstGeom>
          <a:noFill/>
          <a:ln/>
        </p:spPr>
        <p:txBody>
          <a:bodyPr wrap="square" lIns="0" tIns="0" rIns="0" bIns="0" rtlCol="0" anchor="ctr"/>
          <a:lstStyle/>
          <a:p>
            <a:pPr indent="0" marL="0">
              <a:buNone/>
            </a:pPr>
            <a:r>
              <a:rPr lang="en-US" sz="1300" b="1" dirty="0">
                <a:solidFill>
                  <a:srgbClr val="0E1D28"/>
                </a:solidFill>
                <a:latin typeface="Calibri" pitchFamily="34" charset="0"/>
                <a:ea typeface="Calibri" pitchFamily="34" charset="-122"/>
                <a:cs typeface="Calibri" pitchFamily="34" charset="-120"/>
              </a:rPr>
              <a:t>Projet mené en autonomie complète. </a:t>
            </a:r>
            <a:pPr indent="0" marL="0">
              <a:buNone/>
            </a:pPr>
            <a:r>
              <a:rPr lang="en-US" sz="1300" dirty="0">
                <a:solidFill>
                  <a:srgbClr val="17303F"/>
                </a:solidFill>
                <a:latin typeface="Calibri" pitchFamily="34" charset="0"/>
                <a:ea typeface="Calibri" pitchFamily="34" charset="-122"/>
                <a:cs typeface="Calibri" pitchFamily="34" charset="-120"/>
              </a:rPr>
              <a:t>Le dispositif de conduite de projet est conçu, écrit et opéré pour l'équipe cible de trois profils.</a:t>
            </a:r>
            <a:endParaRPr lang="en-US" sz="1300" dirty="0"/>
          </a:p>
        </p:txBody>
      </p:sp>
      <p:sp>
        <p:nvSpPr>
          <p:cNvPr id="6" name="Shape 3"/>
          <p:cNvSpPr/>
          <p:nvPr/>
        </p:nvSpPr>
        <p:spPr>
          <a:xfrm>
            <a:off x="566928" y="1737360"/>
            <a:ext cx="11057839" cy="713232"/>
          </a:xfrm>
          <a:prstGeom prst="roundRect">
            <a:avLst>
              <a:gd name="adj" fmla="val 4487"/>
            </a:avLst>
          </a:prstGeom>
          <a:solidFill>
            <a:srgbClr val="FBF3E6"/>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7" name="Text 4"/>
          <p:cNvSpPr/>
          <p:nvPr/>
        </p:nvSpPr>
        <p:spPr>
          <a:xfrm>
            <a:off x="786384" y="1773936"/>
            <a:ext cx="548640" cy="640080"/>
          </a:xfrm>
          <a:prstGeom prst="rect">
            <a:avLst/>
          </a:prstGeom>
          <a:noFill/>
          <a:ln/>
        </p:spPr>
        <p:txBody>
          <a:bodyPr wrap="square" lIns="0" tIns="0" rIns="0" bIns="0" rtlCol="0" anchor="ctr"/>
          <a:lstStyle/>
          <a:p>
            <a:pPr algn="ctr" indent="0" marL="0">
              <a:buNone/>
            </a:pPr>
            <a:r>
              <a:rPr lang="en-US" sz="2700" b="1" dirty="0">
                <a:solidFill>
                  <a:srgbClr val="D98A21"/>
                </a:solidFill>
                <a:latin typeface="Cambria" pitchFamily="34" charset="0"/>
                <a:ea typeface="Cambria" pitchFamily="34" charset="-122"/>
                <a:cs typeface="Cambria" pitchFamily="34" charset="-120"/>
              </a:rPr>
              <a:t>1</a:t>
            </a:r>
            <a:endParaRPr lang="en-US" sz="2700" dirty="0"/>
          </a:p>
        </p:txBody>
      </p:sp>
      <p:sp>
        <p:nvSpPr>
          <p:cNvPr id="8" name="Text 5"/>
          <p:cNvSpPr/>
          <p:nvPr/>
        </p:nvSpPr>
        <p:spPr>
          <a:xfrm>
            <a:off x="1435608" y="1828800"/>
            <a:ext cx="2743200" cy="292608"/>
          </a:xfrm>
          <a:prstGeom prst="rect">
            <a:avLst/>
          </a:prstGeom>
          <a:noFill/>
          <a:ln/>
        </p:spPr>
        <p:txBody>
          <a:bodyPr wrap="square" lIns="0" tIns="0" rIns="0" bIns="0" rtlCol="0" anchor="ctr"/>
          <a:lstStyle/>
          <a:p>
            <a:pPr indent="0" marL="0">
              <a:buNone/>
            </a:pPr>
            <a:r>
              <a:rPr lang="en-US" sz="1550" b="1" dirty="0">
                <a:solidFill>
                  <a:srgbClr val="0E1D28"/>
                </a:solidFill>
                <a:latin typeface="Calibri" pitchFamily="34" charset="0"/>
                <a:ea typeface="Calibri" pitchFamily="34" charset="-122"/>
                <a:cs typeface="Calibri" pitchFamily="34" charset="-120"/>
              </a:rPr>
              <a:t>Planifier</a:t>
            </a:r>
            <a:endParaRPr lang="en-US" sz="1550" dirty="0"/>
          </a:p>
        </p:txBody>
      </p:sp>
      <p:sp>
        <p:nvSpPr>
          <p:cNvPr id="9" name="Text 6"/>
          <p:cNvSpPr/>
          <p:nvPr/>
        </p:nvSpPr>
        <p:spPr>
          <a:xfrm>
            <a:off x="1435608" y="2139696"/>
            <a:ext cx="5303520" cy="256032"/>
          </a:xfrm>
          <a:prstGeom prst="rect">
            <a:avLst/>
          </a:prstGeom>
          <a:noFill/>
          <a:ln/>
        </p:spPr>
        <p:txBody>
          <a:bodyPr wrap="square" lIns="0" tIns="0" rIns="0" bIns="0" rtlCol="0" anchor="ctr"/>
          <a:lstStyle/>
          <a:p>
            <a:pPr indent="0" marL="0">
              <a:buNone/>
            </a:pPr>
            <a:r>
              <a:rPr lang="en-US" sz="1100" dirty="0">
                <a:solidFill>
                  <a:srgbClr val="5B6E7B"/>
                </a:solidFill>
                <a:latin typeface="Calibri" pitchFamily="34" charset="0"/>
                <a:ea typeface="Calibri" pitchFamily="34" charset="-122"/>
                <a:cs typeface="Calibri" pitchFamily="34" charset="-120"/>
              </a:rPr>
              <a:t>Méthodologie, planning, ressources, affectation</a:t>
            </a:r>
            <a:endParaRPr lang="en-US" sz="1100" dirty="0"/>
          </a:p>
        </p:txBody>
      </p:sp>
      <p:sp>
        <p:nvSpPr>
          <p:cNvPr id="10" name="Text 7"/>
          <p:cNvSpPr/>
          <p:nvPr/>
        </p:nvSpPr>
        <p:spPr>
          <a:xfrm>
            <a:off x="6876288" y="1956816"/>
            <a:ext cx="2377440" cy="292608"/>
          </a:xfrm>
          <a:prstGeom prst="rect">
            <a:avLst/>
          </a:prstGeom>
          <a:noFill/>
          <a:ln/>
        </p:spPr>
        <p:txBody>
          <a:bodyPr wrap="square" lIns="0" tIns="0" rIns="0" bIns="0" rtlCol="0" anchor="ctr"/>
          <a:lstStyle/>
          <a:p>
            <a:pPr algn="r" indent="0" marL="0">
              <a:buNone/>
            </a:pPr>
            <a:r>
              <a:rPr lang="en-US" sz="1050" b="1" dirty="0">
                <a:solidFill>
                  <a:srgbClr val="1F5468"/>
                </a:solidFill>
                <a:latin typeface="Courier New" pitchFamily="34" charset="0"/>
                <a:ea typeface="Courier New" pitchFamily="34" charset="-122"/>
                <a:cs typeface="Courier New" pitchFamily="34" charset="-120"/>
              </a:rPr>
              <a:t>C3.1</a:t>
            </a:r>
            <a:endParaRPr lang="en-US" sz="1050" dirty="0"/>
          </a:p>
        </p:txBody>
      </p:sp>
      <p:sp>
        <p:nvSpPr>
          <p:cNvPr id="11" name="Shape 8"/>
          <p:cNvSpPr/>
          <p:nvPr/>
        </p:nvSpPr>
        <p:spPr>
          <a:xfrm>
            <a:off x="9454896" y="1965960"/>
            <a:ext cx="1051560" cy="256032"/>
          </a:xfrm>
          <a:prstGeom prst="roundRect">
            <a:avLst>
              <a:gd name="adj" fmla="val 17857"/>
            </a:avLst>
          </a:prstGeom>
          <a:solidFill>
            <a:srgbClr val="AE3F2C"/>
          </a:solidFill>
          <a:ln/>
        </p:spPr>
      </p:sp>
      <p:sp>
        <p:nvSpPr>
          <p:cNvPr id="12" name="Text 9"/>
          <p:cNvSpPr/>
          <p:nvPr/>
        </p:nvSpPr>
        <p:spPr>
          <a:xfrm>
            <a:off x="9454896" y="1965960"/>
            <a:ext cx="1051560" cy="256032"/>
          </a:xfrm>
          <a:prstGeom prst="rect">
            <a:avLst/>
          </a:prstGeom>
          <a:noFill/>
          <a:ln/>
        </p:spPr>
        <p:txBody>
          <a:bodyPr wrap="square" lIns="0" tIns="0" rIns="0" bIns="0" rtlCol="0" anchor="ctr"/>
          <a:lstStyle/>
          <a:p>
            <a:pPr algn="ctr" indent="0" marL="0">
              <a:buNone/>
            </a:pPr>
            <a:r>
              <a:rPr lang="en-US" sz="750" b="1" dirty="0">
                <a:solidFill>
                  <a:srgbClr val="FFFFFF"/>
                </a:solidFill>
                <a:latin typeface="Courier New" pitchFamily="34" charset="0"/>
                <a:ea typeface="Courier New" pitchFamily="34" charset="-122"/>
                <a:cs typeface="Courier New" pitchFamily="34" charset="-120"/>
              </a:rPr>
              <a:t>ÉLIMINATOIRE</a:t>
            </a:r>
            <a:endParaRPr lang="en-US" sz="750" dirty="0"/>
          </a:p>
        </p:txBody>
      </p:sp>
      <p:sp>
        <p:nvSpPr>
          <p:cNvPr id="13" name="Text 10"/>
          <p:cNvSpPr/>
          <p:nvPr/>
        </p:nvSpPr>
        <p:spPr>
          <a:xfrm>
            <a:off x="10573207" y="1947672"/>
            <a:ext cx="914400" cy="292608"/>
          </a:xfrm>
          <a:prstGeom prst="rect">
            <a:avLst/>
          </a:prstGeom>
          <a:noFill/>
          <a:ln/>
        </p:spPr>
        <p:txBody>
          <a:bodyPr wrap="square" lIns="0" tIns="0" rIns="0" bIns="0" rtlCol="0" anchor="ctr"/>
          <a:lstStyle/>
          <a:p>
            <a:pPr algn="r" indent="0" marL="0">
              <a:buNone/>
            </a:pPr>
            <a:r>
              <a:rPr lang="en-US" sz="1450" b="1" dirty="0">
                <a:solidFill>
                  <a:srgbClr val="0E1D28"/>
                </a:solidFill>
                <a:latin typeface="Cambria" pitchFamily="34" charset="0"/>
                <a:ea typeface="Cambria" pitchFamily="34" charset="-122"/>
                <a:cs typeface="Cambria" pitchFamily="34" charset="-120"/>
              </a:rPr>
              <a:t>7 min</a:t>
            </a:r>
            <a:endParaRPr lang="en-US" sz="1450" dirty="0"/>
          </a:p>
        </p:txBody>
      </p:sp>
      <p:sp>
        <p:nvSpPr>
          <p:cNvPr id="14" name="Shape 11"/>
          <p:cNvSpPr/>
          <p:nvPr/>
        </p:nvSpPr>
        <p:spPr>
          <a:xfrm>
            <a:off x="566928" y="2542032"/>
            <a:ext cx="11057839" cy="713232"/>
          </a:xfrm>
          <a:prstGeom prst="roundRect">
            <a:avLst>
              <a:gd name="adj" fmla="val 4487"/>
            </a:avLst>
          </a:prstGeom>
          <a:solidFill>
            <a:srgbClr val="FBF3E6"/>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15" name="Text 12"/>
          <p:cNvSpPr/>
          <p:nvPr/>
        </p:nvSpPr>
        <p:spPr>
          <a:xfrm>
            <a:off x="786384" y="2578608"/>
            <a:ext cx="548640" cy="640080"/>
          </a:xfrm>
          <a:prstGeom prst="rect">
            <a:avLst/>
          </a:prstGeom>
          <a:noFill/>
          <a:ln/>
        </p:spPr>
        <p:txBody>
          <a:bodyPr wrap="square" lIns="0" tIns="0" rIns="0" bIns="0" rtlCol="0" anchor="ctr"/>
          <a:lstStyle/>
          <a:p>
            <a:pPr algn="ctr" indent="0" marL="0">
              <a:buNone/>
            </a:pPr>
            <a:r>
              <a:rPr lang="en-US" sz="2700" b="1" dirty="0">
                <a:solidFill>
                  <a:srgbClr val="D98A21"/>
                </a:solidFill>
                <a:latin typeface="Cambria" pitchFamily="34" charset="0"/>
                <a:ea typeface="Cambria" pitchFamily="34" charset="-122"/>
                <a:cs typeface="Cambria" pitchFamily="34" charset="-120"/>
              </a:rPr>
              <a:t>2</a:t>
            </a:r>
            <a:endParaRPr lang="en-US" sz="2700" dirty="0"/>
          </a:p>
        </p:txBody>
      </p:sp>
      <p:sp>
        <p:nvSpPr>
          <p:cNvPr id="16" name="Text 13"/>
          <p:cNvSpPr/>
          <p:nvPr/>
        </p:nvSpPr>
        <p:spPr>
          <a:xfrm>
            <a:off x="1435608" y="2633472"/>
            <a:ext cx="2743200" cy="292608"/>
          </a:xfrm>
          <a:prstGeom prst="rect">
            <a:avLst/>
          </a:prstGeom>
          <a:noFill/>
          <a:ln/>
        </p:spPr>
        <p:txBody>
          <a:bodyPr wrap="square" lIns="0" tIns="0" rIns="0" bIns="0" rtlCol="0" anchor="ctr"/>
          <a:lstStyle/>
          <a:p>
            <a:pPr indent="0" marL="0">
              <a:buNone/>
            </a:pPr>
            <a:r>
              <a:rPr lang="en-US" sz="1550" b="1" dirty="0">
                <a:solidFill>
                  <a:srgbClr val="0E1D28"/>
                </a:solidFill>
                <a:latin typeface="Calibri" pitchFamily="34" charset="0"/>
                <a:ea typeface="Calibri" pitchFamily="34" charset="-122"/>
                <a:cs typeface="Calibri" pitchFamily="34" charset="-120"/>
              </a:rPr>
              <a:t>Piloter</a:t>
            </a:r>
            <a:endParaRPr lang="en-US" sz="1550" dirty="0"/>
          </a:p>
        </p:txBody>
      </p:sp>
      <p:sp>
        <p:nvSpPr>
          <p:cNvPr id="17" name="Text 14"/>
          <p:cNvSpPr/>
          <p:nvPr/>
        </p:nvSpPr>
        <p:spPr>
          <a:xfrm>
            <a:off x="1435608" y="2944368"/>
            <a:ext cx="5303520" cy="256032"/>
          </a:xfrm>
          <a:prstGeom prst="rect">
            <a:avLst/>
          </a:prstGeom>
          <a:noFill/>
          <a:ln/>
        </p:spPr>
        <p:txBody>
          <a:bodyPr wrap="square" lIns="0" tIns="0" rIns="0" bIns="0" rtlCol="0" anchor="ctr"/>
          <a:lstStyle/>
          <a:p>
            <a:pPr indent="0" marL="0">
              <a:buNone/>
            </a:pPr>
            <a:r>
              <a:rPr lang="en-US" sz="1100" dirty="0">
                <a:solidFill>
                  <a:srgbClr val="5B6E7B"/>
                </a:solidFill>
                <a:latin typeface="Calibri" pitchFamily="34" charset="0"/>
                <a:ea typeface="Calibri" pitchFamily="34" charset="-122"/>
                <a:cs typeface="Calibri" pitchFamily="34" charset="-120"/>
              </a:rPr>
              <a:t>Outil de suivi, indicateurs, tableau de bord, arbitrage</a:t>
            </a:r>
            <a:endParaRPr lang="en-US" sz="1100" dirty="0"/>
          </a:p>
        </p:txBody>
      </p:sp>
      <p:sp>
        <p:nvSpPr>
          <p:cNvPr id="18" name="Text 15"/>
          <p:cNvSpPr/>
          <p:nvPr/>
        </p:nvSpPr>
        <p:spPr>
          <a:xfrm>
            <a:off x="6876288" y="2761488"/>
            <a:ext cx="2377440" cy="292608"/>
          </a:xfrm>
          <a:prstGeom prst="rect">
            <a:avLst/>
          </a:prstGeom>
          <a:noFill/>
          <a:ln/>
        </p:spPr>
        <p:txBody>
          <a:bodyPr wrap="square" lIns="0" tIns="0" rIns="0" bIns="0" rtlCol="0" anchor="ctr"/>
          <a:lstStyle/>
          <a:p>
            <a:pPr algn="r" indent="0" marL="0">
              <a:buNone/>
            </a:pPr>
            <a:r>
              <a:rPr lang="en-US" sz="1050" b="1" dirty="0">
                <a:solidFill>
                  <a:srgbClr val="1F5468"/>
                </a:solidFill>
                <a:latin typeface="Courier New" pitchFamily="34" charset="0"/>
                <a:ea typeface="Courier New" pitchFamily="34" charset="-122"/>
                <a:cs typeface="Courier New" pitchFamily="34" charset="-120"/>
              </a:rPr>
              <a:t>C3.2.1 · C3.2.2</a:t>
            </a:r>
            <a:endParaRPr lang="en-US" sz="1050" dirty="0"/>
          </a:p>
        </p:txBody>
      </p:sp>
      <p:sp>
        <p:nvSpPr>
          <p:cNvPr id="19" name="Shape 16"/>
          <p:cNvSpPr/>
          <p:nvPr/>
        </p:nvSpPr>
        <p:spPr>
          <a:xfrm>
            <a:off x="9454896" y="2770632"/>
            <a:ext cx="1051560" cy="256032"/>
          </a:xfrm>
          <a:prstGeom prst="roundRect">
            <a:avLst>
              <a:gd name="adj" fmla="val 17857"/>
            </a:avLst>
          </a:prstGeom>
          <a:solidFill>
            <a:srgbClr val="AE3F2C"/>
          </a:solidFill>
          <a:ln/>
        </p:spPr>
      </p:sp>
      <p:sp>
        <p:nvSpPr>
          <p:cNvPr id="20" name="Text 17"/>
          <p:cNvSpPr/>
          <p:nvPr/>
        </p:nvSpPr>
        <p:spPr>
          <a:xfrm>
            <a:off x="9454896" y="2770632"/>
            <a:ext cx="1051560" cy="256032"/>
          </a:xfrm>
          <a:prstGeom prst="rect">
            <a:avLst/>
          </a:prstGeom>
          <a:noFill/>
          <a:ln/>
        </p:spPr>
        <p:txBody>
          <a:bodyPr wrap="square" lIns="0" tIns="0" rIns="0" bIns="0" rtlCol="0" anchor="ctr"/>
          <a:lstStyle/>
          <a:p>
            <a:pPr algn="ctr" indent="0" marL="0">
              <a:buNone/>
            </a:pPr>
            <a:r>
              <a:rPr lang="en-US" sz="750" b="1" dirty="0">
                <a:solidFill>
                  <a:srgbClr val="FFFFFF"/>
                </a:solidFill>
                <a:latin typeface="Courier New" pitchFamily="34" charset="0"/>
                <a:ea typeface="Courier New" pitchFamily="34" charset="-122"/>
                <a:cs typeface="Courier New" pitchFamily="34" charset="-120"/>
              </a:rPr>
              <a:t>ÉLIMINATOIRE</a:t>
            </a:r>
            <a:endParaRPr lang="en-US" sz="750" dirty="0"/>
          </a:p>
        </p:txBody>
      </p:sp>
      <p:sp>
        <p:nvSpPr>
          <p:cNvPr id="21" name="Text 18"/>
          <p:cNvSpPr/>
          <p:nvPr/>
        </p:nvSpPr>
        <p:spPr>
          <a:xfrm>
            <a:off x="10573207" y="2752344"/>
            <a:ext cx="914400" cy="292608"/>
          </a:xfrm>
          <a:prstGeom prst="rect">
            <a:avLst/>
          </a:prstGeom>
          <a:noFill/>
          <a:ln/>
        </p:spPr>
        <p:txBody>
          <a:bodyPr wrap="square" lIns="0" tIns="0" rIns="0" bIns="0" rtlCol="0" anchor="ctr"/>
          <a:lstStyle/>
          <a:p>
            <a:pPr algn="r" indent="0" marL="0">
              <a:buNone/>
            </a:pPr>
            <a:r>
              <a:rPr lang="en-US" sz="1450" b="1" dirty="0">
                <a:solidFill>
                  <a:srgbClr val="0E1D28"/>
                </a:solidFill>
                <a:latin typeface="Cambria" pitchFamily="34" charset="0"/>
                <a:ea typeface="Cambria" pitchFamily="34" charset="-122"/>
                <a:cs typeface="Cambria" pitchFamily="34" charset="-120"/>
              </a:rPr>
              <a:t>6 min</a:t>
            </a:r>
            <a:endParaRPr lang="en-US" sz="1450" dirty="0"/>
          </a:p>
        </p:txBody>
      </p:sp>
      <p:sp>
        <p:nvSpPr>
          <p:cNvPr id="22" name="Shape 19"/>
          <p:cNvSpPr/>
          <p:nvPr/>
        </p:nvSpPr>
        <p:spPr>
          <a:xfrm>
            <a:off x="566928" y="3346704"/>
            <a:ext cx="11057839" cy="713232"/>
          </a:xfrm>
          <a:prstGeom prst="roundRect">
            <a:avLst>
              <a:gd name="adj" fmla="val 4487"/>
            </a:avLst>
          </a:prstGeom>
          <a:solidFill>
            <a:srgbClr val="F1F5F7"/>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23" name="Text 20"/>
          <p:cNvSpPr/>
          <p:nvPr/>
        </p:nvSpPr>
        <p:spPr>
          <a:xfrm>
            <a:off x="786384" y="3383280"/>
            <a:ext cx="548640" cy="640080"/>
          </a:xfrm>
          <a:prstGeom prst="rect">
            <a:avLst/>
          </a:prstGeom>
          <a:noFill/>
          <a:ln/>
        </p:spPr>
        <p:txBody>
          <a:bodyPr wrap="square" lIns="0" tIns="0" rIns="0" bIns="0" rtlCol="0" anchor="ctr"/>
          <a:lstStyle/>
          <a:p>
            <a:pPr algn="ctr" indent="0" marL="0">
              <a:buNone/>
            </a:pPr>
            <a:r>
              <a:rPr lang="en-US" sz="2700" b="1" dirty="0">
                <a:solidFill>
                  <a:srgbClr val="5B6E7B"/>
                </a:solidFill>
                <a:latin typeface="Cambria" pitchFamily="34" charset="0"/>
                <a:ea typeface="Cambria" pitchFamily="34" charset="-122"/>
                <a:cs typeface="Cambria" pitchFamily="34" charset="-120"/>
              </a:rPr>
              <a:t>3</a:t>
            </a:r>
            <a:endParaRPr lang="en-US" sz="2700" dirty="0"/>
          </a:p>
        </p:txBody>
      </p:sp>
      <p:sp>
        <p:nvSpPr>
          <p:cNvPr id="24" name="Text 21"/>
          <p:cNvSpPr/>
          <p:nvPr/>
        </p:nvSpPr>
        <p:spPr>
          <a:xfrm>
            <a:off x="1435608" y="3438144"/>
            <a:ext cx="2743200" cy="292608"/>
          </a:xfrm>
          <a:prstGeom prst="rect">
            <a:avLst/>
          </a:prstGeom>
          <a:noFill/>
          <a:ln/>
        </p:spPr>
        <p:txBody>
          <a:bodyPr wrap="square" lIns="0" tIns="0" rIns="0" bIns="0" rtlCol="0" anchor="ctr"/>
          <a:lstStyle/>
          <a:p>
            <a:pPr indent="0" marL="0">
              <a:buNone/>
            </a:pPr>
            <a:r>
              <a:rPr lang="en-US" sz="1550" b="1" dirty="0">
                <a:solidFill>
                  <a:srgbClr val="0E1D28"/>
                </a:solidFill>
                <a:latin typeface="Calibri" pitchFamily="34" charset="0"/>
                <a:ea typeface="Calibri" pitchFamily="34" charset="-122"/>
                <a:cs typeface="Calibri" pitchFamily="34" charset="-120"/>
              </a:rPr>
              <a:t>Manager l'équipe</a:t>
            </a:r>
            <a:endParaRPr lang="en-US" sz="1550" dirty="0"/>
          </a:p>
        </p:txBody>
      </p:sp>
      <p:sp>
        <p:nvSpPr>
          <p:cNvPr id="25" name="Text 22"/>
          <p:cNvSpPr/>
          <p:nvPr/>
        </p:nvSpPr>
        <p:spPr>
          <a:xfrm>
            <a:off x="1435608" y="3749040"/>
            <a:ext cx="5303520" cy="256032"/>
          </a:xfrm>
          <a:prstGeom prst="rect">
            <a:avLst/>
          </a:prstGeom>
          <a:noFill/>
          <a:ln/>
        </p:spPr>
        <p:txBody>
          <a:bodyPr wrap="square" lIns="0" tIns="0" rIns="0" bIns="0" rtlCol="0" anchor="ctr"/>
          <a:lstStyle/>
          <a:p>
            <a:pPr indent="0" marL="0">
              <a:buNone/>
            </a:pPr>
            <a:r>
              <a:rPr lang="en-US" sz="1100" dirty="0">
                <a:solidFill>
                  <a:srgbClr val="5B6E7B"/>
                </a:solidFill>
                <a:latin typeface="Calibri" pitchFamily="34" charset="0"/>
                <a:ea typeface="Calibri" pitchFamily="34" charset="-122"/>
                <a:cs typeface="Calibri" pitchFamily="34" charset="-120"/>
              </a:rPr>
              <a:t>Missions, styles managériaux, compétences, formation</a:t>
            </a:r>
            <a:endParaRPr lang="en-US" sz="1100" dirty="0"/>
          </a:p>
        </p:txBody>
      </p:sp>
      <p:sp>
        <p:nvSpPr>
          <p:cNvPr id="26" name="Text 23"/>
          <p:cNvSpPr/>
          <p:nvPr/>
        </p:nvSpPr>
        <p:spPr>
          <a:xfrm>
            <a:off x="6876288" y="3566160"/>
            <a:ext cx="2377440" cy="292608"/>
          </a:xfrm>
          <a:prstGeom prst="rect">
            <a:avLst/>
          </a:prstGeom>
          <a:noFill/>
          <a:ln/>
        </p:spPr>
        <p:txBody>
          <a:bodyPr wrap="square" lIns="0" tIns="0" rIns="0" bIns="0" rtlCol="0" anchor="ctr"/>
          <a:lstStyle/>
          <a:p>
            <a:pPr algn="r" indent="0" marL="0">
              <a:buNone/>
            </a:pPr>
            <a:r>
              <a:rPr lang="en-US" sz="1050" b="1" dirty="0">
                <a:solidFill>
                  <a:srgbClr val="1F5468"/>
                </a:solidFill>
                <a:latin typeface="Courier New" pitchFamily="34" charset="0"/>
                <a:ea typeface="Courier New" pitchFamily="34" charset="-122"/>
                <a:cs typeface="Courier New" pitchFamily="34" charset="-120"/>
              </a:rPr>
              <a:t>C3.3.1 · C3.3.2</a:t>
            </a:r>
            <a:endParaRPr lang="en-US" sz="1050" dirty="0"/>
          </a:p>
        </p:txBody>
      </p:sp>
      <p:sp>
        <p:nvSpPr>
          <p:cNvPr id="27" name="Text 24"/>
          <p:cNvSpPr/>
          <p:nvPr/>
        </p:nvSpPr>
        <p:spPr>
          <a:xfrm>
            <a:off x="10573207" y="3557016"/>
            <a:ext cx="914400" cy="292608"/>
          </a:xfrm>
          <a:prstGeom prst="rect">
            <a:avLst/>
          </a:prstGeom>
          <a:noFill/>
          <a:ln/>
        </p:spPr>
        <p:txBody>
          <a:bodyPr wrap="square" lIns="0" tIns="0" rIns="0" bIns="0" rtlCol="0" anchor="ctr"/>
          <a:lstStyle/>
          <a:p>
            <a:pPr algn="r" indent="0" marL="0">
              <a:buNone/>
            </a:pPr>
            <a:r>
              <a:rPr lang="en-US" sz="1450" b="1" dirty="0">
                <a:solidFill>
                  <a:srgbClr val="0E1D28"/>
                </a:solidFill>
                <a:latin typeface="Cambria" pitchFamily="34" charset="0"/>
                <a:ea typeface="Cambria" pitchFamily="34" charset="-122"/>
                <a:cs typeface="Cambria" pitchFamily="34" charset="-120"/>
              </a:rPr>
              <a:t>6 min</a:t>
            </a:r>
            <a:endParaRPr lang="en-US" sz="1450" dirty="0"/>
          </a:p>
        </p:txBody>
      </p:sp>
      <p:sp>
        <p:nvSpPr>
          <p:cNvPr id="28" name="Shape 25"/>
          <p:cNvSpPr/>
          <p:nvPr/>
        </p:nvSpPr>
        <p:spPr>
          <a:xfrm>
            <a:off x="566928" y="4151376"/>
            <a:ext cx="11057839" cy="713232"/>
          </a:xfrm>
          <a:prstGeom prst="roundRect">
            <a:avLst>
              <a:gd name="adj" fmla="val 4487"/>
            </a:avLst>
          </a:prstGeom>
          <a:solidFill>
            <a:srgbClr val="F1F5F7"/>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29" name="Text 26"/>
          <p:cNvSpPr/>
          <p:nvPr/>
        </p:nvSpPr>
        <p:spPr>
          <a:xfrm>
            <a:off x="786384" y="4187952"/>
            <a:ext cx="548640" cy="640080"/>
          </a:xfrm>
          <a:prstGeom prst="rect">
            <a:avLst/>
          </a:prstGeom>
          <a:noFill/>
          <a:ln/>
        </p:spPr>
        <p:txBody>
          <a:bodyPr wrap="square" lIns="0" tIns="0" rIns="0" bIns="0" rtlCol="0" anchor="ctr"/>
          <a:lstStyle/>
          <a:p>
            <a:pPr algn="ctr" indent="0" marL="0">
              <a:buNone/>
            </a:pPr>
            <a:r>
              <a:rPr lang="en-US" sz="2700" b="1" dirty="0">
                <a:solidFill>
                  <a:srgbClr val="5B6E7B"/>
                </a:solidFill>
                <a:latin typeface="Cambria" pitchFamily="34" charset="0"/>
                <a:ea typeface="Cambria" pitchFamily="34" charset="-122"/>
                <a:cs typeface="Cambria" pitchFamily="34" charset="-120"/>
              </a:rPr>
              <a:t>4</a:t>
            </a:r>
            <a:endParaRPr lang="en-US" sz="2700" dirty="0"/>
          </a:p>
        </p:txBody>
      </p:sp>
      <p:sp>
        <p:nvSpPr>
          <p:cNvPr id="30" name="Text 27"/>
          <p:cNvSpPr/>
          <p:nvPr/>
        </p:nvSpPr>
        <p:spPr>
          <a:xfrm>
            <a:off x="1435608" y="4242816"/>
            <a:ext cx="2743200" cy="292608"/>
          </a:xfrm>
          <a:prstGeom prst="rect">
            <a:avLst/>
          </a:prstGeom>
          <a:noFill/>
          <a:ln/>
        </p:spPr>
        <p:txBody>
          <a:bodyPr wrap="square" lIns="0" tIns="0" rIns="0" bIns="0" rtlCol="0" anchor="ctr"/>
          <a:lstStyle/>
          <a:p>
            <a:pPr indent="0" marL="0">
              <a:buNone/>
            </a:pPr>
            <a:r>
              <a:rPr lang="en-US" sz="1550" b="1" dirty="0">
                <a:solidFill>
                  <a:srgbClr val="0E1D28"/>
                </a:solidFill>
                <a:latin typeface="Calibri" pitchFamily="34" charset="0"/>
                <a:ea typeface="Calibri" pitchFamily="34" charset="-122"/>
                <a:cs typeface="Calibri" pitchFamily="34" charset="-120"/>
              </a:rPr>
              <a:t>Suivre le client</a:t>
            </a:r>
            <a:endParaRPr lang="en-US" sz="1550" dirty="0"/>
          </a:p>
        </p:txBody>
      </p:sp>
      <p:sp>
        <p:nvSpPr>
          <p:cNvPr id="31" name="Text 28"/>
          <p:cNvSpPr/>
          <p:nvPr/>
        </p:nvSpPr>
        <p:spPr>
          <a:xfrm>
            <a:off x="1435608" y="4553712"/>
            <a:ext cx="5303520" cy="256032"/>
          </a:xfrm>
          <a:prstGeom prst="rect">
            <a:avLst/>
          </a:prstGeom>
          <a:noFill/>
          <a:ln/>
        </p:spPr>
        <p:txBody>
          <a:bodyPr wrap="square" lIns="0" tIns="0" rIns="0" bIns="0" rtlCol="0" anchor="ctr"/>
          <a:lstStyle/>
          <a:p>
            <a:pPr indent="0" marL="0">
              <a:buNone/>
            </a:pPr>
            <a:r>
              <a:rPr lang="en-US" sz="1100" dirty="0">
                <a:solidFill>
                  <a:srgbClr val="5B6E7B"/>
                </a:solidFill>
                <a:latin typeface="Calibri" pitchFamily="34" charset="0"/>
                <a:ea typeface="Calibri" pitchFamily="34" charset="-122"/>
                <a:cs typeface="Calibri" pitchFamily="34" charset="-120"/>
              </a:rPr>
              <a:t>Comptes rendus, points de validation, satisfaction</a:t>
            </a:r>
            <a:endParaRPr lang="en-US" sz="1100" dirty="0"/>
          </a:p>
        </p:txBody>
      </p:sp>
      <p:sp>
        <p:nvSpPr>
          <p:cNvPr id="32" name="Text 29"/>
          <p:cNvSpPr/>
          <p:nvPr/>
        </p:nvSpPr>
        <p:spPr>
          <a:xfrm>
            <a:off x="6876288" y="4370832"/>
            <a:ext cx="2377440" cy="292608"/>
          </a:xfrm>
          <a:prstGeom prst="rect">
            <a:avLst/>
          </a:prstGeom>
          <a:noFill/>
          <a:ln/>
        </p:spPr>
        <p:txBody>
          <a:bodyPr wrap="square" lIns="0" tIns="0" rIns="0" bIns="0" rtlCol="0" anchor="ctr"/>
          <a:lstStyle/>
          <a:p>
            <a:pPr algn="r" indent="0" marL="0">
              <a:buNone/>
            </a:pPr>
            <a:r>
              <a:rPr lang="en-US" sz="1050" b="1" dirty="0">
                <a:solidFill>
                  <a:srgbClr val="1F5468"/>
                </a:solidFill>
                <a:latin typeface="Courier New" pitchFamily="34" charset="0"/>
                <a:ea typeface="Courier New" pitchFamily="34" charset="-122"/>
                <a:cs typeface="Courier New" pitchFamily="34" charset="-120"/>
              </a:rPr>
              <a:t>C3.4.1</a:t>
            </a:r>
            <a:endParaRPr lang="en-US" sz="1050" dirty="0"/>
          </a:p>
        </p:txBody>
      </p:sp>
      <p:sp>
        <p:nvSpPr>
          <p:cNvPr id="33" name="Text 30"/>
          <p:cNvSpPr/>
          <p:nvPr/>
        </p:nvSpPr>
        <p:spPr>
          <a:xfrm>
            <a:off x="10573207" y="4361688"/>
            <a:ext cx="914400" cy="292608"/>
          </a:xfrm>
          <a:prstGeom prst="rect">
            <a:avLst/>
          </a:prstGeom>
          <a:noFill/>
          <a:ln/>
        </p:spPr>
        <p:txBody>
          <a:bodyPr wrap="square" lIns="0" tIns="0" rIns="0" bIns="0" rtlCol="0" anchor="ctr"/>
          <a:lstStyle/>
          <a:p>
            <a:pPr algn="r" indent="0" marL="0">
              <a:buNone/>
            </a:pPr>
            <a:r>
              <a:rPr lang="en-US" sz="1450" b="1" dirty="0">
                <a:solidFill>
                  <a:srgbClr val="0E1D28"/>
                </a:solidFill>
                <a:latin typeface="Cambria" pitchFamily="34" charset="0"/>
                <a:ea typeface="Cambria" pitchFamily="34" charset="-122"/>
                <a:cs typeface="Cambria" pitchFamily="34" charset="-120"/>
              </a:rPr>
              <a:t>3 min</a:t>
            </a:r>
            <a:endParaRPr lang="en-US" sz="1450" dirty="0"/>
          </a:p>
        </p:txBody>
      </p:sp>
      <p:sp>
        <p:nvSpPr>
          <p:cNvPr id="34" name="Shape 31"/>
          <p:cNvSpPr/>
          <p:nvPr/>
        </p:nvSpPr>
        <p:spPr>
          <a:xfrm>
            <a:off x="566928" y="4956048"/>
            <a:ext cx="11057839" cy="713232"/>
          </a:xfrm>
          <a:prstGeom prst="roundRect">
            <a:avLst>
              <a:gd name="adj" fmla="val 4487"/>
            </a:avLst>
          </a:prstGeom>
          <a:solidFill>
            <a:srgbClr val="FBF3E6"/>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35" name="Text 32"/>
          <p:cNvSpPr/>
          <p:nvPr/>
        </p:nvSpPr>
        <p:spPr>
          <a:xfrm>
            <a:off x="786384" y="4992624"/>
            <a:ext cx="548640" cy="640080"/>
          </a:xfrm>
          <a:prstGeom prst="rect">
            <a:avLst/>
          </a:prstGeom>
          <a:noFill/>
          <a:ln/>
        </p:spPr>
        <p:txBody>
          <a:bodyPr wrap="square" lIns="0" tIns="0" rIns="0" bIns="0" rtlCol="0" anchor="ctr"/>
          <a:lstStyle/>
          <a:p>
            <a:pPr algn="ctr" indent="0" marL="0">
              <a:buNone/>
            </a:pPr>
            <a:r>
              <a:rPr lang="en-US" sz="2700" b="1" dirty="0">
                <a:solidFill>
                  <a:srgbClr val="D98A21"/>
                </a:solidFill>
                <a:latin typeface="Cambria" pitchFamily="34" charset="0"/>
                <a:ea typeface="Cambria" pitchFamily="34" charset="-122"/>
                <a:cs typeface="Cambria" pitchFamily="34" charset="-120"/>
              </a:rPr>
              <a:t>5</a:t>
            </a:r>
            <a:endParaRPr lang="en-US" sz="2700" dirty="0"/>
          </a:p>
        </p:txBody>
      </p:sp>
      <p:sp>
        <p:nvSpPr>
          <p:cNvPr id="36" name="Text 33"/>
          <p:cNvSpPr/>
          <p:nvPr/>
        </p:nvSpPr>
        <p:spPr>
          <a:xfrm>
            <a:off x="1435608" y="5047488"/>
            <a:ext cx="2743200" cy="292608"/>
          </a:xfrm>
          <a:prstGeom prst="rect">
            <a:avLst/>
          </a:prstGeom>
          <a:noFill/>
          <a:ln/>
        </p:spPr>
        <p:txBody>
          <a:bodyPr wrap="square" lIns="0" tIns="0" rIns="0" bIns="0" rtlCol="0" anchor="ctr"/>
          <a:lstStyle/>
          <a:p>
            <a:pPr indent="0" marL="0">
              <a:buNone/>
            </a:pPr>
            <a:r>
              <a:rPr lang="en-US" sz="1550" b="1" dirty="0">
                <a:solidFill>
                  <a:srgbClr val="0E1D28"/>
                </a:solidFill>
                <a:latin typeface="Calibri" pitchFamily="34" charset="0"/>
                <a:ea typeface="Calibri" pitchFamily="34" charset="-122"/>
                <a:cs typeface="Calibri" pitchFamily="34" charset="-120"/>
              </a:rPr>
              <a:t>Démontrer</a:t>
            </a:r>
            <a:endParaRPr lang="en-US" sz="1550" dirty="0"/>
          </a:p>
        </p:txBody>
      </p:sp>
      <p:sp>
        <p:nvSpPr>
          <p:cNvPr id="37" name="Text 34"/>
          <p:cNvSpPr/>
          <p:nvPr/>
        </p:nvSpPr>
        <p:spPr>
          <a:xfrm>
            <a:off x="1435608" y="5358384"/>
            <a:ext cx="5303520" cy="256032"/>
          </a:xfrm>
          <a:prstGeom prst="rect">
            <a:avLst/>
          </a:prstGeom>
          <a:noFill/>
          <a:ln/>
        </p:spPr>
        <p:txBody>
          <a:bodyPr wrap="square" lIns="0" tIns="0" rIns="0" bIns="0" rtlCol="0" anchor="ctr"/>
          <a:lstStyle/>
          <a:p>
            <a:pPr indent="0" marL="0">
              <a:buNone/>
            </a:pPr>
            <a:r>
              <a:rPr lang="en-US" sz="1100" dirty="0">
                <a:solidFill>
                  <a:srgbClr val="5B6E7B"/>
                </a:solidFill>
                <a:latin typeface="Calibri" pitchFamily="34" charset="0"/>
                <a:ea typeface="Calibri" pitchFamily="34" charset="-122"/>
                <a:cs typeface="Calibri" pitchFamily="34" charset="-120"/>
              </a:rPr>
              <a:t>Démonstration des fonctionnalités devant le jury</a:t>
            </a:r>
            <a:endParaRPr lang="en-US" sz="1100" dirty="0"/>
          </a:p>
        </p:txBody>
      </p:sp>
      <p:sp>
        <p:nvSpPr>
          <p:cNvPr id="38" name="Text 35"/>
          <p:cNvSpPr/>
          <p:nvPr/>
        </p:nvSpPr>
        <p:spPr>
          <a:xfrm>
            <a:off x="6876288" y="5175504"/>
            <a:ext cx="2377440" cy="292608"/>
          </a:xfrm>
          <a:prstGeom prst="rect">
            <a:avLst/>
          </a:prstGeom>
          <a:noFill/>
          <a:ln/>
        </p:spPr>
        <p:txBody>
          <a:bodyPr wrap="square" lIns="0" tIns="0" rIns="0" bIns="0" rtlCol="0" anchor="ctr"/>
          <a:lstStyle/>
          <a:p>
            <a:pPr algn="r" indent="0" marL="0">
              <a:buNone/>
            </a:pPr>
            <a:r>
              <a:rPr lang="en-US" sz="1050" b="1" dirty="0">
                <a:solidFill>
                  <a:srgbClr val="1F5468"/>
                </a:solidFill>
                <a:latin typeface="Courier New" pitchFamily="34" charset="0"/>
                <a:ea typeface="Courier New" pitchFamily="34" charset="-122"/>
                <a:cs typeface="Courier New" pitchFamily="34" charset="-120"/>
              </a:rPr>
              <a:t>C3.4.2</a:t>
            </a:r>
            <a:endParaRPr lang="en-US" sz="1050" dirty="0"/>
          </a:p>
        </p:txBody>
      </p:sp>
      <p:sp>
        <p:nvSpPr>
          <p:cNvPr id="39" name="Shape 36"/>
          <p:cNvSpPr/>
          <p:nvPr/>
        </p:nvSpPr>
        <p:spPr>
          <a:xfrm>
            <a:off x="9454896" y="5184648"/>
            <a:ext cx="1051560" cy="256032"/>
          </a:xfrm>
          <a:prstGeom prst="roundRect">
            <a:avLst>
              <a:gd name="adj" fmla="val 17857"/>
            </a:avLst>
          </a:prstGeom>
          <a:solidFill>
            <a:srgbClr val="AE3F2C"/>
          </a:solidFill>
          <a:ln/>
        </p:spPr>
      </p:sp>
      <p:sp>
        <p:nvSpPr>
          <p:cNvPr id="40" name="Text 37"/>
          <p:cNvSpPr/>
          <p:nvPr/>
        </p:nvSpPr>
        <p:spPr>
          <a:xfrm>
            <a:off x="9454896" y="5184648"/>
            <a:ext cx="1051560" cy="256032"/>
          </a:xfrm>
          <a:prstGeom prst="rect">
            <a:avLst/>
          </a:prstGeom>
          <a:noFill/>
          <a:ln/>
        </p:spPr>
        <p:txBody>
          <a:bodyPr wrap="square" lIns="0" tIns="0" rIns="0" bIns="0" rtlCol="0" anchor="ctr"/>
          <a:lstStyle/>
          <a:p>
            <a:pPr algn="ctr" indent="0" marL="0">
              <a:buNone/>
            </a:pPr>
            <a:r>
              <a:rPr lang="en-US" sz="750" b="1" dirty="0">
                <a:solidFill>
                  <a:srgbClr val="FFFFFF"/>
                </a:solidFill>
                <a:latin typeface="Courier New" pitchFamily="34" charset="0"/>
                <a:ea typeface="Courier New" pitchFamily="34" charset="-122"/>
                <a:cs typeface="Courier New" pitchFamily="34" charset="-120"/>
              </a:rPr>
              <a:t>ÉLIMINATOIRE</a:t>
            </a:r>
            <a:endParaRPr lang="en-US" sz="750" dirty="0"/>
          </a:p>
        </p:txBody>
      </p:sp>
      <p:sp>
        <p:nvSpPr>
          <p:cNvPr id="41" name="Text 38"/>
          <p:cNvSpPr/>
          <p:nvPr/>
        </p:nvSpPr>
        <p:spPr>
          <a:xfrm>
            <a:off x="10573207" y="5166360"/>
            <a:ext cx="914400" cy="292608"/>
          </a:xfrm>
          <a:prstGeom prst="rect">
            <a:avLst/>
          </a:prstGeom>
          <a:noFill/>
          <a:ln/>
        </p:spPr>
        <p:txBody>
          <a:bodyPr wrap="square" lIns="0" tIns="0" rIns="0" bIns="0" rtlCol="0" anchor="ctr"/>
          <a:lstStyle/>
          <a:p>
            <a:pPr algn="r" indent="0" marL="0">
              <a:buNone/>
            </a:pPr>
            <a:r>
              <a:rPr lang="en-US" sz="1450" b="1" dirty="0">
                <a:solidFill>
                  <a:srgbClr val="0E1D28"/>
                </a:solidFill>
                <a:latin typeface="Cambria" pitchFamily="34" charset="0"/>
                <a:ea typeface="Cambria" pitchFamily="34" charset="-122"/>
                <a:cs typeface="Cambria" pitchFamily="34" charset="-120"/>
              </a:rPr>
              <a:t>5 min</a:t>
            </a:r>
            <a:endParaRPr lang="en-US" sz="1450" dirty="0"/>
          </a:p>
        </p:txBody>
      </p:sp>
      <p:sp>
        <p:nvSpPr>
          <p:cNvPr id="42" name="Shape 39"/>
          <p:cNvSpPr/>
          <p:nvPr/>
        </p:nvSpPr>
        <p:spPr>
          <a:xfrm>
            <a:off x="566928" y="5779008"/>
            <a:ext cx="11057839" cy="566928"/>
          </a:xfrm>
          <a:prstGeom prst="roundRect">
            <a:avLst>
              <a:gd name="adj" fmla="val 5645"/>
            </a:avLst>
          </a:prstGeom>
          <a:solidFill>
            <a:srgbClr val="E6EDF1"/>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43" name="Shape 40"/>
          <p:cNvSpPr/>
          <p:nvPr/>
        </p:nvSpPr>
        <p:spPr>
          <a:xfrm>
            <a:off x="822960" y="5934456"/>
            <a:ext cx="658368" cy="256032"/>
          </a:xfrm>
          <a:prstGeom prst="roundRect">
            <a:avLst>
              <a:gd name="adj" fmla="val 17857"/>
            </a:avLst>
          </a:prstGeom>
          <a:solidFill>
            <a:srgbClr val="1F5468"/>
          </a:solidFill>
          <a:ln/>
        </p:spPr>
      </p:sp>
      <p:sp>
        <p:nvSpPr>
          <p:cNvPr id="44" name="Text 41"/>
          <p:cNvSpPr/>
          <p:nvPr/>
        </p:nvSpPr>
        <p:spPr>
          <a:xfrm>
            <a:off x="822960" y="5934456"/>
            <a:ext cx="658368"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RÉEL</a:t>
            </a:r>
            <a:endParaRPr lang="en-US" sz="900" dirty="0"/>
          </a:p>
        </p:txBody>
      </p:sp>
      <p:sp>
        <p:nvSpPr>
          <p:cNvPr id="45" name="Text 42"/>
          <p:cNvSpPr/>
          <p:nvPr/>
        </p:nvSpPr>
        <p:spPr>
          <a:xfrm>
            <a:off x="1591056" y="5925312"/>
            <a:ext cx="4114800" cy="274320"/>
          </a:xfrm>
          <a:prstGeom prst="rect">
            <a:avLst/>
          </a:prstGeom>
          <a:noFill/>
          <a:ln/>
        </p:spPr>
        <p:txBody>
          <a:bodyPr wrap="square" lIns="0" tIns="0" rIns="0" bIns="0" rtlCol="0" anchor="ctr"/>
          <a:lstStyle/>
          <a:p>
            <a:pPr indent="0" marL="0">
              <a:buNone/>
            </a:pPr>
            <a:r>
              <a:rPr lang="en-US" sz="1150" dirty="0">
                <a:solidFill>
                  <a:srgbClr val="17303F"/>
                </a:solidFill>
                <a:latin typeface="Calibri" pitchFamily="34" charset="0"/>
                <a:ea typeface="Calibri" pitchFamily="34" charset="-122"/>
                <a:cs typeface="Calibri" pitchFamily="34" charset="-120"/>
              </a:rPr>
              <a:t>ce qui a effectivement été fait et tracé dans le dépôt Git</a:t>
            </a:r>
            <a:endParaRPr lang="en-US" sz="1150" dirty="0"/>
          </a:p>
        </p:txBody>
      </p:sp>
      <p:sp>
        <p:nvSpPr>
          <p:cNvPr id="46" name="Shape 43"/>
          <p:cNvSpPr/>
          <p:nvPr/>
        </p:nvSpPr>
        <p:spPr>
          <a:xfrm>
            <a:off x="6007608" y="5934456"/>
            <a:ext cx="658368" cy="256032"/>
          </a:xfrm>
          <a:prstGeom prst="roundRect">
            <a:avLst>
              <a:gd name="adj" fmla="val 17857"/>
            </a:avLst>
          </a:prstGeom>
          <a:solidFill>
            <a:srgbClr val="D98A21"/>
          </a:solidFill>
          <a:ln/>
        </p:spPr>
      </p:sp>
      <p:sp>
        <p:nvSpPr>
          <p:cNvPr id="47" name="Text 44"/>
          <p:cNvSpPr/>
          <p:nvPr/>
        </p:nvSpPr>
        <p:spPr>
          <a:xfrm>
            <a:off x="6007608" y="5934456"/>
            <a:ext cx="658368" cy="256032"/>
          </a:xfrm>
          <a:prstGeom prst="rect">
            <a:avLst/>
          </a:prstGeom>
          <a:noFill/>
          <a:ln/>
        </p:spPr>
        <p:txBody>
          <a:bodyPr wrap="square" lIns="0" tIns="0" rIns="0" bIns="0" rtlCol="0" anchor="ctr"/>
          <a:lstStyle/>
          <a:p>
            <a:pPr algn="ctr" indent="0" marL="0">
              <a:buNone/>
            </a:pPr>
            <a:r>
              <a:rPr lang="en-US" sz="900" b="1" dirty="0">
                <a:solidFill>
                  <a:srgbClr val="0E1D28"/>
                </a:solidFill>
                <a:latin typeface="Courier New" pitchFamily="34" charset="0"/>
                <a:ea typeface="Courier New" pitchFamily="34" charset="-122"/>
                <a:cs typeface="Courier New" pitchFamily="34" charset="-120"/>
              </a:rPr>
              <a:t>CIBLE</a:t>
            </a:r>
            <a:endParaRPr lang="en-US" sz="900" dirty="0"/>
          </a:p>
        </p:txBody>
      </p:sp>
      <p:sp>
        <p:nvSpPr>
          <p:cNvPr id="48" name="Text 45"/>
          <p:cNvSpPr/>
          <p:nvPr/>
        </p:nvSpPr>
        <p:spPr>
          <a:xfrm>
            <a:off x="6775704" y="5925312"/>
            <a:ext cx="4572000" cy="274320"/>
          </a:xfrm>
          <a:prstGeom prst="rect">
            <a:avLst/>
          </a:prstGeom>
          <a:noFill/>
          <a:ln/>
        </p:spPr>
        <p:txBody>
          <a:bodyPr wrap="square" lIns="0" tIns="0" rIns="0" bIns="0" rtlCol="0" anchor="ctr"/>
          <a:lstStyle/>
          <a:p>
            <a:pPr indent="0" marL="0">
              <a:buNone/>
            </a:pPr>
            <a:r>
              <a:rPr lang="en-US" sz="1150" dirty="0">
                <a:solidFill>
                  <a:srgbClr val="17303F"/>
                </a:solidFill>
                <a:latin typeface="Calibri" pitchFamily="34" charset="0"/>
                <a:ea typeface="Calibri" pitchFamily="34" charset="-122"/>
                <a:cs typeface="Calibri" pitchFamily="34" charset="-120"/>
              </a:rPr>
              <a:t>le dimensionnement conçu pour l'équipe d'industrialisation</a:t>
            </a:r>
            <a:endParaRPr lang="en-US" sz="1150" dirty="0"/>
          </a:p>
        </p:txBody>
      </p:sp>
      <p:sp>
        <p:nvSpPr>
          <p:cNvPr id="49" name="Text 46"/>
          <p:cNvSpPr/>
          <p:nvPr/>
        </p:nvSpPr>
        <p:spPr>
          <a:xfrm>
            <a:off x="10984687" y="6419088"/>
            <a:ext cx="640080" cy="256032"/>
          </a:xfrm>
          <a:prstGeom prst="rect">
            <a:avLst/>
          </a:prstGeom>
          <a:noFill/>
          <a:ln/>
        </p:spPr>
        <p:txBody>
          <a:bodyPr wrap="square" lIns="0" tIns="0" rIns="0" bIns="0" rtlCol="0" anchor="ctr"/>
          <a:lstStyle/>
          <a:p>
            <a:pPr algn="r" indent="0" marL="0">
              <a:buNone/>
            </a:pPr>
            <a:r>
              <a:rPr lang="en-US" sz="1000" dirty="0">
                <a:solidFill>
                  <a:srgbClr val="9FB2BD"/>
                </a:solidFill>
                <a:latin typeface="Courier New" pitchFamily="34" charset="0"/>
                <a:ea typeface="Courier New" pitchFamily="34" charset="-122"/>
                <a:cs typeface="Courier New"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66928" y="384048"/>
            <a:ext cx="7740487" cy="219456"/>
          </a:xfrm>
          <a:prstGeom prst="rect">
            <a:avLst/>
          </a:prstGeom>
          <a:noFill/>
          <a:ln/>
        </p:spPr>
        <p:txBody>
          <a:bodyPr wrap="square" lIns="0" tIns="0" rIns="0" bIns="0" rtlCol="0" anchor="ctr"/>
          <a:lstStyle/>
          <a:p>
            <a:pPr indent="0" marL="0">
              <a:buNone/>
            </a:pPr>
            <a:r>
              <a:rPr lang="en-US" sz="1050" b="1" spc="160" kern="0" dirty="0">
                <a:solidFill>
                  <a:srgbClr val="1F5468"/>
                </a:solidFill>
                <a:latin typeface="Courier New" pitchFamily="34" charset="0"/>
                <a:ea typeface="Courier New" pitchFamily="34" charset="-122"/>
                <a:cs typeface="Courier New" pitchFamily="34" charset="-120"/>
              </a:rPr>
              <a:t>LE PRODUIT</a:t>
            </a:r>
            <a:endParaRPr lang="en-US" sz="1050" dirty="0"/>
          </a:p>
        </p:txBody>
      </p:sp>
      <p:sp>
        <p:nvSpPr>
          <p:cNvPr id="4" name="Text 1"/>
          <p:cNvSpPr/>
          <p:nvPr/>
        </p:nvSpPr>
        <p:spPr>
          <a:xfrm>
            <a:off x="566928" y="621792"/>
            <a:ext cx="8403958" cy="731520"/>
          </a:xfrm>
          <a:prstGeom prst="rect">
            <a:avLst/>
          </a:prstGeom>
          <a:noFill/>
          <a:ln/>
        </p:spPr>
        <p:txBody>
          <a:bodyPr wrap="square" lIns="0" tIns="0" rIns="0" bIns="0" rtlCol="0" anchor="t"/>
          <a:lstStyle/>
          <a:p>
            <a:pPr indent="0" marL="0">
              <a:buNone/>
            </a:pPr>
            <a:r>
              <a:rPr lang="en-US" sz="2900" b="1" dirty="0">
                <a:solidFill>
                  <a:srgbClr val="0E1D28"/>
                </a:solidFill>
                <a:latin typeface="Cambria" pitchFamily="34" charset="0"/>
                <a:ea typeface="Cambria" pitchFamily="34" charset="-122"/>
                <a:cs typeface="Cambria" pitchFamily="34" charset="-120"/>
              </a:rPr>
              <a:t>SkillHunt</a:t>
            </a:r>
            <a:endParaRPr lang="en-US" sz="2900" dirty="0"/>
          </a:p>
        </p:txBody>
      </p:sp>
      <p:sp>
        <p:nvSpPr>
          <p:cNvPr id="5" name="Shape 2"/>
          <p:cNvSpPr/>
          <p:nvPr/>
        </p:nvSpPr>
        <p:spPr>
          <a:xfrm>
            <a:off x="566928" y="1408176"/>
            <a:ext cx="5391760" cy="2231136"/>
          </a:xfrm>
          <a:prstGeom prst="roundRect">
            <a:avLst>
              <a:gd name="adj" fmla="val 1434"/>
            </a:avLst>
          </a:prstGeom>
          <a:solidFill>
            <a:srgbClr val="F1F5F7"/>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6" name="Text 3"/>
          <p:cNvSpPr/>
          <p:nvPr/>
        </p:nvSpPr>
        <p:spPr>
          <a:xfrm>
            <a:off x="841248" y="1554480"/>
            <a:ext cx="4843120" cy="310896"/>
          </a:xfrm>
          <a:prstGeom prst="rect">
            <a:avLst/>
          </a:prstGeom>
          <a:noFill/>
          <a:ln/>
        </p:spPr>
        <p:txBody>
          <a:bodyPr wrap="square" lIns="0" tIns="0" rIns="0" bIns="0" rtlCol="0" anchor="ctr"/>
          <a:lstStyle/>
          <a:p>
            <a:pPr indent="0" marL="0">
              <a:buNone/>
            </a:pPr>
            <a:r>
              <a:rPr lang="en-US" sz="1700" b="1" dirty="0">
                <a:solidFill>
                  <a:srgbClr val="0E1D28"/>
                </a:solidFill>
                <a:latin typeface="Calibri" pitchFamily="34" charset="0"/>
                <a:ea typeface="Calibri" pitchFamily="34" charset="-122"/>
                <a:cs typeface="Calibri" pitchFamily="34" charset="-120"/>
              </a:rPr>
              <a:t>La réponse</a:t>
            </a:r>
            <a:endParaRPr lang="en-US" sz="1700" dirty="0"/>
          </a:p>
        </p:txBody>
      </p:sp>
      <p:pic>
        <p:nvPicPr>
          <p:cNvPr id="7" name="Image 0" descr="/home/claude/icons/rp-armurerie.png">    </p:cNvPr>
          <p:cNvPicPr>
            <a:picLocks noChangeAspect="1"/>
          </p:cNvPicPr>
          <p:nvPr/>
        </p:nvPicPr>
        <p:blipFill>
          <a:blip r:embed="rId1"/>
          <a:stretch>
            <a:fillRect/>
          </a:stretch>
        </p:blipFill>
        <p:spPr>
          <a:xfrm>
            <a:off x="841248" y="1975104"/>
            <a:ext cx="292608" cy="292608"/>
          </a:xfrm>
          <a:prstGeom prst="rect">
            <a:avLst/>
          </a:prstGeom>
        </p:spPr>
      </p:pic>
      <p:sp>
        <p:nvSpPr>
          <p:cNvPr id="8" name="Text 4"/>
          <p:cNvSpPr/>
          <p:nvPr/>
        </p:nvSpPr>
        <p:spPr>
          <a:xfrm>
            <a:off x="1280160" y="1993392"/>
            <a:ext cx="4404208" cy="548640"/>
          </a:xfrm>
          <a:prstGeom prst="rect">
            <a:avLst/>
          </a:prstGeom>
          <a:noFill/>
          <a:ln/>
        </p:spPr>
        <p:txBody>
          <a:bodyPr wrap="square" lIns="0" tIns="0" rIns="0" bIns="0" rtlCol="0" anchor="t"/>
          <a:lstStyle/>
          <a:p>
            <a:pPr indent="0" marL="0">
              <a:buNone/>
            </a:pPr>
            <a:r>
              <a:rPr lang="en-US" sz="1250" dirty="0">
                <a:solidFill>
                  <a:srgbClr val="17303F"/>
                </a:solidFill>
                <a:latin typeface="Calibri" pitchFamily="34" charset="0"/>
                <a:ea typeface="Calibri" pitchFamily="34" charset="-122"/>
                <a:cs typeface="Calibri" pitchFamily="34" charset="-120"/>
              </a:rPr>
              <a:t>L'Armurerie : la déclaration du matériel devient une expérience gratifiante.</a:t>
            </a:r>
            <a:endParaRPr lang="en-US" sz="1250" dirty="0"/>
          </a:p>
        </p:txBody>
      </p:sp>
      <p:pic>
        <p:nvPicPr>
          <p:cNvPr id="9" name="Image 1" descr="/home/claude/icons/rp-verifie.png">    </p:cNvPr>
          <p:cNvPicPr>
            <a:picLocks noChangeAspect="1"/>
          </p:cNvPicPr>
          <p:nvPr/>
        </p:nvPicPr>
        <p:blipFill>
          <a:blip r:embed="rId2"/>
          <a:stretch>
            <a:fillRect/>
          </a:stretch>
        </p:blipFill>
        <p:spPr>
          <a:xfrm>
            <a:off x="841248" y="2560320"/>
            <a:ext cx="292608" cy="292608"/>
          </a:xfrm>
          <a:prstGeom prst="rect">
            <a:avLst/>
          </a:prstGeom>
        </p:spPr>
      </p:pic>
      <p:sp>
        <p:nvSpPr>
          <p:cNvPr id="10" name="Text 5"/>
          <p:cNvSpPr/>
          <p:nvPr/>
        </p:nvSpPr>
        <p:spPr>
          <a:xfrm>
            <a:off x="1280160" y="2578608"/>
            <a:ext cx="4404208" cy="548640"/>
          </a:xfrm>
          <a:prstGeom prst="rect">
            <a:avLst/>
          </a:prstGeom>
          <a:noFill/>
          <a:ln/>
        </p:spPr>
        <p:txBody>
          <a:bodyPr wrap="square" lIns="0" tIns="0" rIns="0" bIns="0" rtlCol="0" anchor="t"/>
          <a:lstStyle/>
          <a:p>
            <a:pPr indent="0" marL="0">
              <a:buNone/>
            </a:pPr>
            <a:r>
              <a:rPr lang="en-US" sz="1250" dirty="0">
                <a:solidFill>
                  <a:srgbClr val="17303F"/>
                </a:solidFill>
                <a:latin typeface="Calibri" pitchFamily="34" charset="0"/>
                <a:ea typeface="Calibri" pitchFamily="34" charset="-122"/>
                <a:cs typeface="Calibri" pitchFamily="34" charset="-120"/>
              </a:rPr>
              <a:t>Des certifications vérifiées, qui se transforment en badges.</a:t>
            </a:r>
            <a:endParaRPr lang="en-US" sz="1250" dirty="0"/>
          </a:p>
        </p:txBody>
      </p:sp>
      <p:pic>
        <p:nvPicPr>
          <p:cNvPr id="11" name="Image 2" descr="/home/claude/icons/rp-matching.png">    </p:cNvPr>
          <p:cNvPicPr>
            <a:picLocks noChangeAspect="1"/>
          </p:cNvPicPr>
          <p:nvPr/>
        </p:nvPicPr>
        <p:blipFill>
          <a:blip r:embed="rId3"/>
          <a:stretch>
            <a:fillRect/>
          </a:stretch>
        </p:blipFill>
        <p:spPr>
          <a:xfrm>
            <a:off x="841248" y="3145536"/>
            <a:ext cx="292608" cy="292608"/>
          </a:xfrm>
          <a:prstGeom prst="rect">
            <a:avLst/>
          </a:prstGeom>
        </p:spPr>
      </p:pic>
      <p:sp>
        <p:nvSpPr>
          <p:cNvPr id="12" name="Text 6"/>
          <p:cNvSpPr/>
          <p:nvPr/>
        </p:nvSpPr>
        <p:spPr>
          <a:xfrm>
            <a:off x="1280160" y="3163824"/>
            <a:ext cx="4404208" cy="548640"/>
          </a:xfrm>
          <a:prstGeom prst="rect">
            <a:avLst/>
          </a:prstGeom>
          <a:noFill/>
          <a:ln/>
        </p:spPr>
        <p:txBody>
          <a:bodyPr wrap="square" lIns="0" tIns="0" rIns="0" bIns="0" rtlCol="0" anchor="t"/>
          <a:lstStyle/>
          <a:p>
            <a:pPr indent="0" marL="0">
              <a:buNone/>
            </a:pPr>
            <a:r>
              <a:rPr lang="en-US" sz="1250" dirty="0">
                <a:solidFill>
                  <a:srgbClr val="17303F"/>
                </a:solidFill>
                <a:latin typeface="Calibri" pitchFamily="34" charset="0"/>
                <a:ea typeface="Calibri" pitchFamily="34" charset="-122"/>
                <a:cs typeface="Calibri" pitchFamily="34" charset="-120"/>
              </a:rPr>
              <a:t>Un matching multicritères : compétences × matériel × géolocalisation.</a:t>
            </a:r>
            <a:endParaRPr lang="en-US" sz="1250" dirty="0"/>
          </a:p>
        </p:txBody>
      </p:sp>
      <p:sp>
        <p:nvSpPr>
          <p:cNvPr id="13" name="Shape 7"/>
          <p:cNvSpPr/>
          <p:nvPr/>
        </p:nvSpPr>
        <p:spPr>
          <a:xfrm>
            <a:off x="6233008" y="1408176"/>
            <a:ext cx="5391760" cy="2231136"/>
          </a:xfrm>
          <a:prstGeom prst="roundRect">
            <a:avLst>
              <a:gd name="adj" fmla="val 1434"/>
            </a:avLst>
          </a:prstGeom>
          <a:solidFill>
            <a:srgbClr val="F1F5F7"/>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14" name="Text 8"/>
          <p:cNvSpPr/>
          <p:nvPr/>
        </p:nvSpPr>
        <p:spPr>
          <a:xfrm>
            <a:off x="6507328" y="1554480"/>
            <a:ext cx="4843120" cy="310896"/>
          </a:xfrm>
          <a:prstGeom prst="rect">
            <a:avLst/>
          </a:prstGeom>
          <a:noFill/>
          <a:ln/>
        </p:spPr>
        <p:txBody>
          <a:bodyPr wrap="square" lIns="0" tIns="0" rIns="0" bIns="0" rtlCol="0" anchor="ctr"/>
          <a:lstStyle/>
          <a:p>
            <a:pPr indent="0" marL="0">
              <a:buNone/>
            </a:pPr>
            <a:r>
              <a:rPr lang="en-US" sz="1700" b="1" dirty="0">
                <a:solidFill>
                  <a:srgbClr val="0E1D28"/>
                </a:solidFill>
                <a:latin typeface="Calibri" pitchFamily="34" charset="0"/>
                <a:ea typeface="Calibri" pitchFamily="34" charset="-122"/>
                <a:cs typeface="Calibri" pitchFamily="34" charset="-120"/>
              </a:rPr>
              <a:t>L'architecture</a:t>
            </a:r>
            <a:endParaRPr lang="en-US" sz="1700" dirty="0"/>
          </a:p>
        </p:txBody>
      </p:sp>
      <p:pic>
        <p:nvPicPr>
          <p:cNvPr id="15" name="Image 3" descr="/home/claude/icons/ar-blocs.png">    </p:cNvPr>
          <p:cNvPicPr>
            <a:picLocks noChangeAspect="1"/>
          </p:cNvPicPr>
          <p:nvPr/>
        </p:nvPicPr>
        <p:blipFill>
          <a:blip r:embed="rId4"/>
          <a:stretch>
            <a:fillRect/>
          </a:stretch>
        </p:blipFill>
        <p:spPr>
          <a:xfrm>
            <a:off x="6507328" y="1975104"/>
            <a:ext cx="292608" cy="292608"/>
          </a:xfrm>
          <a:prstGeom prst="rect">
            <a:avLst/>
          </a:prstGeom>
        </p:spPr>
      </p:pic>
      <p:sp>
        <p:nvSpPr>
          <p:cNvPr id="16" name="Text 9"/>
          <p:cNvSpPr/>
          <p:nvPr/>
        </p:nvSpPr>
        <p:spPr>
          <a:xfrm>
            <a:off x="6946240" y="1993392"/>
            <a:ext cx="4404208" cy="548640"/>
          </a:xfrm>
          <a:prstGeom prst="rect">
            <a:avLst/>
          </a:prstGeom>
          <a:noFill/>
          <a:ln/>
        </p:spPr>
        <p:txBody>
          <a:bodyPr wrap="square" lIns="0" tIns="0" rIns="0" bIns="0" rtlCol="0" anchor="t"/>
          <a:lstStyle/>
          <a:p>
            <a:pPr indent="0" marL="0">
              <a:buNone/>
            </a:pPr>
            <a:r>
              <a:rPr lang="en-US" sz="1250" dirty="0">
                <a:solidFill>
                  <a:srgbClr val="17303F"/>
                </a:solidFill>
                <a:latin typeface="Calibri" pitchFamily="34" charset="0"/>
                <a:ea typeface="Calibri" pitchFamily="34" charset="-122"/>
                <a:cs typeface="Calibri" pitchFamily="34" charset="-120"/>
              </a:rPr>
              <a:t>Hybride : un monolithe NestJS et des microservices isolés.</a:t>
            </a:r>
            <a:endParaRPr lang="en-US" sz="1250" dirty="0"/>
          </a:p>
        </p:txBody>
      </p:sp>
      <p:pic>
        <p:nvPicPr>
          <p:cNvPr id="17" name="Image 4" descr="/home/claude/icons/ar-api.png">    </p:cNvPr>
          <p:cNvPicPr>
            <a:picLocks noChangeAspect="1"/>
          </p:cNvPicPr>
          <p:nvPr/>
        </p:nvPicPr>
        <p:blipFill>
          <a:blip r:embed="rId5"/>
          <a:stretch>
            <a:fillRect/>
          </a:stretch>
        </p:blipFill>
        <p:spPr>
          <a:xfrm>
            <a:off x="6507328" y="2560320"/>
            <a:ext cx="292608" cy="292608"/>
          </a:xfrm>
          <a:prstGeom prst="rect">
            <a:avLst/>
          </a:prstGeom>
        </p:spPr>
      </p:pic>
      <p:sp>
        <p:nvSpPr>
          <p:cNvPr id="18" name="Text 10"/>
          <p:cNvSpPr/>
          <p:nvPr/>
        </p:nvSpPr>
        <p:spPr>
          <a:xfrm>
            <a:off x="6946240" y="2578608"/>
            <a:ext cx="4404208" cy="548640"/>
          </a:xfrm>
          <a:prstGeom prst="rect">
            <a:avLst/>
          </a:prstGeom>
          <a:noFill/>
          <a:ln/>
        </p:spPr>
        <p:txBody>
          <a:bodyPr wrap="square" lIns="0" tIns="0" rIns="0" bIns="0" rtlCol="0" anchor="t"/>
          <a:lstStyle/>
          <a:p>
            <a:pPr indent="0" marL="0">
              <a:buNone/>
            </a:pPr>
            <a:r>
              <a:rPr lang="en-US" sz="1250" dirty="0">
                <a:solidFill>
                  <a:srgbClr val="17303F"/>
                </a:solidFill>
                <a:latin typeface="Calibri" pitchFamily="34" charset="0"/>
                <a:ea typeface="Calibri" pitchFamily="34" charset="-122"/>
                <a:cs typeface="Calibri" pitchFamily="34" charset="-120"/>
              </a:rPr>
              <a:t>Matching en FastAPI, géospatial en PostGIS.</a:t>
            </a:r>
            <a:endParaRPr lang="en-US" sz="1250" dirty="0"/>
          </a:p>
        </p:txBody>
      </p:sp>
      <p:pic>
        <p:nvPicPr>
          <p:cNvPr id="19" name="Image 5" descr="/home/claude/icons/ar-bdd.png">    </p:cNvPr>
          <p:cNvPicPr>
            <a:picLocks noChangeAspect="1"/>
          </p:cNvPicPr>
          <p:nvPr/>
        </p:nvPicPr>
        <p:blipFill>
          <a:blip r:embed="rId6"/>
          <a:stretch>
            <a:fillRect/>
          </a:stretch>
        </p:blipFill>
        <p:spPr>
          <a:xfrm>
            <a:off x="6507328" y="3145536"/>
            <a:ext cx="292608" cy="292608"/>
          </a:xfrm>
          <a:prstGeom prst="rect">
            <a:avLst/>
          </a:prstGeom>
        </p:spPr>
      </p:pic>
      <p:sp>
        <p:nvSpPr>
          <p:cNvPr id="20" name="Text 11"/>
          <p:cNvSpPr/>
          <p:nvPr/>
        </p:nvSpPr>
        <p:spPr>
          <a:xfrm>
            <a:off x="6946240" y="3163824"/>
            <a:ext cx="4404208" cy="548640"/>
          </a:xfrm>
          <a:prstGeom prst="rect">
            <a:avLst/>
          </a:prstGeom>
          <a:noFill/>
          <a:ln/>
        </p:spPr>
        <p:txBody>
          <a:bodyPr wrap="square" lIns="0" tIns="0" rIns="0" bIns="0" rtlCol="0" anchor="t"/>
          <a:lstStyle/>
          <a:p>
            <a:pPr indent="0" marL="0">
              <a:buNone/>
            </a:pPr>
            <a:r>
              <a:rPr lang="en-US" sz="1250" dirty="0">
                <a:solidFill>
                  <a:srgbClr val="17303F"/>
                </a:solidFill>
                <a:latin typeface="Calibri" pitchFamily="34" charset="0"/>
                <a:ea typeface="Calibri" pitchFamily="34" charset="-122"/>
                <a:cs typeface="Calibri" pitchFamily="34" charset="-120"/>
              </a:rPr>
              <a:t>PostgreSQL, MongoDB et Redis, le tout conteneurisé.</a:t>
            </a:r>
            <a:endParaRPr lang="en-US" sz="1250" dirty="0"/>
          </a:p>
        </p:txBody>
      </p:sp>
      <p:sp>
        <p:nvSpPr>
          <p:cNvPr id="21" name="Shape 12"/>
          <p:cNvSpPr/>
          <p:nvPr/>
        </p:nvSpPr>
        <p:spPr>
          <a:xfrm>
            <a:off x="566928" y="3767328"/>
            <a:ext cx="11057839" cy="1517904"/>
          </a:xfrm>
          <a:prstGeom prst="roundRect">
            <a:avLst>
              <a:gd name="adj" fmla="val 2108"/>
            </a:avLst>
          </a:prstGeom>
          <a:solidFill>
            <a:srgbClr val="0E1D28"/>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22" name="Text 13"/>
          <p:cNvSpPr/>
          <p:nvPr/>
        </p:nvSpPr>
        <p:spPr>
          <a:xfrm>
            <a:off x="841248" y="3895344"/>
            <a:ext cx="2743200" cy="219456"/>
          </a:xfrm>
          <a:prstGeom prst="rect">
            <a:avLst/>
          </a:prstGeom>
          <a:noFill/>
          <a:ln/>
        </p:spPr>
        <p:txBody>
          <a:bodyPr wrap="square" lIns="0" tIns="0" rIns="0" bIns="0" rtlCol="0" anchor="ctr"/>
          <a:lstStyle/>
          <a:p>
            <a:pPr indent="0" marL="0">
              <a:buNone/>
            </a:pPr>
            <a:r>
              <a:rPr lang="en-US" sz="950" b="1" spc="130" kern="0" dirty="0">
                <a:solidFill>
                  <a:srgbClr val="F0AE44"/>
                </a:solidFill>
                <a:latin typeface="Courier New" pitchFamily="34" charset="0"/>
                <a:ea typeface="Courier New" pitchFamily="34" charset="-122"/>
                <a:cs typeface="Courier New" pitchFamily="34" charset="-120"/>
              </a:rPr>
              <a:t>PÉRIMÈTRE ARBITRÉ</a:t>
            </a:r>
            <a:endParaRPr lang="en-US" sz="950" dirty="0"/>
          </a:p>
        </p:txBody>
      </p:sp>
      <p:sp>
        <p:nvSpPr>
          <p:cNvPr id="23" name="Text 14"/>
          <p:cNvSpPr/>
          <p:nvPr/>
        </p:nvSpPr>
        <p:spPr>
          <a:xfrm>
            <a:off x="841248" y="4169664"/>
            <a:ext cx="10509199" cy="512064"/>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Lot 1 — livré et en production.  </a:t>
            </a:r>
            <a:pPr indent="0" marL="0">
              <a:buNone/>
            </a:pPr>
            <a:r>
              <a:rPr lang="en-US" sz="1250" dirty="0">
                <a:solidFill>
                  <a:srgbClr val="A9BDC9"/>
                </a:solidFill>
                <a:latin typeface="Calibri" pitchFamily="34" charset="0"/>
                <a:ea typeface="Calibri" pitchFamily="34" charset="-122"/>
                <a:cs typeface="Calibri" pitchFamily="34" charset="-120"/>
              </a:rPr>
              <a:t>Web App responsive : authentification, Armurerie, certifications, recherche géolocalisée, matching, chat temps réel. Le back-office est une API documentée, sans écran dédié.</a:t>
            </a:r>
            <a:endParaRPr lang="en-US" sz="1250" dirty="0"/>
          </a:p>
        </p:txBody>
      </p:sp>
      <p:sp>
        <p:nvSpPr>
          <p:cNvPr id="24" name="Text 15"/>
          <p:cNvSpPr/>
          <p:nvPr/>
        </p:nvSpPr>
        <p:spPr>
          <a:xfrm>
            <a:off x="841248" y="4718304"/>
            <a:ext cx="10509199" cy="475488"/>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Lot 2 — reporté, budgété, en cours de développement.  </a:t>
            </a:r>
            <a:pPr indent="0" marL="0">
              <a:buNone/>
            </a:pPr>
            <a:r>
              <a:rPr lang="en-US" sz="1250" dirty="0">
                <a:solidFill>
                  <a:srgbClr val="A9BDC9"/>
                </a:solidFill>
                <a:latin typeface="Calibri" pitchFamily="34" charset="0"/>
                <a:ea typeface="Calibri" pitchFamily="34" charset="-122"/>
                <a:cs typeface="Calibri" pitchFamily="34" charset="-120"/>
              </a:rPr>
              <a:t>Application React Native et microservice Média. Sa justification est le cas d'arbitrage que je vous présenterai.</a:t>
            </a:r>
            <a:endParaRPr lang="en-US" sz="1250" dirty="0"/>
          </a:p>
        </p:txBody>
      </p:sp>
      <p:sp>
        <p:nvSpPr>
          <p:cNvPr id="25" name="Shape 16"/>
          <p:cNvSpPr/>
          <p:nvPr/>
        </p:nvSpPr>
        <p:spPr>
          <a:xfrm>
            <a:off x="566928" y="5431536"/>
            <a:ext cx="11057839" cy="896112"/>
          </a:xfrm>
          <a:prstGeom prst="roundRect">
            <a:avLst>
              <a:gd name="adj" fmla="val 3571"/>
            </a:avLst>
          </a:prstGeom>
          <a:solidFill>
            <a:srgbClr val="E6EDF1"/>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26" name="Text 17"/>
          <p:cNvSpPr/>
          <p:nvPr/>
        </p:nvSpPr>
        <p:spPr>
          <a:xfrm>
            <a:off x="841248" y="5541264"/>
            <a:ext cx="4572000" cy="201168"/>
          </a:xfrm>
          <a:prstGeom prst="rect">
            <a:avLst/>
          </a:prstGeom>
          <a:noFill/>
          <a:ln/>
        </p:spPr>
        <p:txBody>
          <a:bodyPr wrap="square" lIns="0" tIns="0" rIns="0" bIns="0" rtlCol="0" anchor="ctr"/>
          <a:lstStyle/>
          <a:p>
            <a:pPr indent="0" marL="0">
              <a:buNone/>
            </a:pPr>
            <a:r>
              <a:rPr lang="en-US" sz="850" b="1" spc="130" kern="0" dirty="0">
                <a:solidFill>
                  <a:srgbClr val="1F5468"/>
                </a:solidFill>
                <a:latin typeface="Courier New" pitchFamily="34" charset="0"/>
                <a:ea typeface="Courier New" pitchFamily="34" charset="-122"/>
                <a:cs typeface="Courier New" pitchFamily="34" charset="-120"/>
              </a:rPr>
              <a:t>CE QUE LE DÉPÔT CONTIENT AUJOURD'HUI</a:t>
            </a:r>
            <a:endParaRPr lang="en-US" sz="850" dirty="0"/>
          </a:p>
        </p:txBody>
      </p:sp>
      <p:sp>
        <p:nvSpPr>
          <p:cNvPr id="27" name="Text 18"/>
          <p:cNvSpPr/>
          <p:nvPr/>
        </p:nvSpPr>
        <p:spPr>
          <a:xfrm>
            <a:off x="841248" y="5797296"/>
            <a:ext cx="1660093" cy="384048"/>
          </a:xfrm>
          <a:prstGeom prst="rect">
            <a:avLst/>
          </a:prstGeom>
          <a:noFill/>
          <a:ln/>
        </p:spPr>
        <p:txBody>
          <a:bodyPr wrap="square" lIns="0" tIns="0" rIns="0" bIns="0" rtlCol="0" anchor="ctr"/>
          <a:lstStyle/>
          <a:p>
            <a:pPr indent="0" marL="0">
              <a:buNone/>
            </a:pPr>
            <a:r>
              <a:rPr lang="en-US" sz="2000" b="1" dirty="0">
                <a:solidFill>
                  <a:srgbClr val="1F5468"/>
                </a:solidFill>
                <a:latin typeface="Cambria" pitchFamily="34" charset="0"/>
                <a:ea typeface="Cambria" pitchFamily="34" charset="-122"/>
                <a:cs typeface="Cambria" pitchFamily="34" charset="-120"/>
              </a:rPr>
              <a:t>293  </a:t>
            </a:r>
            <a:pPr indent="0" marL="0">
              <a:buNone/>
            </a:pPr>
            <a:r>
              <a:rPr lang="en-US" sz="1050" dirty="0">
                <a:solidFill>
                  <a:srgbClr val="5B6E7B"/>
                </a:solidFill>
                <a:latin typeface="Calibri" pitchFamily="34" charset="0"/>
                <a:ea typeface="Calibri" pitchFamily="34" charset="-122"/>
                <a:cs typeface="Calibri" pitchFamily="34" charset="-120"/>
              </a:rPr>
              <a:t>commits</a:t>
            </a:r>
            <a:endParaRPr lang="en-US" sz="2000" dirty="0"/>
          </a:p>
        </p:txBody>
      </p:sp>
      <p:sp>
        <p:nvSpPr>
          <p:cNvPr id="28" name="Text 19"/>
          <p:cNvSpPr/>
          <p:nvPr/>
        </p:nvSpPr>
        <p:spPr>
          <a:xfrm>
            <a:off x="2592781" y="5797296"/>
            <a:ext cx="1660093" cy="384048"/>
          </a:xfrm>
          <a:prstGeom prst="rect">
            <a:avLst/>
          </a:prstGeom>
          <a:noFill/>
          <a:ln/>
        </p:spPr>
        <p:txBody>
          <a:bodyPr wrap="square" lIns="0" tIns="0" rIns="0" bIns="0" rtlCol="0" anchor="ctr"/>
          <a:lstStyle/>
          <a:p>
            <a:pPr indent="0" marL="0">
              <a:buNone/>
            </a:pPr>
            <a:r>
              <a:rPr lang="en-US" sz="2000" b="1" dirty="0">
                <a:solidFill>
                  <a:srgbClr val="1F5468"/>
                </a:solidFill>
                <a:latin typeface="Cambria" pitchFamily="34" charset="0"/>
                <a:ea typeface="Cambria" pitchFamily="34" charset="-122"/>
                <a:cs typeface="Cambria" pitchFamily="34" charset="-120"/>
              </a:rPr>
              <a:t>55  </a:t>
            </a:r>
            <a:pPr indent="0" marL="0">
              <a:buNone/>
            </a:pPr>
            <a:r>
              <a:rPr lang="en-US" sz="1050" dirty="0">
                <a:solidFill>
                  <a:srgbClr val="5B6E7B"/>
                </a:solidFill>
                <a:latin typeface="Calibri" pitchFamily="34" charset="0"/>
                <a:ea typeface="Calibri" pitchFamily="34" charset="-122"/>
                <a:cs typeface="Calibri" pitchFamily="34" charset="-120"/>
              </a:rPr>
              <a:t>Pull Requests</a:t>
            </a:r>
            <a:endParaRPr lang="en-US" sz="2000" dirty="0"/>
          </a:p>
        </p:txBody>
      </p:sp>
      <p:sp>
        <p:nvSpPr>
          <p:cNvPr id="29" name="Text 20"/>
          <p:cNvSpPr/>
          <p:nvPr/>
        </p:nvSpPr>
        <p:spPr>
          <a:xfrm>
            <a:off x="4344314" y="5797296"/>
            <a:ext cx="1660093" cy="384048"/>
          </a:xfrm>
          <a:prstGeom prst="rect">
            <a:avLst/>
          </a:prstGeom>
          <a:noFill/>
          <a:ln/>
        </p:spPr>
        <p:txBody>
          <a:bodyPr wrap="square" lIns="0" tIns="0" rIns="0" bIns="0" rtlCol="0" anchor="ctr"/>
          <a:lstStyle/>
          <a:p>
            <a:pPr indent="0" marL="0">
              <a:buNone/>
            </a:pPr>
            <a:r>
              <a:rPr lang="en-US" sz="2000" b="1" dirty="0">
                <a:solidFill>
                  <a:srgbClr val="1F5468"/>
                </a:solidFill>
                <a:latin typeface="Cambria" pitchFamily="34" charset="0"/>
                <a:ea typeface="Cambria" pitchFamily="34" charset="-122"/>
                <a:cs typeface="Cambria" pitchFamily="34" charset="-120"/>
              </a:rPr>
              <a:t>66  </a:t>
            </a:r>
            <a:pPr indent="0" marL="0">
              <a:buNone/>
            </a:pPr>
            <a:r>
              <a:rPr lang="en-US" sz="1050" dirty="0">
                <a:solidFill>
                  <a:srgbClr val="5B6E7B"/>
                </a:solidFill>
                <a:latin typeface="Calibri" pitchFamily="34" charset="0"/>
                <a:ea typeface="Calibri" pitchFamily="34" charset="-122"/>
                <a:cs typeface="Calibri" pitchFamily="34" charset="-120"/>
              </a:rPr>
              <a:t>tickets Jira</a:t>
            </a:r>
            <a:endParaRPr lang="en-US" sz="2000" dirty="0"/>
          </a:p>
        </p:txBody>
      </p:sp>
      <p:sp>
        <p:nvSpPr>
          <p:cNvPr id="30" name="Text 21"/>
          <p:cNvSpPr/>
          <p:nvPr/>
        </p:nvSpPr>
        <p:spPr>
          <a:xfrm>
            <a:off x="6095848" y="5797296"/>
            <a:ext cx="1660093" cy="384048"/>
          </a:xfrm>
          <a:prstGeom prst="rect">
            <a:avLst/>
          </a:prstGeom>
          <a:noFill/>
          <a:ln/>
        </p:spPr>
        <p:txBody>
          <a:bodyPr wrap="square" lIns="0" tIns="0" rIns="0" bIns="0" rtlCol="0" anchor="ctr"/>
          <a:lstStyle/>
          <a:p>
            <a:pPr indent="0" marL="0">
              <a:buNone/>
            </a:pPr>
            <a:r>
              <a:rPr lang="en-US" sz="2000" b="1" dirty="0">
                <a:solidFill>
                  <a:srgbClr val="1F5468"/>
                </a:solidFill>
                <a:latin typeface="Cambria" pitchFamily="34" charset="0"/>
                <a:ea typeface="Cambria" pitchFamily="34" charset="-122"/>
                <a:cs typeface="Cambria" pitchFamily="34" charset="-120"/>
              </a:rPr>
              <a:t>274  </a:t>
            </a:r>
            <a:pPr indent="0" marL="0">
              <a:buNone/>
            </a:pPr>
            <a:r>
              <a:rPr lang="en-US" sz="1050" dirty="0">
                <a:solidFill>
                  <a:srgbClr val="5B6E7B"/>
                </a:solidFill>
                <a:latin typeface="Calibri" pitchFamily="34" charset="0"/>
                <a:ea typeface="Calibri" pitchFamily="34" charset="-122"/>
                <a:cs typeface="Calibri" pitchFamily="34" charset="-120"/>
              </a:rPr>
              <a:t>exécutions CI</a:t>
            </a:r>
            <a:endParaRPr lang="en-US" sz="2000" dirty="0"/>
          </a:p>
        </p:txBody>
      </p:sp>
      <p:sp>
        <p:nvSpPr>
          <p:cNvPr id="31" name="Text 22"/>
          <p:cNvSpPr/>
          <p:nvPr/>
        </p:nvSpPr>
        <p:spPr>
          <a:xfrm>
            <a:off x="7847381" y="5797296"/>
            <a:ext cx="1660093" cy="384048"/>
          </a:xfrm>
          <a:prstGeom prst="rect">
            <a:avLst/>
          </a:prstGeom>
          <a:noFill/>
          <a:ln/>
        </p:spPr>
        <p:txBody>
          <a:bodyPr wrap="square" lIns="0" tIns="0" rIns="0" bIns="0" rtlCol="0" anchor="ctr"/>
          <a:lstStyle/>
          <a:p>
            <a:pPr indent="0" marL="0">
              <a:buNone/>
            </a:pPr>
            <a:r>
              <a:rPr lang="en-US" sz="2000" b="1" dirty="0">
                <a:solidFill>
                  <a:srgbClr val="1F5468"/>
                </a:solidFill>
                <a:latin typeface="Cambria" pitchFamily="34" charset="0"/>
                <a:ea typeface="Cambria" pitchFamily="34" charset="-122"/>
                <a:cs typeface="Cambria" pitchFamily="34" charset="-120"/>
              </a:rPr>
              <a:t>3  </a:t>
            </a:r>
            <a:pPr indent="0" marL="0">
              <a:buNone/>
            </a:pPr>
            <a:r>
              <a:rPr lang="en-US" sz="1050" dirty="0">
                <a:solidFill>
                  <a:srgbClr val="5B6E7B"/>
                </a:solidFill>
                <a:latin typeface="Calibri" pitchFamily="34" charset="0"/>
                <a:ea typeface="Calibri" pitchFamily="34" charset="-122"/>
                <a:cs typeface="Calibri" pitchFamily="34" charset="-120"/>
              </a:rPr>
              <a:t>versions en prod.</a:t>
            </a:r>
            <a:endParaRPr lang="en-US" sz="2000" dirty="0"/>
          </a:p>
        </p:txBody>
      </p:sp>
      <p:sp>
        <p:nvSpPr>
          <p:cNvPr id="32" name="Text 23"/>
          <p:cNvSpPr/>
          <p:nvPr/>
        </p:nvSpPr>
        <p:spPr>
          <a:xfrm>
            <a:off x="9598914" y="5797296"/>
            <a:ext cx="1660093" cy="384048"/>
          </a:xfrm>
          <a:prstGeom prst="rect">
            <a:avLst/>
          </a:prstGeom>
          <a:noFill/>
          <a:ln/>
        </p:spPr>
        <p:txBody>
          <a:bodyPr wrap="square" lIns="0" tIns="0" rIns="0" bIns="0" rtlCol="0" anchor="ctr"/>
          <a:lstStyle/>
          <a:p>
            <a:pPr indent="0" marL="0">
              <a:buNone/>
            </a:pPr>
            <a:r>
              <a:rPr lang="en-US" sz="2000" b="1" dirty="0">
                <a:solidFill>
                  <a:srgbClr val="1F5468"/>
                </a:solidFill>
                <a:latin typeface="Cambria" pitchFamily="34" charset="0"/>
                <a:ea typeface="Cambria" pitchFamily="34" charset="-122"/>
                <a:cs typeface="Cambria" pitchFamily="34" charset="-120"/>
              </a:rPr>
              <a:t>11  </a:t>
            </a:r>
            <a:pPr indent="0" marL="0">
              <a:buNone/>
            </a:pPr>
            <a:r>
              <a:rPr lang="en-US" sz="1050" dirty="0">
                <a:solidFill>
                  <a:srgbClr val="5B6E7B"/>
                </a:solidFill>
                <a:latin typeface="Calibri" pitchFamily="34" charset="0"/>
                <a:ea typeface="Calibri" pitchFamily="34" charset="-122"/>
                <a:cs typeface="Calibri" pitchFamily="34" charset="-120"/>
              </a:rPr>
              <a:t>semaines</a:t>
            </a:r>
            <a:endParaRPr lang="en-US" sz="2000" dirty="0"/>
          </a:p>
        </p:txBody>
      </p:sp>
      <p:sp>
        <p:nvSpPr>
          <p:cNvPr id="33" name="Text 24"/>
          <p:cNvSpPr/>
          <p:nvPr/>
        </p:nvSpPr>
        <p:spPr>
          <a:xfrm>
            <a:off x="10984687" y="6419088"/>
            <a:ext cx="640080" cy="256032"/>
          </a:xfrm>
          <a:prstGeom prst="rect">
            <a:avLst/>
          </a:prstGeom>
          <a:noFill/>
          <a:ln/>
        </p:spPr>
        <p:txBody>
          <a:bodyPr wrap="square" lIns="0" tIns="0" rIns="0" bIns="0" rtlCol="0" anchor="ctr"/>
          <a:lstStyle/>
          <a:p>
            <a:pPr algn="r" indent="0" marL="0">
              <a:buNone/>
            </a:pPr>
            <a:r>
              <a:rPr lang="en-US" sz="1000" dirty="0">
                <a:solidFill>
                  <a:srgbClr val="9FB2BD"/>
                </a:solidFill>
                <a:latin typeface="Courier New" pitchFamily="34" charset="0"/>
                <a:ea typeface="Courier New" pitchFamily="34" charset="-122"/>
                <a:cs typeface="Courier New"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D28"/>
        </a:solidFill>
      </p:bgPr>
    </p:bg>
    <p:spTree>
      <p:nvGrpSpPr>
        <p:cNvPr id="1" name=""/>
        <p:cNvGrpSpPr/>
        <p:nvPr/>
      </p:nvGrpSpPr>
      <p:grpSpPr>
        <a:xfrm>
          <a:off x="0" y="0"/>
          <a:ext cx="0" cy="0"/>
          <a:chOff x="0" y="0"/>
          <a:chExt cx="0" cy="0"/>
        </a:xfrm>
      </p:grpSpPr>
      <p:sp>
        <p:nvSpPr>
          <p:cNvPr id="3" name="Text 0"/>
          <p:cNvSpPr/>
          <p:nvPr/>
        </p:nvSpPr>
        <p:spPr>
          <a:xfrm>
            <a:off x="566928" y="1737360"/>
            <a:ext cx="1828800" cy="1463040"/>
          </a:xfrm>
          <a:prstGeom prst="rect">
            <a:avLst/>
          </a:prstGeom>
          <a:noFill/>
          <a:ln/>
        </p:spPr>
        <p:txBody>
          <a:bodyPr wrap="square" lIns="0" tIns="0" rIns="0" bIns="0" rtlCol="0" anchor="ctr"/>
          <a:lstStyle/>
          <a:p>
            <a:pPr indent="0" marL="0">
              <a:buNone/>
            </a:pPr>
            <a:r>
              <a:rPr lang="en-US" sz="10000" b="1" dirty="0">
                <a:solidFill>
                  <a:srgbClr val="1E3646"/>
                </a:solidFill>
                <a:latin typeface="Cambria" pitchFamily="34" charset="0"/>
                <a:ea typeface="Cambria" pitchFamily="34" charset="-122"/>
                <a:cs typeface="Cambria" pitchFamily="34" charset="-120"/>
              </a:rPr>
              <a:t>01</a:t>
            </a:r>
            <a:endParaRPr lang="en-US" sz="10000" dirty="0"/>
          </a:p>
        </p:txBody>
      </p:sp>
      <p:sp>
        <p:nvSpPr>
          <p:cNvPr id="4" name="Text 1"/>
          <p:cNvSpPr/>
          <p:nvPr/>
        </p:nvSpPr>
        <p:spPr>
          <a:xfrm>
            <a:off x="566928" y="3017520"/>
            <a:ext cx="8229600" cy="100584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Planifier</a:t>
            </a:r>
            <a:endParaRPr lang="en-US" sz="6000" dirty="0"/>
          </a:p>
        </p:txBody>
      </p:sp>
      <p:sp>
        <p:nvSpPr>
          <p:cNvPr id="5" name="Text 2"/>
          <p:cNvSpPr/>
          <p:nvPr/>
        </p:nvSpPr>
        <p:spPr>
          <a:xfrm>
            <a:off x="566928" y="4069080"/>
            <a:ext cx="7863840" cy="548640"/>
          </a:xfrm>
          <a:prstGeom prst="rect">
            <a:avLst/>
          </a:prstGeom>
          <a:noFill/>
          <a:ln/>
        </p:spPr>
        <p:txBody>
          <a:bodyPr wrap="square" lIns="0" tIns="0" rIns="0" bIns="0" rtlCol="0" anchor="ctr"/>
          <a:lstStyle/>
          <a:p>
            <a:pPr indent="0" marL="0">
              <a:buNone/>
            </a:pPr>
            <a:r>
              <a:rPr lang="en-US" sz="1500" dirty="0">
                <a:solidFill>
                  <a:srgbClr val="A9BDC9"/>
                </a:solidFill>
                <a:latin typeface="Calibri" pitchFamily="34" charset="0"/>
                <a:ea typeface="Calibri" pitchFamily="34" charset="-122"/>
                <a:cs typeface="Calibri" pitchFamily="34" charset="-120"/>
              </a:rPr>
              <a:t>Organiser le cadre méthodologique, l'ordonnancement des activités, le planning et les ressources</a:t>
            </a:r>
            <a:endParaRPr lang="en-US" sz="1500" dirty="0"/>
          </a:p>
        </p:txBody>
      </p:sp>
      <p:sp>
        <p:nvSpPr>
          <p:cNvPr id="6" name="Shape 3"/>
          <p:cNvSpPr/>
          <p:nvPr/>
        </p:nvSpPr>
        <p:spPr>
          <a:xfrm>
            <a:off x="8881567" y="3154680"/>
            <a:ext cx="1371600" cy="420624"/>
          </a:xfrm>
          <a:prstGeom prst="roundRect">
            <a:avLst>
              <a:gd name="adj" fmla="val 15217"/>
            </a:avLst>
          </a:prstGeom>
          <a:solidFill>
            <a:srgbClr val="D98A21"/>
          </a:solidFill>
          <a:ln/>
        </p:spPr>
      </p:sp>
      <p:sp>
        <p:nvSpPr>
          <p:cNvPr id="7" name="Text 4"/>
          <p:cNvSpPr/>
          <p:nvPr/>
        </p:nvSpPr>
        <p:spPr>
          <a:xfrm>
            <a:off x="8881567" y="3154680"/>
            <a:ext cx="1371600" cy="420624"/>
          </a:xfrm>
          <a:prstGeom prst="rect">
            <a:avLst/>
          </a:prstGeom>
          <a:noFill/>
          <a:ln/>
        </p:spPr>
        <p:txBody>
          <a:bodyPr wrap="square" lIns="0" tIns="0" rIns="0" bIns="0" rtlCol="0" anchor="ctr"/>
          <a:lstStyle/>
          <a:p>
            <a:pPr algn="ctr" indent="0" marL="0">
              <a:buNone/>
            </a:pPr>
            <a:r>
              <a:rPr lang="en-US" sz="1500" b="1" dirty="0">
                <a:solidFill>
                  <a:srgbClr val="0E1D28"/>
                </a:solidFill>
                <a:latin typeface="Courier New" pitchFamily="34" charset="0"/>
                <a:ea typeface="Courier New" pitchFamily="34" charset="-122"/>
                <a:cs typeface="Courier New" pitchFamily="34" charset="-120"/>
              </a:rPr>
              <a:t>C3.1</a:t>
            </a:r>
            <a:endParaRPr lang="en-US" sz="1500" dirty="0"/>
          </a:p>
        </p:txBody>
      </p:sp>
      <p:sp>
        <p:nvSpPr>
          <p:cNvPr id="8" name="Shape 5"/>
          <p:cNvSpPr/>
          <p:nvPr/>
        </p:nvSpPr>
        <p:spPr>
          <a:xfrm>
            <a:off x="10344607" y="3154680"/>
            <a:ext cx="1280160" cy="420624"/>
          </a:xfrm>
          <a:prstGeom prst="roundRect">
            <a:avLst>
              <a:gd name="adj" fmla="val 15217"/>
            </a:avLst>
          </a:prstGeom>
          <a:solidFill>
            <a:srgbClr val="AE3F2C"/>
          </a:solidFill>
          <a:ln/>
        </p:spPr>
      </p:sp>
      <p:sp>
        <p:nvSpPr>
          <p:cNvPr id="9" name="Text 6"/>
          <p:cNvSpPr/>
          <p:nvPr/>
        </p:nvSpPr>
        <p:spPr>
          <a:xfrm>
            <a:off x="10344607" y="3154680"/>
            <a:ext cx="1280160"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ÉLIM.</a:t>
            </a:r>
            <a:endParaRPr lang="en-US" sz="1100" dirty="0"/>
          </a:p>
        </p:txBody>
      </p:sp>
      <p:sp>
        <p:nvSpPr>
          <p:cNvPr id="10" name="Text 7"/>
          <p:cNvSpPr/>
          <p:nvPr/>
        </p:nvSpPr>
        <p:spPr>
          <a:xfrm>
            <a:off x="10984687" y="6419088"/>
            <a:ext cx="640080" cy="256032"/>
          </a:xfrm>
          <a:prstGeom prst="rect">
            <a:avLst/>
          </a:prstGeom>
          <a:noFill/>
          <a:ln/>
        </p:spPr>
        <p:txBody>
          <a:bodyPr wrap="square" lIns="0" tIns="0" rIns="0" bIns="0" rtlCol="0" anchor="ctr"/>
          <a:lstStyle/>
          <a:p>
            <a:pPr algn="r" indent="0" marL="0">
              <a:buNone/>
            </a:pPr>
            <a:r>
              <a:rPr lang="en-US" sz="1000" dirty="0">
                <a:solidFill>
                  <a:srgbClr val="5D7686"/>
                </a:solidFill>
                <a:latin typeface="Courier New" pitchFamily="34" charset="0"/>
                <a:ea typeface="Courier New" pitchFamily="34" charset="-122"/>
                <a:cs typeface="Courier New"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66928" y="384048"/>
            <a:ext cx="7740487" cy="219456"/>
          </a:xfrm>
          <a:prstGeom prst="rect">
            <a:avLst/>
          </a:prstGeom>
          <a:noFill/>
          <a:ln/>
        </p:spPr>
        <p:txBody>
          <a:bodyPr wrap="square" lIns="0" tIns="0" rIns="0" bIns="0" rtlCol="0" anchor="ctr"/>
          <a:lstStyle/>
          <a:p>
            <a:pPr indent="0" marL="0">
              <a:buNone/>
            </a:pPr>
            <a:r>
              <a:rPr lang="en-US" sz="1050" b="1" spc="160" kern="0" dirty="0">
                <a:solidFill>
                  <a:srgbClr val="1F5468"/>
                </a:solidFill>
                <a:latin typeface="Courier New" pitchFamily="34" charset="0"/>
                <a:ea typeface="Courier New" pitchFamily="34" charset="-122"/>
                <a:cs typeface="Courier New" pitchFamily="34" charset="-120"/>
              </a:rPr>
              <a:t>PARTIE 1 · PLANIFIER</a:t>
            </a:r>
            <a:endParaRPr lang="en-US" sz="1050" dirty="0"/>
          </a:p>
        </p:txBody>
      </p:sp>
      <p:sp>
        <p:nvSpPr>
          <p:cNvPr id="4" name="Text 1"/>
          <p:cNvSpPr/>
          <p:nvPr/>
        </p:nvSpPr>
        <p:spPr>
          <a:xfrm>
            <a:off x="566928" y="621792"/>
            <a:ext cx="8403958" cy="731520"/>
          </a:xfrm>
          <a:prstGeom prst="rect">
            <a:avLst/>
          </a:prstGeom>
          <a:noFill/>
          <a:ln/>
        </p:spPr>
        <p:txBody>
          <a:bodyPr wrap="square" lIns="0" tIns="0" rIns="0" bIns="0" rtlCol="0" anchor="t"/>
          <a:lstStyle/>
          <a:p>
            <a:pPr indent="0" marL="0">
              <a:buNone/>
            </a:pPr>
            <a:r>
              <a:rPr lang="en-US" sz="2900" b="1" dirty="0">
                <a:solidFill>
                  <a:srgbClr val="0E1D28"/>
                </a:solidFill>
                <a:latin typeface="Cambria" pitchFamily="34" charset="0"/>
                <a:ea typeface="Cambria" pitchFamily="34" charset="-122"/>
                <a:cs typeface="Cambria" pitchFamily="34" charset="-120"/>
              </a:rPr>
              <a:t>La méthodologie retenue</a:t>
            </a:r>
            <a:endParaRPr lang="en-US" sz="2900" dirty="0"/>
          </a:p>
        </p:txBody>
      </p:sp>
      <p:sp>
        <p:nvSpPr>
          <p:cNvPr id="5" name="Shape 2"/>
          <p:cNvSpPr/>
          <p:nvPr/>
        </p:nvSpPr>
        <p:spPr>
          <a:xfrm>
            <a:off x="10801807" y="384048"/>
            <a:ext cx="822960" cy="310896"/>
          </a:xfrm>
          <a:prstGeom prst="roundRect">
            <a:avLst>
              <a:gd name="adj" fmla="val 17647"/>
            </a:avLst>
          </a:prstGeom>
          <a:solidFill>
            <a:srgbClr val="AE3F2C"/>
          </a:solidFill>
          <a:ln w="9525">
            <a:solidFill>
              <a:srgbClr val="AE3F2C"/>
            </a:solidFill>
            <a:prstDash val="solid"/>
          </a:ln>
        </p:spPr>
      </p:sp>
      <p:sp>
        <p:nvSpPr>
          <p:cNvPr id="6" name="Text 3"/>
          <p:cNvSpPr/>
          <p:nvPr/>
        </p:nvSpPr>
        <p:spPr>
          <a:xfrm>
            <a:off x="10801807" y="384048"/>
            <a:ext cx="82296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C3.1</a:t>
            </a:r>
            <a:endParaRPr lang="en-US" sz="1000" dirty="0"/>
          </a:p>
        </p:txBody>
      </p:sp>
      <p:sp>
        <p:nvSpPr>
          <p:cNvPr id="7" name="Shape 4"/>
          <p:cNvSpPr/>
          <p:nvPr/>
        </p:nvSpPr>
        <p:spPr>
          <a:xfrm>
            <a:off x="9777679" y="384048"/>
            <a:ext cx="914400" cy="310896"/>
          </a:xfrm>
          <a:prstGeom prst="roundRect">
            <a:avLst>
              <a:gd name="adj" fmla="val 17647"/>
            </a:avLst>
          </a:prstGeom>
          <a:solidFill>
            <a:srgbClr val="E6EDF1"/>
          </a:solidFill>
          <a:ln w="9525">
            <a:solidFill>
              <a:srgbClr val="D5DFE5"/>
            </a:solidFill>
            <a:prstDash val="solid"/>
          </a:ln>
        </p:spPr>
      </p:sp>
      <p:sp>
        <p:nvSpPr>
          <p:cNvPr id="8" name="Text 5"/>
          <p:cNvSpPr/>
          <p:nvPr/>
        </p:nvSpPr>
        <p:spPr>
          <a:xfrm>
            <a:off x="9777679" y="384048"/>
            <a:ext cx="914400" cy="310896"/>
          </a:xfrm>
          <a:prstGeom prst="rect">
            <a:avLst/>
          </a:prstGeom>
          <a:noFill/>
          <a:ln/>
        </p:spPr>
        <p:txBody>
          <a:bodyPr wrap="square" lIns="0" tIns="0" rIns="0" bIns="0" rtlCol="0" anchor="ctr"/>
          <a:lstStyle/>
          <a:p>
            <a:pPr algn="ctr" indent="0" marL="0">
              <a:buNone/>
            </a:pPr>
            <a:r>
              <a:rPr lang="en-US" sz="1000" b="1" dirty="0">
                <a:solidFill>
                  <a:srgbClr val="1F5468"/>
                </a:solidFill>
                <a:latin typeface="Courier New" pitchFamily="34" charset="0"/>
                <a:ea typeface="Courier New" pitchFamily="34" charset="-122"/>
                <a:cs typeface="Courier New" pitchFamily="34" charset="-120"/>
              </a:rPr>
              <a:t>RÉEL</a:t>
            </a:r>
            <a:endParaRPr lang="en-US" sz="1000" dirty="0"/>
          </a:p>
        </p:txBody>
      </p:sp>
      <p:sp>
        <p:nvSpPr>
          <p:cNvPr id="9" name="Shape 6"/>
          <p:cNvSpPr/>
          <p:nvPr/>
        </p:nvSpPr>
        <p:spPr>
          <a:xfrm>
            <a:off x="566928" y="1353312"/>
            <a:ext cx="11057839" cy="1572768"/>
          </a:xfrm>
          <a:prstGeom prst="roundRect">
            <a:avLst>
              <a:gd name="adj" fmla="val 2035"/>
            </a:avLst>
          </a:prstGeom>
          <a:solidFill>
            <a:srgbClr val="FBF3E6"/>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10" name="Shape 7"/>
          <p:cNvSpPr/>
          <p:nvPr/>
        </p:nvSpPr>
        <p:spPr>
          <a:xfrm>
            <a:off x="566928" y="1353312"/>
            <a:ext cx="68580" cy="1572768"/>
          </a:xfrm>
          <a:prstGeom prst="rect">
            <a:avLst/>
          </a:prstGeom>
          <a:solidFill>
            <a:srgbClr val="D98A21"/>
          </a:solidFill>
          <a:ln w="12700">
            <a:solidFill>
              <a:srgbClr val="D98A21"/>
            </a:solidFill>
            <a:prstDash val="solid"/>
          </a:ln>
        </p:spPr>
      </p:sp>
      <p:sp>
        <p:nvSpPr>
          <p:cNvPr id="11" name="Text 8"/>
          <p:cNvSpPr/>
          <p:nvPr/>
        </p:nvSpPr>
        <p:spPr>
          <a:xfrm>
            <a:off x="877824" y="1444752"/>
            <a:ext cx="4846320" cy="310896"/>
          </a:xfrm>
          <a:prstGeom prst="rect">
            <a:avLst/>
          </a:prstGeom>
          <a:noFill/>
          <a:ln/>
        </p:spPr>
        <p:txBody>
          <a:bodyPr wrap="square" lIns="0" tIns="0" rIns="0" bIns="0" rtlCol="0" anchor="ctr"/>
          <a:lstStyle/>
          <a:p>
            <a:pPr indent="0" marL="0">
              <a:buNone/>
            </a:pPr>
            <a:r>
              <a:rPr lang="en-US" sz="1800" b="1" dirty="0">
                <a:solidFill>
                  <a:srgbClr val="0E1D28"/>
                </a:solidFill>
                <a:latin typeface="Cambria" pitchFamily="34" charset="0"/>
                <a:ea typeface="Cambria" pitchFamily="34" charset="-122"/>
                <a:cs typeface="Cambria" pitchFamily="34" charset="-120"/>
              </a:rPr>
              <a:t>Scrum — 6 sprints de 2 semaines</a:t>
            </a:r>
            <a:endParaRPr lang="en-US" sz="1800" dirty="0"/>
          </a:p>
        </p:txBody>
      </p:sp>
      <p:sp>
        <p:nvSpPr>
          <p:cNvPr id="12" name="Text 9"/>
          <p:cNvSpPr/>
          <p:nvPr/>
        </p:nvSpPr>
        <p:spPr>
          <a:xfrm>
            <a:off x="6053328" y="1444752"/>
            <a:ext cx="5260543" cy="548640"/>
          </a:xfrm>
          <a:prstGeom prst="rect">
            <a:avLst/>
          </a:prstGeom>
          <a:noFill/>
          <a:ln/>
        </p:spPr>
        <p:txBody>
          <a:bodyPr wrap="square" lIns="0" tIns="0" rIns="0" bIns="0" rtlCol="0" anchor="t"/>
          <a:lstStyle/>
          <a:p>
            <a:pPr indent="0" marL="0">
              <a:buNone/>
            </a:pPr>
            <a:r>
              <a:rPr lang="en-US" sz="850" b="1" spc="120" kern="0" dirty="0">
                <a:solidFill>
                  <a:srgbClr val="D98A21"/>
                </a:solidFill>
                <a:latin typeface="Courier New" pitchFamily="34" charset="0"/>
                <a:ea typeface="Courier New" pitchFamily="34" charset="-122"/>
                <a:cs typeface="Courier New" pitchFamily="34" charset="-120"/>
              </a:rPr>
              <a:t>POURQUOI DEUX SEMAINES  </a:t>
            </a:r>
            <a:pPr indent="0" marL="0">
              <a:buNone/>
            </a:pPr>
            <a:r>
              <a:rPr lang="en-US" sz="1100" dirty="0">
                <a:solidFill>
                  <a:srgbClr val="17303F"/>
                </a:solidFill>
                <a:latin typeface="Calibri" pitchFamily="34" charset="0"/>
                <a:ea typeface="Calibri" pitchFamily="34" charset="-122"/>
                <a:cs typeface="Calibri" pitchFamily="34" charset="-120"/>
              </a:rPr>
              <a:t>assez long pour livrer un incrément testé et revu, assez court pour ré-arbitrer six fois, et compatible avec une capacité de travail limitée aux soirées.</a:t>
            </a:r>
            <a:endParaRPr lang="en-US" sz="850" dirty="0"/>
          </a:p>
        </p:txBody>
      </p:sp>
      <p:sp>
        <p:nvSpPr>
          <p:cNvPr id="13" name="Shape 10"/>
          <p:cNvSpPr/>
          <p:nvPr/>
        </p:nvSpPr>
        <p:spPr>
          <a:xfrm>
            <a:off x="877824" y="2066544"/>
            <a:ext cx="237744" cy="237744"/>
          </a:xfrm>
          <a:prstGeom prst="ellipse">
            <a:avLst/>
          </a:prstGeom>
          <a:solidFill>
            <a:srgbClr val="D98A21"/>
          </a:solidFill>
          <a:ln w="12700">
            <a:solidFill>
              <a:srgbClr val="D98A21"/>
            </a:solidFill>
            <a:prstDash val="solid"/>
          </a:ln>
        </p:spPr>
      </p:sp>
      <p:sp>
        <p:nvSpPr>
          <p:cNvPr id="14" name="Text 11"/>
          <p:cNvSpPr/>
          <p:nvPr/>
        </p:nvSpPr>
        <p:spPr>
          <a:xfrm>
            <a:off x="877824" y="2066544"/>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1</a:t>
            </a:r>
            <a:endParaRPr lang="en-US" sz="900" dirty="0"/>
          </a:p>
        </p:txBody>
      </p:sp>
      <p:sp>
        <p:nvSpPr>
          <p:cNvPr id="15" name="Text 12"/>
          <p:cNvSpPr/>
          <p:nvPr/>
        </p:nvSpPr>
        <p:spPr>
          <a:xfrm>
            <a:off x="1207008" y="2048256"/>
            <a:ext cx="3003194" cy="274320"/>
          </a:xfrm>
          <a:prstGeom prst="rect">
            <a:avLst/>
          </a:prstGeom>
          <a:noFill/>
          <a:ln/>
        </p:spPr>
        <p:txBody>
          <a:bodyPr wrap="square" lIns="0" tIns="0" rIns="0" bIns="0" rtlCol="0" anchor="ctr"/>
          <a:lstStyle/>
          <a:p>
            <a:pPr indent="0" marL="0">
              <a:buNone/>
            </a:pPr>
            <a:r>
              <a:rPr lang="en-US" sz="1200" b="1" dirty="0">
                <a:solidFill>
                  <a:srgbClr val="0E1D28"/>
                </a:solidFill>
                <a:latin typeface="Calibri" pitchFamily="34" charset="0"/>
                <a:ea typeface="Calibri" pitchFamily="34" charset="-122"/>
                <a:cs typeface="Calibri" pitchFamily="34" charset="-120"/>
              </a:rPr>
              <a:t>Adapter le périmètre au fil des sprints</a:t>
            </a:r>
            <a:endParaRPr lang="en-US" sz="1200" dirty="0"/>
          </a:p>
        </p:txBody>
      </p:sp>
      <p:sp>
        <p:nvSpPr>
          <p:cNvPr id="16" name="Text 13"/>
          <p:cNvSpPr/>
          <p:nvPr/>
        </p:nvSpPr>
        <p:spPr>
          <a:xfrm>
            <a:off x="1207008" y="2304288"/>
            <a:ext cx="3003194" cy="402336"/>
          </a:xfrm>
          <a:prstGeom prst="rect">
            <a:avLst/>
          </a:prstGeom>
          <a:noFill/>
          <a:ln/>
        </p:spPr>
        <p:txBody>
          <a:bodyPr wrap="square" lIns="0" tIns="0" rIns="0" bIns="0" rtlCol="0" anchor="t"/>
          <a:lstStyle/>
          <a:p>
            <a:pPr indent="0" marL="0">
              <a:buNone/>
            </a:pPr>
            <a:r>
              <a:rPr lang="en-US" sz="1050" dirty="0">
                <a:solidFill>
                  <a:srgbClr val="5B6E7B"/>
                </a:solidFill>
                <a:latin typeface="Calibri" pitchFamily="34" charset="0"/>
                <a:ea typeface="Calibri" pitchFamily="34" charset="-122"/>
                <a:cs typeface="Calibri" pitchFamily="34" charset="-120"/>
              </a:rPr>
              <a:t>valider le matching sur de vrais usages avant de le figer</a:t>
            </a:r>
            <a:endParaRPr lang="en-US" sz="1050" dirty="0"/>
          </a:p>
        </p:txBody>
      </p:sp>
      <p:sp>
        <p:nvSpPr>
          <p:cNvPr id="17" name="Shape 14"/>
          <p:cNvSpPr/>
          <p:nvPr/>
        </p:nvSpPr>
        <p:spPr>
          <a:xfrm>
            <a:off x="4356506" y="2066544"/>
            <a:ext cx="237744" cy="237744"/>
          </a:xfrm>
          <a:prstGeom prst="ellipse">
            <a:avLst/>
          </a:prstGeom>
          <a:solidFill>
            <a:srgbClr val="D98A21"/>
          </a:solidFill>
          <a:ln w="12700">
            <a:solidFill>
              <a:srgbClr val="D98A21"/>
            </a:solidFill>
            <a:prstDash val="solid"/>
          </a:ln>
        </p:spPr>
      </p:sp>
      <p:sp>
        <p:nvSpPr>
          <p:cNvPr id="18" name="Text 15"/>
          <p:cNvSpPr/>
          <p:nvPr/>
        </p:nvSpPr>
        <p:spPr>
          <a:xfrm>
            <a:off x="4356506" y="2066544"/>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2</a:t>
            </a:r>
            <a:endParaRPr lang="en-US" sz="900" dirty="0"/>
          </a:p>
        </p:txBody>
      </p:sp>
      <p:sp>
        <p:nvSpPr>
          <p:cNvPr id="19" name="Text 16"/>
          <p:cNvSpPr/>
          <p:nvPr/>
        </p:nvSpPr>
        <p:spPr>
          <a:xfrm>
            <a:off x="4685690" y="2048256"/>
            <a:ext cx="3003194" cy="274320"/>
          </a:xfrm>
          <a:prstGeom prst="rect">
            <a:avLst/>
          </a:prstGeom>
          <a:noFill/>
          <a:ln/>
        </p:spPr>
        <p:txBody>
          <a:bodyPr wrap="square" lIns="0" tIns="0" rIns="0" bIns="0" rtlCol="0" anchor="ctr"/>
          <a:lstStyle/>
          <a:p>
            <a:pPr indent="0" marL="0">
              <a:buNone/>
            </a:pPr>
            <a:r>
              <a:rPr lang="en-US" sz="1200" b="1" dirty="0">
                <a:solidFill>
                  <a:srgbClr val="0E1D28"/>
                </a:solidFill>
                <a:latin typeface="Calibri" pitchFamily="34" charset="0"/>
                <a:ea typeface="Calibri" pitchFamily="34" charset="-122"/>
                <a:cs typeface="Calibri" pitchFamily="34" charset="-120"/>
              </a:rPr>
              <a:t>Cadence de démonstration régulière</a:t>
            </a:r>
            <a:endParaRPr lang="en-US" sz="1200" dirty="0"/>
          </a:p>
        </p:txBody>
      </p:sp>
      <p:sp>
        <p:nvSpPr>
          <p:cNvPr id="20" name="Text 17"/>
          <p:cNvSpPr/>
          <p:nvPr/>
        </p:nvSpPr>
        <p:spPr>
          <a:xfrm>
            <a:off x="4685690" y="2304288"/>
            <a:ext cx="3003194" cy="402336"/>
          </a:xfrm>
          <a:prstGeom prst="rect">
            <a:avLst/>
          </a:prstGeom>
          <a:noFill/>
          <a:ln/>
        </p:spPr>
        <p:txBody>
          <a:bodyPr wrap="square" lIns="0" tIns="0" rIns="0" bIns="0" rtlCol="0" anchor="t"/>
          <a:lstStyle/>
          <a:p>
            <a:pPr indent="0" marL="0">
              <a:buNone/>
            </a:pPr>
            <a:r>
              <a:rPr lang="en-US" sz="1050" dirty="0">
                <a:solidFill>
                  <a:srgbClr val="5B6E7B"/>
                </a:solidFill>
                <a:latin typeface="Calibri" pitchFamily="34" charset="0"/>
                <a:ea typeface="Calibri" pitchFamily="34" charset="-122"/>
                <a:cs typeface="Calibri" pitchFamily="34" charset="-120"/>
              </a:rPr>
              <a:t>validation continue, aucun effet tunnel</a:t>
            </a:r>
            <a:endParaRPr lang="en-US" sz="1050" dirty="0"/>
          </a:p>
        </p:txBody>
      </p:sp>
      <p:sp>
        <p:nvSpPr>
          <p:cNvPr id="21" name="Shape 18"/>
          <p:cNvSpPr/>
          <p:nvPr/>
        </p:nvSpPr>
        <p:spPr>
          <a:xfrm>
            <a:off x="7835189" y="2066544"/>
            <a:ext cx="237744" cy="237744"/>
          </a:xfrm>
          <a:prstGeom prst="ellipse">
            <a:avLst/>
          </a:prstGeom>
          <a:solidFill>
            <a:srgbClr val="D98A21"/>
          </a:solidFill>
          <a:ln w="12700">
            <a:solidFill>
              <a:srgbClr val="D98A21"/>
            </a:solidFill>
            <a:prstDash val="solid"/>
          </a:ln>
        </p:spPr>
      </p:sp>
      <p:sp>
        <p:nvSpPr>
          <p:cNvPr id="22" name="Text 19"/>
          <p:cNvSpPr/>
          <p:nvPr/>
        </p:nvSpPr>
        <p:spPr>
          <a:xfrm>
            <a:off x="7835189" y="2066544"/>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3</a:t>
            </a:r>
            <a:endParaRPr lang="en-US" sz="900" dirty="0"/>
          </a:p>
        </p:txBody>
      </p:sp>
      <p:sp>
        <p:nvSpPr>
          <p:cNvPr id="23" name="Text 20"/>
          <p:cNvSpPr/>
          <p:nvPr/>
        </p:nvSpPr>
        <p:spPr>
          <a:xfrm>
            <a:off x="8164373" y="2048256"/>
            <a:ext cx="3003194" cy="274320"/>
          </a:xfrm>
          <a:prstGeom prst="rect">
            <a:avLst/>
          </a:prstGeom>
          <a:noFill/>
          <a:ln/>
        </p:spPr>
        <p:txBody>
          <a:bodyPr wrap="square" lIns="0" tIns="0" rIns="0" bIns="0" rtlCol="0" anchor="ctr"/>
          <a:lstStyle/>
          <a:p>
            <a:pPr indent="0" marL="0">
              <a:buNone/>
            </a:pPr>
            <a:r>
              <a:rPr lang="en-US" sz="1200" b="1" dirty="0">
                <a:solidFill>
                  <a:srgbClr val="0E1D28"/>
                </a:solidFill>
                <a:latin typeface="Calibri" pitchFamily="34" charset="0"/>
                <a:ea typeface="Calibri" pitchFamily="34" charset="-122"/>
                <a:cs typeface="Calibri" pitchFamily="34" charset="-120"/>
              </a:rPr>
              <a:t>Réglementation drone mouvante</a:t>
            </a:r>
            <a:endParaRPr lang="en-US" sz="1200" dirty="0"/>
          </a:p>
        </p:txBody>
      </p:sp>
      <p:sp>
        <p:nvSpPr>
          <p:cNvPr id="24" name="Text 21"/>
          <p:cNvSpPr/>
          <p:nvPr/>
        </p:nvSpPr>
        <p:spPr>
          <a:xfrm>
            <a:off x="8164373" y="2304288"/>
            <a:ext cx="3003194" cy="402336"/>
          </a:xfrm>
          <a:prstGeom prst="rect">
            <a:avLst/>
          </a:prstGeom>
          <a:noFill/>
          <a:ln/>
        </p:spPr>
        <p:txBody>
          <a:bodyPr wrap="square" lIns="0" tIns="0" rIns="0" bIns="0" rtlCol="0" anchor="t"/>
          <a:lstStyle/>
          <a:p>
            <a:pPr indent="0" marL="0">
              <a:buNone/>
            </a:pPr>
            <a:r>
              <a:rPr lang="en-US" sz="1050" dirty="0">
                <a:solidFill>
                  <a:srgbClr val="5B6E7B"/>
                </a:solidFill>
                <a:latin typeface="Calibri" pitchFamily="34" charset="0"/>
                <a:ea typeface="Calibri" pitchFamily="34" charset="-122"/>
                <a:cs typeface="Calibri" pitchFamily="34" charset="-120"/>
              </a:rPr>
              <a:t>absorber une exigence sans tout replanifier</a:t>
            </a:r>
            <a:endParaRPr lang="en-US" sz="1050" dirty="0"/>
          </a:p>
        </p:txBody>
      </p:sp>
      <p:sp>
        <p:nvSpPr>
          <p:cNvPr id="25" name="Text 22"/>
          <p:cNvSpPr/>
          <p:nvPr/>
        </p:nvSpPr>
        <p:spPr>
          <a:xfrm>
            <a:off x="877824" y="2670048"/>
            <a:ext cx="10436047" cy="219456"/>
          </a:xfrm>
          <a:prstGeom prst="rect">
            <a:avLst/>
          </a:prstGeom>
          <a:noFill/>
          <a:ln/>
        </p:spPr>
        <p:txBody>
          <a:bodyPr wrap="square" lIns="0" tIns="0" rIns="0" bIns="0" rtlCol="0" anchor="ctr"/>
          <a:lstStyle/>
          <a:p>
            <a:pPr indent="0" marL="0">
              <a:buNone/>
            </a:pPr>
            <a:r>
              <a:rPr lang="en-US" sz="1100" i="1" dirty="0">
                <a:solidFill>
                  <a:srgbClr val="8A5A10"/>
                </a:solidFill>
                <a:latin typeface="Calibri" pitchFamily="34" charset="0"/>
                <a:ea typeface="Calibri" pitchFamily="34" charset="-122"/>
                <a:cs typeface="Calibri" pitchFamily="34" charset="-120"/>
              </a:rPr>
              <a:t>Écartées : le cycle en V, qui fige les spécifications en amont  ·  le Kanban seul, qui n'offre aucun rendez-vous de validation.</a:t>
            </a:r>
            <a:endParaRPr lang="en-US" sz="1100" dirty="0"/>
          </a:p>
        </p:txBody>
      </p:sp>
      <p:sp>
        <p:nvSpPr>
          <p:cNvPr id="26" name="Text 23"/>
          <p:cNvSpPr/>
          <p:nvPr/>
        </p:nvSpPr>
        <p:spPr>
          <a:xfrm>
            <a:off x="975208" y="3017520"/>
            <a:ext cx="10241280" cy="219456"/>
          </a:xfrm>
          <a:prstGeom prst="rect">
            <a:avLst/>
          </a:prstGeom>
          <a:noFill/>
          <a:ln/>
        </p:spPr>
        <p:txBody>
          <a:bodyPr wrap="square" lIns="0" tIns="0" rIns="0" bIns="0" rtlCol="0" anchor="ctr"/>
          <a:lstStyle/>
          <a:p>
            <a:pPr indent="0" marL="0">
              <a:buNone/>
            </a:pPr>
            <a:r>
              <a:rPr lang="en-US" sz="900" b="1" spc="120" kern="0" dirty="0">
                <a:solidFill>
                  <a:srgbClr val="1F5468"/>
                </a:solidFill>
                <a:latin typeface="Courier New" pitchFamily="34" charset="0"/>
                <a:ea typeface="Courier New" pitchFamily="34" charset="-122"/>
                <a:cs typeface="Courier New" pitchFamily="34" charset="-120"/>
              </a:rPr>
              <a:t>PREUVE — JIRA, BACKLOG : SPRINT 0, SON OBJECTIF, SES DATES ET SON ESTIMATION</a:t>
            </a:r>
            <a:endParaRPr lang="en-US" sz="900" dirty="0"/>
          </a:p>
        </p:txBody>
      </p:sp>
      <p:sp>
        <p:nvSpPr>
          <p:cNvPr id="27" name="Shape 24"/>
          <p:cNvSpPr/>
          <p:nvPr/>
        </p:nvSpPr>
        <p:spPr>
          <a:xfrm>
            <a:off x="929488" y="3246120"/>
            <a:ext cx="10332720" cy="3111593"/>
          </a:xfrm>
          <a:prstGeom prst="rect">
            <a:avLst/>
          </a:prstGeom>
          <a:solidFill>
            <a:srgbClr val="E6EDF1"/>
          </a:solidFill>
          <a:ln w="9525">
            <a:solidFill>
              <a:srgbClr val="D5DFE5"/>
            </a:solidFill>
            <a:prstDash val="solid"/>
          </a:ln>
          <a:effectLst>
            <a:outerShdw sx="100000" sy="100000" kx="0" ky="0" algn="bl" rotWithShape="0" blurRad="177800" dist="38100" dir="5400000">
              <a:srgbClr val="0E1D28">
                <a:alpha val="10000"/>
              </a:srgbClr>
            </a:outerShdw>
          </a:effectLst>
        </p:spPr>
      </p:sp>
      <p:pic>
        <p:nvPicPr>
          <p:cNvPr id="28" name="Image 0" descr="/home/claude/shots/A-sprint0.png">    </p:cNvPr>
          <p:cNvPicPr>
            <a:picLocks noChangeAspect="1"/>
          </p:cNvPicPr>
          <p:nvPr/>
        </p:nvPicPr>
        <p:blipFill>
          <a:blip r:embed="rId1"/>
          <a:stretch>
            <a:fillRect/>
          </a:stretch>
        </p:blipFill>
        <p:spPr>
          <a:xfrm>
            <a:off x="975208" y="3291840"/>
            <a:ext cx="10241280" cy="3020153"/>
          </a:xfrm>
          <a:prstGeom prst="rect">
            <a:avLst/>
          </a:prstGeom>
        </p:spPr>
      </p:pic>
      <p:sp>
        <p:nvSpPr>
          <p:cNvPr id="29" name="Text 25"/>
          <p:cNvSpPr/>
          <p:nvPr/>
        </p:nvSpPr>
        <p:spPr>
          <a:xfrm>
            <a:off x="10984687" y="6419088"/>
            <a:ext cx="640080" cy="256032"/>
          </a:xfrm>
          <a:prstGeom prst="rect">
            <a:avLst/>
          </a:prstGeom>
          <a:noFill/>
          <a:ln/>
        </p:spPr>
        <p:txBody>
          <a:bodyPr wrap="square" lIns="0" tIns="0" rIns="0" bIns="0" rtlCol="0" anchor="ctr"/>
          <a:lstStyle/>
          <a:p>
            <a:pPr algn="r" indent="0" marL="0">
              <a:buNone/>
            </a:pPr>
            <a:r>
              <a:rPr lang="en-US" sz="1000" dirty="0">
                <a:solidFill>
                  <a:srgbClr val="9FB2BD"/>
                </a:solidFill>
                <a:latin typeface="Courier New" pitchFamily="34" charset="0"/>
                <a:ea typeface="Courier New" pitchFamily="34" charset="-122"/>
                <a:cs typeface="Courier New"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66928" y="384048"/>
            <a:ext cx="7740487" cy="219456"/>
          </a:xfrm>
          <a:prstGeom prst="rect">
            <a:avLst/>
          </a:prstGeom>
          <a:noFill/>
          <a:ln/>
        </p:spPr>
        <p:txBody>
          <a:bodyPr wrap="square" lIns="0" tIns="0" rIns="0" bIns="0" rtlCol="0" anchor="ctr"/>
          <a:lstStyle/>
          <a:p>
            <a:pPr indent="0" marL="0">
              <a:buNone/>
            </a:pPr>
            <a:r>
              <a:rPr lang="en-US" sz="1050" b="1" spc="160" kern="0" dirty="0">
                <a:solidFill>
                  <a:srgbClr val="1F5468"/>
                </a:solidFill>
                <a:latin typeface="Courier New" pitchFamily="34" charset="0"/>
                <a:ea typeface="Courier New" pitchFamily="34" charset="-122"/>
                <a:cs typeface="Courier New" pitchFamily="34" charset="-120"/>
              </a:rPr>
              <a:t>PARTIE 1 · PLANIFIER</a:t>
            </a:r>
            <a:endParaRPr lang="en-US" sz="1050" dirty="0"/>
          </a:p>
        </p:txBody>
      </p:sp>
      <p:sp>
        <p:nvSpPr>
          <p:cNvPr id="4" name="Text 1"/>
          <p:cNvSpPr/>
          <p:nvPr/>
        </p:nvSpPr>
        <p:spPr>
          <a:xfrm>
            <a:off x="566928" y="621792"/>
            <a:ext cx="8403958" cy="731520"/>
          </a:xfrm>
          <a:prstGeom prst="rect">
            <a:avLst/>
          </a:prstGeom>
          <a:noFill/>
          <a:ln/>
        </p:spPr>
        <p:txBody>
          <a:bodyPr wrap="square" lIns="0" tIns="0" rIns="0" bIns="0" rtlCol="0" anchor="t"/>
          <a:lstStyle/>
          <a:p>
            <a:pPr indent="0" marL="0">
              <a:buNone/>
            </a:pPr>
            <a:r>
              <a:rPr lang="en-US" sz="2900" b="1" dirty="0">
                <a:solidFill>
                  <a:srgbClr val="0E1D28"/>
                </a:solidFill>
                <a:latin typeface="Cambria" pitchFamily="34" charset="0"/>
                <a:ea typeface="Cambria" pitchFamily="34" charset="-122"/>
                <a:cs typeface="Cambria" pitchFamily="34" charset="-120"/>
              </a:rPr>
              <a:t>L'outil de planification</a:t>
            </a:r>
            <a:endParaRPr lang="en-US" sz="2900" dirty="0"/>
          </a:p>
        </p:txBody>
      </p:sp>
      <p:sp>
        <p:nvSpPr>
          <p:cNvPr id="5" name="Shape 2"/>
          <p:cNvSpPr/>
          <p:nvPr/>
        </p:nvSpPr>
        <p:spPr>
          <a:xfrm>
            <a:off x="10801807" y="384048"/>
            <a:ext cx="822960" cy="310896"/>
          </a:xfrm>
          <a:prstGeom prst="roundRect">
            <a:avLst>
              <a:gd name="adj" fmla="val 17647"/>
            </a:avLst>
          </a:prstGeom>
          <a:solidFill>
            <a:srgbClr val="AE3F2C"/>
          </a:solidFill>
          <a:ln w="9525">
            <a:solidFill>
              <a:srgbClr val="AE3F2C"/>
            </a:solidFill>
            <a:prstDash val="solid"/>
          </a:ln>
        </p:spPr>
      </p:sp>
      <p:sp>
        <p:nvSpPr>
          <p:cNvPr id="6" name="Text 3"/>
          <p:cNvSpPr/>
          <p:nvPr/>
        </p:nvSpPr>
        <p:spPr>
          <a:xfrm>
            <a:off x="10801807" y="384048"/>
            <a:ext cx="82296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C3.1</a:t>
            </a:r>
            <a:endParaRPr lang="en-US" sz="1000" dirty="0"/>
          </a:p>
        </p:txBody>
      </p:sp>
      <p:sp>
        <p:nvSpPr>
          <p:cNvPr id="7" name="Shape 4"/>
          <p:cNvSpPr/>
          <p:nvPr/>
        </p:nvSpPr>
        <p:spPr>
          <a:xfrm>
            <a:off x="9777679" y="384048"/>
            <a:ext cx="914400" cy="310896"/>
          </a:xfrm>
          <a:prstGeom prst="roundRect">
            <a:avLst>
              <a:gd name="adj" fmla="val 17647"/>
            </a:avLst>
          </a:prstGeom>
          <a:solidFill>
            <a:srgbClr val="E6EDF1"/>
          </a:solidFill>
          <a:ln w="9525">
            <a:solidFill>
              <a:srgbClr val="D5DFE5"/>
            </a:solidFill>
            <a:prstDash val="solid"/>
          </a:ln>
        </p:spPr>
      </p:sp>
      <p:sp>
        <p:nvSpPr>
          <p:cNvPr id="8" name="Text 5"/>
          <p:cNvSpPr/>
          <p:nvPr/>
        </p:nvSpPr>
        <p:spPr>
          <a:xfrm>
            <a:off x="9777679" y="384048"/>
            <a:ext cx="914400" cy="310896"/>
          </a:xfrm>
          <a:prstGeom prst="rect">
            <a:avLst/>
          </a:prstGeom>
          <a:noFill/>
          <a:ln/>
        </p:spPr>
        <p:txBody>
          <a:bodyPr wrap="square" lIns="0" tIns="0" rIns="0" bIns="0" rtlCol="0" anchor="ctr"/>
          <a:lstStyle/>
          <a:p>
            <a:pPr algn="ctr" indent="0" marL="0">
              <a:buNone/>
            </a:pPr>
            <a:r>
              <a:rPr lang="en-US" sz="1000" b="1" dirty="0">
                <a:solidFill>
                  <a:srgbClr val="1F5468"/>
                </a:solidFill>
                <a:latin typeface="Courier New" pitchFamily="34" charset="0"/>
                <a:ea typeface="Courier New" pitchFamily="34" charset="-122"/>
                <a:cs typeface="Courier New" pitchFamily="34" charset="-120"/>
              </a:rPr>
              <a:t>RÉEL</a:t>
            </a:r>
            <a:endParaRPr lang="en-US" sz="1000" dirty="0"/>
          </a:p>
        </p:txBody>
      </p:sp>
      <p:sp>
        <p:nvSpPr>
          <p:cNvPr id="9" name="Shape 6"/>
          <p:cNvSpPr/>
          <p:nvPr/>
        </p:nvSpPr>
        <p:spPr>
          <a:xfrm>
            <a:off x="566928" y="1408176"/>
            <a:ext cx="11057839" cy="841248"/>
          </a:xfrm>
          <a:prstGeom prst="roundRect">
            <a:avLst>
              <a:gd name="adj" fmla="val 3804"/>
            </a:avLst>
          </a:prstGeom>
          <a:solidFill>
            <a:srgbClr val="F1F5F7"/>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10" name="Text 7"/>
          <p:cNvSpPr/>
          <p:nvPr/>
        </p:nvSpPr>
        <p:spPr>
          <a:xfrm>
            <a:off x="841248" y="1481328"/>
            <a:ext cx="2194560" cy="201168"/>
          </a:xfrm>
          <a:prstGeom prst="rect">
            <a:avLst/>
          </a:prstGeom>
          <a:noFill/>
          <a:ln/>
        </p:spPr>
        <p:txBody>
          <a:bodyPr wrap="square" lIns="0" tIns="0" rIns="0" bIns="0" rtlCol="0" anchor="ctr"/>
          <a:lstStyle/>
          <a:p>
            <a:pPr indent="0" marL="0">
              <a:buNone/>
            </a:pPr>
            <a:r>
              <a:rPr lang="en-US" sz="900" b="1" spc="120" kern="0" dirty="0">
                <a:solidFill>
                  <a:srgbClr val="1F5468"/>
                </a:solidFill>
                <a:latin typeface="Courier New" pitchFamily="34" charset="0"/>
                <a:ea typeface="Courier New" pitchFamily="34" charset="-122"/>
                <a:cs typeface="Courier New" pitchFamily="34" charset="-120"/>
              </a:rPr>
              <a:t>NIVEAU MACRO</a:t>
            </a:r>
            <a:endParaRPr lang="en-US" sz="900" dirty="0"/>
          </a:p>
        </p:txBody>
      </p:sp>
      <p:sp>
        <p:nvSpPr>
          <p:cNvPr id="11" name="Text 8"/>
          <p:cNvSpPr/>
          <p:nvPr/>
        </p:nvSpPr>
        <p:spPr>
          <a:xfrm>
            <a:off x="841248" y="1682496"/>
            <a:ext cx="4754880" cy="256032"/>
          </a:xfrm>
          <a:prstGeom prst="rect">
            <a:avLst/>
          </a:prstGeom>
          <a:noFill/>
          <a:ln/>
        </p:spPr>
        <p:txBody>
          <a:bodyPr wrap="square" lIns="0" tIns="0" rIns="0" bIns="0" rtlCol="0" anchor="ctr"/>
          <a:lstStyle/>
          <a:p>
            <a:pPr indent="0" marL="0">
              <a:buNone/>
            </a:pPr>
            <a:r>
              <a:rPr lang="en-US" sz="1500" b="1" dirty="0">
                <a:solidFill>
                  <a:srgbClr val="0E1D28"/>
                </a:solidFill>
                <a:latin typeface="Calibri" pitchFamily="34" charset="0"/>
                <a:ea typeface="Calibri" pitchFamily="34" charset="-122"/>
                <a:cs typeface="Calibri" pitchFamily="34" charset="-120"/>
              </a:rPr>
              <a:t>Rétroplanning et diagramme de Gantt</a:t>
            </a:r>
            <a:endParaRPr lang="en-US" sz="1500" dirty="0"/>
          </a:p>
        </p:txBody>
      </p:sp>
      <p:sp>
        <p:nvSpPr>
          <p:cNvPr id="12" name="Text 9"/>
          <p:cNvSpPr/>
          <p:nvPr/>
        </p:nvSpPr>
        <p:spPr>
          <a:xfrm>
            <a:off x="841248" y="1920240"/>
            <a:ext cx="4937760" cy="237744"/>
          </a:xfrm>
          <a:prstGeom prst="rect">
            <a:avLst/>
          </a:prstGeom>
          <a:noFill/>
          <a:ln/>
        </p:spPr>
        <p:txBody>
          <a:bodyPr wrap="square" lIns="0" tIns="0" rIns="0" bIns="0" rtlCol="0" anchor="ctr"/>
          <a:lstStyle/>
          <a:p>
            <a:pPr indent="0" marL="0">
              <a:buNone/>
            </a:pPr>
            <a:r>
              <a:rPr lang="en-US" sz="1200" dirty="0">
                <a:solidFill>
                  <a:srgbClr val="17303F"/>
                </a:solidFill>
                <a:latin typeface="Calibri" pitchFamily="34" charset="0"/>
                <a:ea typeface="Calibri" pitchFamily="34" charset="-122"/>
                <a:cs typeface="Calibri" pitchFamily="34" charset="-120"/>
              </a:rPr>
              <a:t>Jalons, lots, dépendances, chemin critique.</a:t>
            </a:r>
            <a:endParaRPr lang="en-US" sz="1200" dirty="0"/>
          </a:p>
        </p:txBody>
      </p:sp>
      <p:sp>
        <p:nvSpPr>
          <p:cNvPr id="13" name="Shape 10"/>
          <p:cNvSpPr/>
          <p:nvPr/>
        </p:nvSpPr>
        <p:spPr>
          <a:xfrm>
            <a:off x="6144768" y="1481328"/>
            <a:ext cx="0" cy="658368"/>
          </a:xfrm>
          <a:prstGeom prst="line">
            <a:avLst/>
          </a:prstGeom>
          <a:noFill/>
          <a:ln w="12700">
            <a:solidFill>
              <a:srgbClr val="D5DFE5"/>
            </a:solidFill>
            <a:prstDash val="solid"/>
          </a:ln>
        </p:spPr>
      </p:sp>
      <p:sp>
        <p:nvSpPr>
          <p:cNvPr id="14" name="Text 11"/>
          <p:cNvSpPr/>
          <p:nvPr/>
        </p:nvSpPr>
        <p:spPr>
          <a:xfrm>
            <a:off x="6419088" y="1481328"/>
            <a:ext cx="2194560" cy="201168"/>
          </a:xfrm>
          <a:prstGeom prst="rect">
            <a:avLst/>
          </a:prstGeom>
          <a:noFill/>
          <a:ln/>
        </p:spPr>
        <p:txBody>
          <a:bodyPr wrap="square" lIns="0" tIns="0" rIns="0" bIns="0" rtlCol="0" anchor="ctr"/>
          <a:lstStyle/>
          <a:p>
            <a:pPr indent="0" marL="0">
              <a:buNone/>
            </a:pPr>
            <a:r>
              <a:rPr lang="en-US" sz="900" b="1" spc="120" kern="0" dirty="0">
                <a:solidFill>
                  <a:srgbClr val="1F5468"/>
                </a:solidFill>
                <a:latin typeface="Courier New" pitchFamily="34" charset="0"/>
                <a:ea typeface="Courier New" pitchFamily="34" charset="-122"/>
                <a:cs typeface="Courier New" pitchFamily="34" charset="-120"/>
              </a:rPr>
              <a:t>NIVEAU MICRO</a:t>
            </a:r>
            <a:endParaRPr lang="en-US" sz="900" dirty="0"/>
          </a:p>
        </p:txBody>
      </p:sp>
      <p:sp>
        <p:nvSpPr>
          <p:cNvPr id="15" name="Text 12"/>
          <p:cNvSpPr/>
          <p:nvPr/>
        </p:nvSpPr>
        <p:spPr>
          <a:xfrm>
            <a:off x="6419088" y="1682496"/>
            <a:ext cx="4754880" cy="256032"/>
          </a:xfrm>
          <a:prstGeom prst="rect">
            <a:avLst/>
          </a:prstGeom>
          <a:noFill/>
          <a:ln/>
        </p:spPr>
        <p:txBody>
          <a:bodyPr wrap="square" lIns="0" tIns="0" rIns="0" bIns="0" rtlCol="0" anchor="ctr"/>
          <a:lstStyle/>
          <a:p>
            <a:pPr indent="0" marL="0">
              <a:buNone/>
            </a:pPr>
            <a:r>
              <a:rPr lang="en-US" sz="1500" b="1" dirty="0">
                <a:solidFill>
                  <a:srgbClr val="0E1D28"/>
                </a:solidFill>
                <a:latin typeface="Calibri" pitchFamily="34" charset="0"/>
                <a:ea typeface="Calibri" pitchFamily="34" charset="-122"/>
                <a:cs typeface="Calibri" pitchFamily="34" charset="-120"/>
              </a:rPr>
              <a:t>Backlog de tickets et sprints</a:t>
            </a:r>
            <a:endParaRPr lang="en-US" sz="1500" dirty="0"/>
          </a:p>
        </p:txBody>
      </p:sp>
      <p:sp>
        <p:nvSpPr>
          <p:cNvPr id="16" name="Text 13"/>
          <p:cNvSpPr/>
          <p:nvPr/>
        </p:nvSpPr>
        <p:spPr>
          <a:xfrm>
            <a:off x="6419088" y="1920240"/>
            <a:ext cx="4846320" cy="237744"/>
          </a:xfrm>
          <a:prstGeom prst="rect">
            <a:avLst/>
          </a:prstGeom>
          <a:noFill/>
          <a:ln/>
        </p:spPr>
        <p:txBody>
          <a:bodyPr wrap="square" lIns="0" tIns="0" rIns="0" bIns="0" rtlCol="0" anchor="ctr"/>
          <a:lstStyle/>
          <a:p>
            <a:pPr indent="0" marL="0">
              <a:buNone/>
            </a:pPr>
            <a:r>
              <a:rPr lang="en-US" sz="1200" dirty="0">
                <a:solidFill>
                  <a:srgbClr val="17303F"/>
                </a:solidFill>
                <a:latin typeface="Calibri" pitchFamily="34" charset="0"/>
                <a:ea typeface="Calibri" pitchFamily="34" charset="-122"/>
                <a:cs typeface="Calibri" pitchFamily="34" charset="-120"/>
              </a:rPr>
              <a:t>Tickets estimés, rattachés à un lot, suivis par statut.</a:t>
            </a:r>
            <a:endParaRPr lang="en-US" sz="1200" dirty="0"/>
          </a:p>
        </p:txBody>
      </p:sp>
      <p:sp>
        <p:nvSpPr>
          <p:cNvPr id="17" name="Text 14"/>
          <p:cNvSpPr/>
          <p:nvPr/>
        </p:nvSpPr>
        <p:spPr>
          <a:xfrm>
            <a:off x="2895448" y="2322576"/>
            <a:ext cx="6400800" cy="219456"/>
          </a:xfrm>
          <a:prstGeom prst="rect">
            <a:avLst/>
          </a:prstGeom>
          <a:noFill/>
          <a:ln/>
        </p:spPr>
        <p:txBody>
          <a:bodyPr wrap="square" lIns="0" tIns="0" rIns="0" bIns="0" rtlCol="0" anchor="ctr"/>
          <a:lstStyle/>
          <a:p>
            <a:pPr indent="0" marL="0">
              <a:buNone/>
            </a:pPr>
            <a:r>
              <a:rPr lang="en-US" sz="900" b="1" spc="120" kern="0" dirty="0">
                <a:solidFill>
                  <a:srgbClr val="1F5468"/>
                </a:solidFill>
                <a:latin typeface="Courier New" pitchFamily="34" charset="0"/>
                <a:ea typeface="Courier New" pitchFamily="34" charset="-122"/>
                <a:cs typeface="Courier New" pitchFamily="34" charset="-120"/>
              </a:rPr>
              <a:t>MACRO — LA CHRONOLOGIE : LES 7 LOTS DATÉS ET ORDONNANCÉS</a:t>
            </a:r>
            <a:endParaRPr lang="en-US" sz="900" dirty="0"/>
          </a:p>
        </p:txBody>
      </p:sp>
      <p:sp>
        <p:nvSpPr>
          <p:cNvPr id="18" name="Shape 15"/>
          <p:cNvSpPr/>
          <p:nvPr/>
        </p:nvSpPr>
        <p:spPr>
          <a:xfrm>
            <a:off x="2849728" y="2551176"/>
            <a:ext cx="6492240" cy="2268352"/>
          </a:xfrm>
          <a:prstGeom prst="rect">
            <a:avLst/>
          </a:prstGeom>
          <a:solidFill>
            <a:srgbClr val="E6EDF1"/>
          </a:solidFill>
          <a:ln w="9525">
            <a:solidFill>
              <a:srgbClr val="D5DFE5"/>
            </a:solidFill>
            <a:prstDash val="solid"/>
          </a:ln>
          <a:effectLst>
            <a:outerShdw sx="100000" sy="100000" kx="0" ky="0" algn="bl" rotWithShape="0" blurRad="177800" dist="38100" dir="5400000">
              <a:srgbClr val="0E1D28">
                <a:alpha val="10000"/>
              </a:srgbClr>
            </a:outerShdw>
          </a:effectLst>
        </p:spPr>
      </p:sp>
      <p:pic>
        <p:nvPicPr>
          <p:cNvPr id="19" name="Image 0" descr="/home/claude/shots/E-gantt.png">    </p:cNvPr>
          <p:cNvPicPr>
            <a:picLocks noChangeAspect="1"/>
          </p:cNvPicPr>
          <p:nvPr/>
        </p:nvPicPr>
        <p:blipFill>
          <a:blip r:embed="rId1"/>
          <a:stretch>
            <a:fillRect/>
          </a:stretch>
        </p:blipFill>
        <p:spPr>
          <a:xfrm>
            <a:off x="2895448" y="2596896"/>
            <a:ext cx="6400800" cy="2176912"/>
          </a:xfrm>
          <a:prstGeom prst="rect">
            <a:avLst/>
          </a:prstGeom>
        </p:spPr>
      </p:pic>
      <p:sp>
        <p:nvSpPr>
          <p:cNvPr id="20" name="Text 16"/>
          <p:cNvSpPr/>
          <p:nvPr/>
        </p:nvSpPr>
        <p:spPr>
          <a:xfrm>
            <a:off x="2895448" y="4773168"/>
            <a:ext cx="6400800" cy="219456"/>
          </a:xfrm>
          <a:prstGeom prst="rect">
            <a:avLst/>
          </a:prstGeom>
          <a:noFill/>
          <a:ln/>
        </p:spPr>
        <p:txBody>
          <a:bodyPr wrap="square" lIns="0" tIns="0" rIns="0" bIns="0" rtlCol="0" anchor="ctr"/>
          <a:lstStyle/>
          <a:p>
            <a:pPr indent="0" marL="0">
              <a:buNone/>
            </a:pPr>
            <a:r>
              <a:rPr lang="en-US" sz="900" b="1" spc="120" kern="0" dirty="0">
                <a:solidFill>
                  <a:srgbClr val="1F5468"/>
                </a:solidFill>
                <a:latin typeface="Courier New" pitchFamily="34" charset="0"/>
                <a:ea typeface="Courier New" pitchFamily="34" charset="-122"/>
                <a:cs typeface="Courier New" pitchFamily="34" charset="-120"/>
              </a:rPr>
              <a:t>MICRO — LE BACKLOG : CHAQUE TICKET PORTE SON LOT ET SON ESTIMATION</a:t>
            </a:r>
            <a:endParaRPr lang="en-US" sz="900" dirty="0"/>
          </a:p>
        </p:txBody>
      </p:sp>
      <p:sp>
        <p:nvSpPr>
          <p:cNvPr id="21" name="Shape 17"/>
          <p:cNvSpPr/>
          <p:nvPr/>
        </p:nvSpPr>
        <p:spPr>
          <a:xfrm>
            <a:off x="2849728" y="5001768"/>
            <a:ext cx="6492240" cy="1395283"/>
          </a:xfrm>
          <a:prstGeom prst="rect">
            <a:avLst/>
          </a:prstGeom>
          <a:solidFill>
            <a:srgbClr val="E6EDF1"/>
          </a:solidFill>
          <a:ln w="9525">
            <a:solidFill>
              <a:srgbClr val="D5DFE5"/>
            </a:solidFill>
            <a:prstDash val="solid"/>
          </a:ln>
          <a:effectLst>
            <a:outerShdw sx="100000" sy="100000" kx="0" ky="0" algn="bl" rotWithShape="0" blurRad="177800" dist="38100" dir="5400000">
              <a:srgbClr val="0E1D28">
                <a:alpha val="10000"/>
              </a:srgbClr>
            </a:outerShdw>
          </a:effectLst>
        </p:spPr>
      </p:sp>
      <p:pic>
        <p:nvPicPr>
          <p:cNvPr id="22" name="Image 1" descr="/home/claude/shots/B-backlog-epics.png">    </p:cNvPr>
          <p:cNvPicPr>
            <a:picLocks noChangeAspect="1"/>
          </p:cNvPicPr>
          <p:nvPr/>
        </p:nvPicPr>
        <p:blipFill>
          <a:blip r:embed="rId2"/>
          <a:stretch>
            <a:fillRect/>
          </a:stretch>
        </p:blipFill>
        <p:spPr>
          <a:xfrm>
            <a:off x="2895448" y="5047488"/>
            <a:ext cx="6400800" cy="1303843"/>
          </a:xfrm>
          <a:prstGeom prst="rect">
            <a:avLst/>
          </a:prstGeom>
        </p:spPr>
      </p:pic>
      <p:sp>
        <p:nvSpPr>
          <p:cNvPr id="23" name="Text 18"/>
          <p:cNvSpPr/>
          <p:nvPr/>
        </p:nvSpPr>
        <p:spPr>
          <a:xfrm>
            <a:off x="10984687" y="6419088"/>
            <a:ext cx="640080" cy="256032"/>
          </a:xfrm>
          <a:prstGeom prst="rect">
            <a:avLst/>
          </a:prstGeom>
          <a:noFill/>
          <a:ln/>
        </p:spPr>
        <p:txBody>
          <a:bodyPr wrap="square" lIns="0" tIns="0" rIns="0" bIns="0" rtlCol="0" anchor="ctr"/>
          <a:lstStyle/>
          <a:p>
            <a:pPr algn="r" indent="0" marL="0">
              <a:buNone/>
            </a:pPr>
            <a:r>
              <a:rPr lang="en-US" sz="1000" dirty="0">
                <a:solidFill>
                  <a:srgbClr val="9FB2BD"/>
                </a:solidFill>
                <a:latin typeface="Courier New" pitchFamily="34" charset="0"/>
                <a:ea typeface="Courier New" pitchFamily="34" charset="-122"/>
                <a:cs typeface="Courier New"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66928" y="384048"/>
            <a:ext cx="7740487" cy="219456"/>
          </a:xfrm>
          <a:prstGeom prst="rect">
            <a:avLst/>
          </a:prstGeom>
          <a:noFill/>
          <a:ln/>
        </p:spPr>
        <p:txBody>
          <a:bodyPr wrap="square" lIns="0" tIns="0" rIns="0" bIns="0" rtlCol="0" anchor="ctr"/>
          <a:lstStyle/>
          <a:p>
            <a:pPr indent="0" marL="0">
              <a:buNone/>
            </a:pPr>
            <a:r>
              <a:rPr lang="en-US" sz="1050" b="1" spc="160" kern="0" dirty="0">
                <a:solidFill>
                  <a:srgbClr val="1F5468"/>
                </a:solidFill>
                <a:latin typeface="Courier New" pitchFamily="34" charset="0"/>
                <a:ea typeface="Courier New" pitchFamily="34" charset="-122"/>
                <a:cs typeface="Courier New" pitchFamily="34" charset="-120"/>
              </a:rPr>
              <a:t>PARTIE 1 · PLANIFIER</a:t>
            </a:r>
            <a:endParaRPr lang="en-US" sz="1050" dirty="0"/>
          </a:p>
        </p:txBody>
      </p:sp>
      <p:sp>
        <p:nvSpPr>
          <p:cNvPr id="4" name="Text 1"/>
          <p:cNvSpPr/>
          <p:nvPr/>
        </p:nvSpPr>
        <p:spPr>
          <a:xfrm>
            <a:off x="566928" y="621792"/>
            <a:ext cx="8403958" cy="731520"/>
          </a:xfrm>
          <a:prstGeom prst="rect">
            <a:avLst/>
          </a:prstGeom>
          <a:noFill/>
          <a:ln/>
        </p:spPr>
        <p:txBody>
          <a:bodyPr wrap="square" lIns="0" tIns="0" rIns="0" bIns="0" rtlCol="0" anchor="t"/>
          <a:lstStyle/>
          <a:p>
            <a:pPr indent="0" marL="0">
              <a:buNone/>
            </a:pPr>
            <a:r>
              <a:rPr lang="en-US" sz="2900" b="1" dirty="0">
                <a:solidFill>
                  <a:srgbClr val="0E1D28"/>
                </a:solidFill>
                <a:latin typeface="Cambria" pitchFamily="34" charset="0"/>
                <a:ea typeface="Cambria" pitchFamily="34" charset="-122"/>
                <a:cs typeface="Cambria" pitchFamily="34" charset="-120"/>
              </a:rPr>
              <a:t>Le planning découpé en phases et en jalons</a:t>
            </a:r>
            <a:endParaRPr lang="en-US" sz="2900" dirty="0"/>
          </a:p>
        </p:txBody>
      </p:sp>
      <p:sp>
        <p:nvSpPr>
          <p:cNvPr id="5" name="Shape 2"/>
          <p:cNvSpPr/>
          <p:nvPr/>
        </p:nvSpPr>
        <p:spPr>
          <a:xfrm>
            <a:off x="10801807" y="384048"/>
            <a:ext cx="822960" cy="310896"/>
          </a:xfrm>
          <a:prstGeom prst="roundRect">
            <a:avLst>
              <a:gd name="adj" fmla="val 17647"/>
            </a:avLst>
          </a:prstGeom>
          <a:solidFill>
            <a:srgbClr val="AE3F2C"/>
          </a:solidFill>
          <a:ln w="9525">
            <a:solidFill>
              <a:srgbClr val="AE3F2C"/>
            </a:solidFill>
            <a:prstDash val="solid"/>
          </a:ln>
        </p:spPr>
      </p:sp>
      <p:sp>
        <p:nvSpPr>
          <p:cNvPr id="6" name="Text 3"/>
          <p:cNvSpPr/>
          <p:nvPr/>
        </p:nvSpPr>
        <p:spPr>
          <a:xfrm>
            <a:off x="10801807" y="384048"/>
            <a:ext cx="82296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C3.1</a:t>
            </a:r>
            <a:endParaRPr lang="en-US" sz="1000" dirty="0"/>
          </a:p>
        </p:txBody>
      </p:sp>
      <p:sp>
        <p:nvSpPr>
          <p:cNvPr id="7" name="Shape 4"/>
          <p:cNvSpPr/>
          <p:nvPr/>
        </p:nvSpPr>
        <p:spPr>
          <a:xfrm>
            <a:off x="566928" y="1645920"/>
            <a:ext cx="2094525" cy="2532140"/>
          </a:xfrm>
          <a:prstGeom prst="roundRect">
            <a:avLst>
              <a:gd name="adj" fmla="val 1528"/>
            </a:avLst>
          </a:prstGeom>
          <a:solidFill>
            <a:srgbClr val="F1F5F7"/>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8" name="Text 5"/>
          <p:cNvSpPr/>
          <p:nvPr/>
        </p:nvSpPr>
        <p:spPr>
          <a:xfrm>
            <a:off x="749808" y="1765080"/>
            <a:ext cx="1728765" cy="297899"/>
          </a:xfrm>
          <a:prstGeom prst="rect">
            <a:avLst/>
          </a:prstGeom>
          <a:noFill/>
          <a:ln/>
        </p:spPr>
        <p:txBody>
          <a:bodyPr wrap="square" lIns="0" tIns="0" rIns="0" bIns="0" rtlCol="0" anchor="ctr"/>
          <a:lstStyle/>
          <a:p>
            <a:pPr indent="0" marL="0">
              <a:buNone/>
            </a:pPr>
            <a:r>
              <a:rPr lang="en-US" sz="1100" b="1" dirty="0">
                <a:solidFill>
                  <a:srgbClr val="5B6E7B"/>
                </a:solidFill>
                <a:latin typeface="Courier New" pitchFamily="34" charset="0"/>
                <a:ea typeface="Courier New" pitchFamily="34" charset="-122"/>
                <a:cs typeface="Courier New" pitchFamily="34" charset="-120"/>
              </a:rPr>
              <a:t>01</a:t>
            </a:r>
            <a:endParaRPr lang="en-US" sz="1100" dirty="0"/>
          </a:p>
        </p:txBody>
      </p:sp>
      <p:sp>
        <p:nvSpPr>
          <p:cNvPr id="9" name="Text 6"/>
          <p:cNvSpPr/>
          <p:nvPr/>
        </p:nvSpPr>
        <p:spPr>
          <a:xfrm>
            <a:off x="749808" y="2062978"/>
            <a:ext cx="1728765" cy="377339"/>
          </a:xfrm>
          <a:prstGeom prst="rect">
            <a:avLst/>
          </a:prstGeom>
          <a:noFill/>
          <a:ln/>
        </p:spPr>
        <p:txBody>
          <a:bodyPr wrap="square" lIns="0" tIns="0" rIns="0" bIns="0" rtlCol="0" anchor="ctr"/>
          <a:lstStyle/>
          <a:p>
            <a:pPr indent="0" marL="0">
              <a:buNone/>
            </a:pPr>
            <a:r>
              <a:rPr lang="en-US" sz="1700" b="1" dirty="0">
                <a:solidFill>
                  <a:srgbClr val="0E1D28"/>
                </a:solidFill>
                <a:latin typeface="Calibri" pitchFamily="34" charset="0"/>
                <a:ea typeface="Calibri" pitchFamily="34" charset="-122"/>
                <a:cs typeface="Calibri" pitchFamily="34" charset="-120"/>
              </a:rPr>
              <a:t>Étude</a:t>
            </a:r>
            <a:endParaRPr lang="en-US" sz="1700" dirty="0"/>
          </a:p>
        </p:txBody>
      </p:sp>
      <p:sp>
        <p:nvSpPr>
          <p:cNvPr id="10" name="Text 7"/>
          <p:cNvSpPr/>
          <p:nvPr/>
        </p:nvSpPr>
        <p:spPr>
          <a:xfrm>
            <a:off x="749808" y="2499897"/>
            <a:ext cx="1728765" cy="1171736"/>
          </a:xfrm>
          <a:prstGeom prst="rect">
            <a:avLst/>
          </a:prstGeom>
          <a:noFill/>
          <a:ln/>
        </p:spPr>
        <p:txBody>
          <a:bodyPr wrap="square" lIns="0" tIns="0" rIns="0" bIns="0" rtlCol="0" anchor="t"/>
          <a:lstStyle/>
          <a:p>
            <a:pPr indent="0" marL="0">
              <a:buNone/>
            </a:pPr>
            <a:r>
              <a:rPr lang="en-US" sz="1250" dirty="0">
                <a:solidFill>
                  <a:srgbClr val="17303F"/>
                </a:solidFill>
                <a:latin typeface="Calibri" pitchFamily="34" charset="0"/>
                <a:ea typeface="Calibri" pitchFamily="34" charset="-122"/>
                <a:cs typeface="Calibri" pitchFamily="34" charset="-120"/>
              </a:rPr>
              <a:t>Cadrage, veille technologique</a:t>
            </a:r>
            <a:endParaRPr lang="en-US" sz="1250" dirty="0"/>
          </a:p>
          <a:p>
            <a:pPr indent="0" marL="0">
              <a:buNone/>
            </a:pPr>
            <a:r>
              <a:rPr lang="en-US" sz="1250" dirty="0">
                <a:solidFill>
                  <a:srgbClr val="17303F"/>
                </a:solidFill>
                <a:latin typeface="Calibri" pitchFamily="34" charset="0"/>
                <a:ea typeface="Calibri" pitchFamily="34" charset="-122"/>
                <a:cs typeface="Calibri" pitchFamily="34" charset="-120"/>
              </a:rPr>
              <a:t>et réglementaire, analyse des risques</a:t>
            </a:r>
            <a:endParaRPr lang="en-US" sz="1250" dirty="0"/>
          </a:p>
        </p:txBody>
      </p:sp>
      <p:sp>
        <p:nvSpPr>
          <p:cNvPr id="11" name="Text 8"/>
          <p:cNvSpPr/>
          <p:nvPr/>
        </p:nvSpPr>
        <p:spPr>
          <a:xfrm>
            <a:off x="749808" y="3770932"/>
            <a:ext cx="1728765" cy="297899"/>
          </a:xfrm>
          <a:prstGeom prst="rect">
            <a:avLst/>
          </a:prstGeom>
          <a:noFill/>
          <a:ln/>
        </p:spPr>
        <p:txBody>
          <a:bodyPr wrap="square" lIns="0" tIns="0" rIns="0" bIns="0" rtlCol="0" anchor="ctr"/>
          <a:lstStyle/>
          <a:p>
            <a:pPr indent="0" marL="0">
              <a:buNone/>
            </a:pPr>
            <a:r>
              <a:rPr lang="en-US" sz="1150" b="1" dirty="0">
                <a:solidFill>
                  <a:srgbClr val="1F5468"/>
                </a:solidFill>
                <a:latin typeface="Courier New" pitchFamily="34" charset="0"/>
                <a:ea typeface="Courier New" pitchFamily="34" charset="-122"/>
                <a:cs typeface="Courier New" pitchFamily="34" charset="-120"/>
              </a:rPr>
              <a:t>S1–S2</a:t>
            </a:r>
            <a:endParaRPr lang="en-US" sz="1150" dirty="0"/>
          </a:p>
        </p:txBody>
      </p:sp>
      <p:sp>
        <p:nvSpPr>
          <p:cNvPr id="12" name="Shape 9"/>
          <p:cNvSpPr/>
          <p:nvPr/>
        </p:nvSpPr>
        <p:spPr>
          <a:xfrm>
            <a:off x="2807757" y="1645920"/>
            <a:ext cx="2094525" cy="2532140"/>
          </a:xfrm>
          <a:prstGeom prst="roundRect">
            <a:avLst>
              <a:gd name="adj" fmla="val 1528"/>
            </a:avLst>
          </a:prstGeom>
          <a:solidFill>
            <a:srgbClr val="F1F5F7"/>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13" name="Text 10"/>
          <p:cNvSpPr/>
          <p:nvPr/>
        </p:nvSpPr>
        <p:spPr>
          <a:xfrm>
            <a:off x="2990637" y="1765080"/>
            <a:ext cx="1728765" cy="297899"/>
          </a:xfrm>
          <a:prstGeom prst="rect">
            <a:avLst/>
          </a:prstGeom>
          <a:noFill/>
          <a:ln/>
        </p:spPr>
        <p:txBody>
          <a:bodyPr wrap="square" lIns="0" tIns="0" rIns="0" bIns="0" rtlCol="0" anchor="ctr"/>
          <a:lstStyle/>
          <a:p>
            <a:pPr indent="0" marL="0">
              <a:buNone/>
            </a:pPr>
            <a:r>
              <a:rPr lang="en-US" sz="1100" b="1" dirty="0">
                <a:solidFill>
                  <a:srgbClr val="5B6E7B"/>
                </a:solidFill>
                <a:latin typeface="Courier New" pitchFamily="34" charset="0"/>
                <a:ea typeface="Courier New" pitchFamily="34" charset="-122"/>
                <a:cs typeface="Courier New" pitchFamily="34" charset="-120"/>
              </a:rPr>
              <a:t>02</a:t>
            </a:r>
            <a:endParaRPr lang="en-US" sz="1100" dirty="0"/>
          </a:p>
        </p:txBody>
      </p:sp>
      <p:sp>
        <p:nvSpPr>
          <p:cNvPr id="14" name="Text 11"/>
          <p:cNvSpPr/>
          <p:nvPr/>
        </p:nvSpPr>
        <p:spPr>
          <a:xfrm>
            <a:off x="2990637" y="2062978"/>
            <a:ext cx="1728765" cy="377339"/>
          </a:xfrm>
          <a:prstGeom prst="rect">
            <a:avLst/>
          </a:prstGeom>
          <a:noFill/>
          <a:ln/>
        </p:spPr>
        <p:txBody>
          <a:bodyPr wrap="square" lIns="0" tIns="0" rIns="0" bIns="0" rtlCol="0" anchor="ctr"/>
          <a:lstStyle/>
          <a:p>
            <a:pPr indent="0" marL="0">
              <a:buNone/>
            </a:pPr>
            <a:r>
              <a:rPr lang="en-US" sz="1700" b="1" dirty="0">
                <a:solidFill>
                  <a:srgbClr val="0E1D28"/>
                </a:solidFill>
                <a:latin typeface="Calibri" pitchFamily="34" charset="0"/>
                <a:ea typeface="Calibri" pitchFamily="34" charset="-122"/>
                <a:cs typeface="Calibri" pitchFamily="34" charset="-120"/>
              </a:rPr>
              <a:t>Mesure</a:t>
            </a:r>
            <a:endParaRPr lang="en-US" sz="1700" dirty="0"/>
          </a:p>
        </p:txBody>
      </p:sp>
      <p:sp>
        <p:nvSpPr>
          <p:cNvPr id="15" name="Text 12"/>
          <p:cNvSpPr/>
          <p:nvPr/>
        </p:nvSpPr>
        <p:spPr>
          <a:xfrm>
            <a:off x="2990637" y="2499897"/>
            <a:ext cx="1728765" cy="1171736"/>
          </a:xfrm>
          <a:prstGeom prst="rect">
            <a:avLst/>
          </a:prstGeom>
          <a:noFill/>
          <a:ln/>
        </p:spPr>
        <p:txBody>
          <a:bodyPr wrap="square" lIns="0" tIns="0" rIns="0" bIns="0" rtlCol="0" anchor="t"/>
          <a:lstStyle/>
          <a:p>
            <a:pPr indent="0" marL="0">
              <a:buNone/>
            </a:pPr>
            <a:r>
              <a:rPr lang="en-US" sz="1250" dirty="0">
                <a:solidFill>
                  <a:srgbClr val="17303F"/>
                </a:solidFill>
                <a:latin typeface="Calibri" pitchFamily="34" charset="0"/>
                <a:ea typeface="Calibri" pitchFamily="34" charset="-122"/>
                <a:cs typeface="Calibri" pitchFamily="34" charset="-120"/>
              </a:rPr>
              <a:t>Diagnostic de l'existant, benchmarks,</a:t>
            </a:r>
            <a:endParaRPr lang="en-US" sz="1250" dirty="0"/>
          </a:p>
          <a:p>
            <a:pPr indent="0" marL="0">
              <a:buNone/>
            </a:pPr>
            <a:r>
              <a:rPr lang="en-US" sz="1250" dirty="0">
                <a:solidFill>
                  <a:srgbClr val="17303F"/>
                </a:solidFill>
                <a:latin typeface="Calibri" pitchFamily="34" charset="0"/>
                <a:ea typeface="Calibri" pitchFamily="34" charset="-122"/>
                <a:cs typeface="Calibri" pitchFamily="34" charset="-120"/>
              </a:rPr>
              <a:t>chiffrage de la charge</a:t>
            </a:r>
            <a:endParaRPr lang="en-US" sz="1250" dirty="0"/>
          </a:p>
        </p:txBody>
      </p:sp>
      <p:sp>
        <p:nvSpPr>
          <p:cNvPr id="16" name="Text 13"/>
          <p:cNvSpPr/>
          <p:nvPr/>
        </p:nvSpPr>
        <p:spPr>
          <a:xfrm>
            <a:off x="2990637" y="3770932"/>
            <a:ext cx="1728765" cy="297899"/>
          </a:xfrm>
          <a:prstGeom prst="rect">
            <a:avLst/>
          </a:prstGeom>
          <a:noFill/>
          <a:ln/>
        </p:spPr>
        <p:txBody>
          <a:bodyPr wrap="square" lIns="0" tIns="0" rIns="0" bIns="0" rtlCol="0" anchor="ctr"/>
          <a:lstStyle/>
          <a:p>
            <a:pPr indent="0" marL="0">
              <a:buNone/>
            </a:pPr>
            <a:r>
              <a:rPr lang="en-US" sz="1150" b="1" dirty="0">
                <a:solidFill>
                  <a:srgbClr val="1F5468"/>
                </a:solidFill>
                <a:latin typeface="Courier New" pitchFamily="34" charset="0"/>
                <a:ea typeface="Courier New" pitchFamily="34" charset="-122"/>
                <a:cs typeface="Courier New" pitchFamily="34" charset="-120"/>
              </a:rPr>
              <a:t>S3–S4</a:t>
            </a:r>
            <a:endParaRPr lang="en-US" sz="1150" dirty="0"/>
          </a:p>
        </p:txBody>
      </p:sp>
      <p:sp>
        <p:nvSpPr>
          <p:cNvPr id="17" name="Shape 14"/>
          <p:cNvSpPr/>
          <p:nvPr/>
        </p:nvSpPr>
        <p:spPr>
          <a:xfrm>
            <a:off x="5048585" y="1645920"/>
            <a:ext cx="2094525" cy="2532140"/>
          </a:xfrm>
          <a:prstGeom prst="roundRect">
            <a:avLst>
              <a:gd name="adj" fmla="val 1528"/>
            </a:avLst>
          </a:prstGeom>
          <a:solidFill>
            <a:srgbClr val="F1F5F7"/>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18" name="Text 15"/>
          <p:cNvSpPr/>
          <p:nvPr/>
        </p:nvSpPr>
        <p:spPr>
          <a:xfrm>
            <a:off x="5231465" y="1765080"/>
            <a:ext cx="1728765" cy="297899"/>
          </a:xfrm>
          <a:prstGeom prst="rect">
            <a:avLst/>
          </a:prstGeom>
          <a:noFill/>
          <a:ln/>
        </p:spPr>
        <p:txBody>
          <a:bodyPr wrap="square" lIns="0" tIns="0" rIns="0" bIns="0" rtlCol="0" anchor="ctr"/>
          <a:lstStyle/>
          <a:p>
            <a:pPr indent="0" marL="0">
              <a:buNone/>
            </a:pPr>
            <a:r>
              <a:rPr lang="en-US" sz="1100" b="1" dirty="0">
                <a:solidFill>
                  <a:srgbClr val="5B6E7B"/>
                </a:solidFill>
                <a:latin typeface="Courier New" pitchFamily="34" charset="0"/>
                <a:ea typeface="Courier New" pitchFamily="34" charset="-122"/>
                <a:cs typeface="Courier New" pitchFamily="34" charset="-120"/>
              </a:rPr>
              <a:t>03</a:t>
            </a:r>
            <a:endParaRPr lang="en-US" sz="1100" dirty="0"/>
          </a:p>
        </p:txBody>
      </p:sp>
      <p:sp>
        <p:nvSpPr>
          <p:cNvPr id="19" name="Text 16"/>
          <p:cNvSpPr/>
          <p:nvPr/>
        </p:nvSpPr>
        <p:spPr>
          <a:xfrm>
            <a:off x="5231465" y="2062978"/>
            <a:ext cx="1728765" cy="377339"/>
          </a:xfrm>
          <a:prstGeom prst="rect">
            <a:avLst/>
          </a:prstGeom>
          <a:noFill/>
          <a:ln/>
        </p:spPr>
        <p:txBody>
          <a:bodyPr wrap="square" lIns="0" tIns="0" rIns="0" bIns="0" rtlCol="0" anchor="ctr"/>
          <a:lstStyle/>
          <a:p>
            <a:pPr indent="0" marL="0">
              <a:buNone/>
            </a:pPr>
            <a:r>
              <a:rPr lang="en-US" sz="1700" b="1" dirty="0">
                <a:solidFill>
                  <a:srgbClr val="0E1D28"/>
                </a:solidFill>
                <a:latin typeface="Calibri" pitchFamily="34" charset="0"/>
                <a:ea typeface="Calibri" pitchFamily="34" charset="-122"/>
                <a:cs typeface="Calibri" pitchFamily="34" charset="-120"/>
              </a:rPr>
              <a:t>Conception</a:t>
            </a:r>
            <a:endParaRPr lang="en-US" sz="1700" dirty="0"/>
          </a:p>
        </p:txBody>
      </p:sp>
      <p:sp>
        <p:nvSpPr>
          <p:cNvPr id="20" name="Text 17"/>
          <p:cNvSpPr/>
          <p:nvPr/>
        </p:nvSpPr>
        <p:spPr>
          <a:xfrm>
            <a:off x="5231465" y="2499897"/>
            <a:ext cx="1728765" cy="1171736"/>
          </a:xfrm>
          <a:prstGeom prst="rect">
            <a:avLst/>
          </a:prstGeom>
          <a:noFill/>
          <a:ln/>
        </p:spPr>
        <p:txBody>
          <a:bodyPr wrap="square" lIns="0" tIns="0" rIns="0" bIns="0" rtlCol="0" anchor="t"/>
          <a:lstStyle/>
          <a:p>
            <a:pPr indent="0" marL="0">
              <a:buNone/>
            </a:pPr>
            <a:r>
              <a:rPr lang="en-US" sz="1250" dirty="0">
                <a:solidFill>
                  <a:srgbClr val="17303F"/>
                </a:solidFill>
                <a:latin typeface="Calibri" pitchFamily="34" charset="0"/>
                <a:ea typeface="Calibri" pitchFamily="34" charset="-122"/>
                <a:cs typeface="Calibri" pitchFamily="34" charset="-120"/>
              </a:rPr>
              <a:t>Architecture C4, modèle de données</a:t>
            </a:r>
            <a:endParaRPr lang="en-US" sz="1250" dirty="0"/>
          </a:p>
          <a:p>
            <a:pPr indent="0" marL="0">
              <a:buNone/>
            </a:pPr>
            <a:r>
              <a:rPr lang="en-US" sz="1250" dirty="0">
                <a:solidFill>
                  <a:srgbClr val="17303F"/>
                </a:solidFill>
                <a:latin typeface="Calibri" pitchFamily="34" charset="0"/>
                <a:ea typeface="Calibri" pitchFamily="34" charset="-122"/>
                <a:cs typeface="Calibri" pitchFamily="34" charset="-120"/>
              </a:rPr>
              <a:t>MCD/MLD, design de l'Armurerie</a:t>
            </a:r>
            <a:endParaRPr lang="en-US" sz="1250" dirty="0"/>
          </a:p>
        </p:txBody>
      </p:sp>
      <p:sp>
        <p:nvSpPr>
          <p:cNvPr id="21" name="Text 18"/>
          <p:cNvSpPr/>
          <p:nvPr/>
        </p:nvSpPr>
        <p:spPr>
          <a:xfrm>
            <a:off x="5231465" y="3770932"/>
            <a:ext cx="1728765" cy="297899"/>
          </a:xfrm>
          <a:prstGeom prst="rect">
            <a:avLst/>
          </a:prstGeom>
          <a:noFill/>
          <a:ln/>
        </p:spPr>
        <p:txBody>
          <a:bodyPr wrap="square" lIns="0" tIns="0" rIns="0" bIns="0" rtlCol="0" anchor="ctr"/>
          <a:lstStyle/>
          <a:p>
            <a:pPr indent="0" marL="0">
              <a:buNone/>
            </a:pPr>
            <a:r>
              <a:rPr lang="en-US" sz="1150" b="1" dirty="0">
                <a:solidFill>
                  <a:srgbClr val="1F5468"/>
                </a:solidFill>
                <a:latin typeface="Courier New" pitchFamily="34" charset="0"/>
                <a:ea typeface="Courier New" pitchFamily="34" charset="-122"/>
                <a:cs typeface="Courier New" pitchFamily="34" charset="-120"/>
              </a:rPr>
              <a:t>S5–S6</a:t>
            </a:r>
            <a:endParaRPr lang="en-US" sz="1150" dirty="0"/>
          </a:p>
        </p:txBody>
      </p:sp>
      <p:sp>
        <p:nvSpPr>
          <p:cNvPr id="22" name="Shape 19"/>
          <p:cNvSpPr/>
          <p:nvPr/>
        </p:nvSpPr>
        <p:spPr>
          <a:xfrm>
            <a:off x="7289414" y="1645920"/>
            <a:ext cx="2094525" cy="2532140"/>
          </a:xfrm>
          <a:prstGeom prst="roundRect">
            <a:avLst>
              <a:gd name="adj" fmla="val 1528"/>
            </a:avLst>
          </a:prstGeom>
          <a:solidFill>
            <a:srgbClr val="FBF3E6"/>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23" name="Text 20"/>
          <p:cNvSpPr/>
          <p:nvPr/>
        </p:nvSpPr>
        <p:spPr>
          <a:xfrm>
            <a:off x="7472294" y="1765080"/>
            <a:ext cx="1728765" cy="297899"/>
          </a:xfrm>
          <a:prstGeom prst="rect">
            <a:avLst/>
          </a:prstGeom>
          <a:noFill/>
          <a:ln/>
        </p:spPr>
        <p:txBody>
          <a:bodyPr wrap="square" lIns="0" tIns="0" rIns="0" bIns="0" rtlCol="0" anchor="ctr"/>
          <a:lstStyle/>
          <a:p>
            <a:pPr indent="0" marL="0">
              <a:buNone/>
            </a:pPr>
            <a:r>
              <a:rPr lang="en-US" sz="1100" b="1" dirty="0">
                <a:solidFill>
                  <a:srgbClr val="D98A21"/>
                </a:solidFill>
                <a:latin typeface="Courier New" pitchFamily="34" charset="0"/>
                <a:ea typeface="Courier New" pitchFamily="34" charset="-122"/>
                <a:cs typeface="Courier New" pitchFamily="34" charset="-120"/>
              </a:rPr>
              <a:t>04</a:t>
            </a:r>
            <a:endParaRPr lang="en-US" sz="1100" dirty="0"/>
          </a:p>
        </p:txBody>
      </p:sp>
      <p:sp>
        <p:nvSpPr>
          <p:cNvPr id="24" name="Text 21"/>
          <p:cNvSpPr/>
          <p:nvPr/>
        </p:nvSpPr>
        <p:spPr>
          <a:xfrm>
            <a:off x="7472294" y="2062978"/>
            <a:ext cx="1728765" cy="377339"/>
          </a:xfrm>
          <a:prstGeom prst="rect">
            <a:avLst/>
          </a:prstGeom>
          <a:noFill/>
          <a:ln/>
        </p:spPr>
        <p:txBody>
          <a:bodyPr wrap="square" lIns="0" tIns="0" rIns="0" bIns="0" rtlCol="0" anchor="ctr"/>
          <a:lstStyle/>
          <a:p>
            <a:pPr indent="0" marL="0">
              <a:buNone/>
            </a:pPr>
            <a:r>
              <a:rPr lang="en-US" sz="1700" b="1" dirty="0">
                <a:solidFill>
                  <a:srgbClr val="0E1D28"/>
                </a:solidFill>
                <a:latin typeface="Calibri" pitchFamily="34" charset="0"/>
                <a:ea typeface="Calibri" pitchFamily="34" charset="-122"/>
                <a:cs typeface="Calibri" pitchFamily="34" charset="-120"/>
              </a:rPr>
              <a:t>Réalisation</a:t>
            </a:r>
            <a:endParaRPr lang="en-US" sz="1700" dirty="0"/>
          </a:p>
        </p:txBody>
      </p:sp>
      <p:sp>
        <p:nvSpPr>
          <p:cNvPr id="25" name="Text 22"/>
          <p:cNvSpPr/>
          <p:nvPr/>
        </p:nvSpPr>
        <p:spPr>
          <a:xfrm>
            <a:off x="7472294" y="2499897"/>
            <a:ext cx="1728765" cy="1171736"/>
          </a:xfrm>
          <a:prstGeom prst="rect">
            <a:avLst/>
          </a:prstGeom>
          <a:noFill/>
          <a:ln/>
        </p:spPr>
        <p:txBody>
          <a:bodyPr wrap="square" lIns="0" tIns="0" rIns="0" bIns="0" rtlCol="0" anchor="t"/>
          <a:lstStyle/>
          <a:p>
            <a:pPr indent="0" marL="0">
              <a:buNone/>
            </a:pPr>
            <a:r>
              <a:rPr lang="en-US" sz="1250" dirty="0">
                <a:solidFill>
                  <a:srgbClr val="17303F"/>
                </a:solidFill>
                <a:latin typeface="Calibri" pitchFamily="34" charset="0"/>
                <a:ea typeface="Calibri" pitchFamily="34" charset="-122"/>
                <a:cs typeface="Calibri" pitchFamily="34" charset="-120"/>
              </a:rPr>
              <a:t>Sprints 3 à 6 —</a:t>
            </a:r>
            <a:endParaRPr lang="en-US" sz="1250" dirty="0"/>
          </a:p>
          <a:p>
            <a:pPr indent="0" marL="0">
              <a:buNone/>
            </a:pPr>
            <a:r>
              <a:rPr lang="en-US" sz="1250" dirty="0">
                <a:solidFill>
                  <a:srgbClr val="17303F"/>
                </a:solidFill>
                <a:latin typeface="Calibri" pitchFamily="34" charset="0"/>
                <a:ea typeface="Calibri" pitchFamily="34" charset="-122"/>
                <a:cs typeface="Calibri" pitchFamily="34" charset="-120"/>
              </a:rPr>
              <a:t>EP01 à EP06</a:t>
            </a:r>
            <a:endParaRPr lang="en-US" sz="1250" dirty="0"/>
          </a:p>
        </p:txBody>
      </p:sp>
      <p:sp>
        <p:nvSpPr>
          <p:cNvPr id="26" name="Text 23"/>
          <p:cNvSpPr/>
          <p:nvPr/>
        </p:nvSpPr>
        <p:spPr>
          <a:xfrm>
            <a:off x="7472294" y="3770932"/>
            <a:ext cx="1728765" cy="297899"/>
          </a:xfrm>
          <a:prstGeom prst="rect">
            <a:avLst/>
          </a:prstGeom>
          <a:noFill/>
          <a:ln/>
        </p:spPr>
        <p:txBody>
          <a:bodyPr wrap="square" lIns="0" tIns="0" rIns="0" bIns="0" rtlCol="0" anchor="ctr"/>
          <a:lstStyle/>
          <a:p>
            <a:pPr indent="0" marL="0">
              <a:buNone/>
            </a:pPr>
            <a:r>
              <a:rPr lang="en-US" sz="1150" b="1" dirty="0">
                <a:solidFill>
                  <a:srgbClr val="1F5468"/>
                </a:solidFill>
                <a:latin typeface="Courier New" pitchFamily="34" charset="0"/>
                <a:ea typeface="Courier New" pitchFamily="34" charset="-122"/>
                <a:cs typeface="Courier New" pitchFamily="34" charset="-120"/>
              </a:rPr>
              <a:t>S7–S14</a:t>
            </a:r>
            <a:endParaRPr lang="en-US" sz="1150" dirty="0"/>
          </a:p>
        </p:txBody>
      </p:sp>
      <p:sp>
        <p:nvSpPr>
          <p:cNvPr id="27" name="Shape 24"/>
          <p:cNvSpPr/>
          <p:nvPr/>
        </p:nvSpPr>
        <p:spPr>
          <a:xfrm>
            <a:off x="9530243" y="1645920"/>
            <a:ext cx="2094525" cy="2532140"/>
          </a:xfrm>
          <a:prstGeom prst="roundRect">
            <a:avLst>
              <a:gd name="adj" fmla="val 1528"/>
            </a:avLst>
          </a:prstGeom>
          <a:solidFill>
            <a:srgbClr val="F1F5F7"/>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28" name="Text 25"/>
          <p:cNvSpPr/>
          <p:nvPr/>
        </p:nvSpPr>
        <p:spPr>
          <a:xfrm>
            <a:off x="9713123" y="1765080"/>
            <a:ext cx="1728765" cy="297899"/>
          </a:xfrm>
          <a:prstGeom prst="rect">
            <a:avLst/>
          </a:prstGeom>
          <a:noFill/>
          <a:ln/>
        </p:spPr>
        <p:txBody>
          <a:bodyPr wrap="square" lIns="0" tIns="0" rIns="0" bIns="0" rtlCol="0" anchor="ctr"/>
          <a:lstStyle/>
          <a:p>
            <a:pPr indent="0" marL="0">
              <a:buNone/>
            </a:pPr>
            <a:r>
              <a:rPr lang="en-US" sz="1100" b="1" dirty="0">
                <a:solidFill>
                  <a:srgbClr val="5B6E7B"/>
                </a:solidFill>
                <a:latin typeface="Courier New" pitchFamily="34" charset="0"/>
                <a:ea typeface="Courier New" pitchFamily="34" charset="-122"/>
                <a:cs typeface="Courier New" pitchFamily="34" charset="-120"/>
              </a:rPr>
              <a:t>05</a:t>
            </a:r>
            <a:endParaRPr lang="en-US" sz="1100" dirty="0"/>
          </a:p>
        </p:txBody>
      </p:sp>
      <p:sp>
        <p:nvSpPr>
          <p:cNvPr id="29" name="Text 26"/>
          <p:cNvSpPr/>
          <p:nvPr/>
        </p:nvSpPr>
        <p:spPr>
          <a:xfrm>
            <a:off x="9713123" y="2062978"/>
            <a:ext cx="1728765" cy="377339"/>
          </a:xfrm>
          <a:prstGeom prst="rect">
            <a:avLst/>
          </a:prstGeom>
          <a:noFill/>
          <a:ln/>
        </p:spPr>
        <p:txBody>
          <a:bodyPr wrap="square" lIns="0" tIns="0" rIns="0" bIns="0" rtlCol="0" anchor="ctr"/>
          <a:lstStyle/>
          <a:p>
            <a:pPr indent="0" marL="0">
              <a:buNone/>
            </a:pPr>
            <a:r>
              <a:rPr lang="en-US" sz="1700" b="1" dirty="0">
                <a:solidFill>
                  <a:srgbClr val="0E1D28"/>
                </a:solidFill>
                <a:latin typeface="Calibri" pitchFamily="34" charset="0"/>
                <a:ea typeface="Calibri" pitchFamily="34" charset="-122"/>
                <a:cs typeface="Calibri" pitchFamily="34" charset="-120"/>
              </a:rPr>
              <a:t>Restitution</a:t>
            </a:r>
            <a:endParaRPr lang="en-US" sz="1700" dirty="0"/>
          </a:p>
        </p:txBody>
      </p:sp>
      <p:sp>
        <p:nvSpPr>
          <p:cNvPr id="30" name="Text 27"/>
          <p:cNvSpPr/>
          <p:nvPr/>
        </p:nvSpPr>
        <p:spPr>
          <a:xfrm>
            <a:off x="9713123" y="2499897"/>
            <a:ext cx="1728765" cy="1171736"/>
          </a:xfrm>
          <a:prstGeom prst="rect">
            <a:avLst/>
          </a:prstGeom>
          <a:noFill/>
          <a:ln/>
        </p:spPr>
        <p:txBody>
          <a:bodyPr wrap="square" lIns="0" tIns="0" rIns="0" bIns="0" rtlCol="0" anchor="t"/>
          <a:lstStyle/>
          <a:p>
            <a:pPr indent="0" marL="0">
              <a:buNone/>
            </a:pPr>
            <a:r>
              <a:rPr lang="en-US" sz="1250" dirty="0">
                <a:solidFill>
                  <a:srgbClr val="17303F"/>
                </a:solidFill>
                <a:latin typeface="Calibri" pitchFamily="34" charset="0"/>
                <a:ea typeface="Calibri" pitchFamily="34" charset="-122"/>
                <a:cs typeface="Calibri" pitchFamily="34" charset="-120"/>
              </a:rPr>
              <a:t>Recette, corrections,</a:t>
            </a:r>
            <a:endParaRPr lang="en-US" sz="1250" dirty="0"/>
          </a:p>
          <a:p>
            <a:pPr indent="0" marL="0">
              <a:buNone/>
            </a:pPr>
            <a:r>
              <a:rPr lang="en-US" sz="1250" dirty="0">
                <a:solidFill>
                  <a:srgbClr val="17303F"/>
                </a:solidFill>
                <a:latin typeface="Calibri" pitchFamily="34" charset="0"/>
                <a:ea typeface="Calibri" pitchFamily="34" charset="-122"/>
                <a:cs typeface="Calibri" pitchFamily="34" charset="-120"/>
              </a:rPr>
              <a:t>mise en production, documentation</a:t>
            </a:r>
            <a:endParaRPr lang="en-US" sz="1250" dirty="0"/>
          </a:p>
        </p:txBody>
      </p:sp>
      <p:sp>
        <p:nvSpPr>
          <p:cNvPr id="31" name="Text 28"/>
          <p:cNvSpPr/>
          <p:nvPr/>
        </p:nvSpPr>
        <p:spPr>
          <a:xfrm>
            <a:off x="9713123" y="3770932"/>
            <a:ext cx="1728765" cy="297899"/>
          </a:xfrm>
          <a:prstGeom prst="rect">
            <a:avLst/>
          </a:prstGeom>
          <a:noFill/>
          <a:ln/>
        </p:spPr>
        <p:txBody>
          <a:bodyPr wrap="square" lIns="0" tIns="0" rIns="0" bIns="0" rtlCol="0" anchor="ctr"/>
          <a:lstStyle/>
          <a:p>
            <a:pPr indent="0" marL="0">
              <a:buNone/>
            </a:pPr>
            <a:r>
              <a:rPr lang="en-US" sz="1150" b="1" dirty="0">
                <a:solidFill>
                  <a:srgbClr val="1F5468"/>
                </a:solidFill>
                <a:latin typeface="Courier New" pitchFamily="34" charset="0"/>
                <a:ea typeface="Courier New" pitchFamily="34" charset="-122"/>
                <a:cs typeface="Courier New" pitchFamily="34" charset="-120"/>
              </a:rPr>
              <a:t>S15–S16</a:t>
            </a:r>
            <a:endParaRPr lang="en-US" sz="1150" dirty="0"/>
          </a:p>
        </p:txBody>
      </p:sp>
      <p:sp>
        <p:nvSpPr>
          <p:cNvPr id="32" name="Shape 29"/>
          <p:cNvSpPr/>
          <p:nvPr/>
        </p:nvSpPr>
        <p:spPr>
          <a:xfrm>
            <a:off x="566928" y="4376660"/>
            <a:ext cx="11057839" cy="2005852"/>
          </a:xfrm>
          <a:prstGeom prst="roundRect">
            <a:avLst>
              <a:gd name="adj" fmla="val 1596"/>
            </a:avLst>
          </a:prstGeom>
          <a:solidFill>
            <a:srgbClr val="0E1D28"/>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33" name="Text 30"/>
          <p:cNvSpPr/>
          <p:nvPr/>
        </p:nvSpPr>
        <p:spPr>
          <a:xfrm>
            <a:off x="841248" y="4565329"/>
            <a:ext cx="4572000" cy="238319"/>
          </a:xfrm>
          <a:prstGeom prst="rect">
            <a:avLst/>
          </a:prstGeom>
          <a:noFill/>
          <a:ln/>
        </p:spPr>
        <p:txBody>
          <a:bodyPr wrap="square" lIns="0" tIns="0" rIns="0" bIns="0" rtlCol="0" anchor="ctr"/>
          <a:lstStyle/>
          <a:p>
            <a:pPr indent="0" marL="0">
              <a:buNone/>
            </a:pPr>
            <a:r>
              <a:rPr lang="en-US" sz="950" b="1" spc="130" kern="0" dirty="0">
                <a:solidFill>
                  <a:srgbClr val="F0AE44"/>
                </a:solidFill>
                <a:latin typeface="Courier New" pitchFamily="34" charset="0"/>
                <a:ea typeface="Courier New" pitchFamily="34" charset="-122"/>
                <a:cs typeface="Courier New" pitchFamily="34" charset="-120"/>
              </a:rPr>
              <a:t>LES 5 JALONS DE VALIDATION</a:t>
            </a:r>
            <a:endParaRPr lang="en-US" sz="950" dirty="0"/>
          </a:p>
        </p:txBody>
      </p:sp>
      <p:sp>
        <p:nvSpPr>
          <p:cNvPr id="34" name="Text 31"/>
          <p:cNvSpPr/>
          <p:nvPr/>
        </p:nvSpPr>
        <p:spPr>
          <a:xfrm>
            <a:off x="841248" y="4922808"/>
            <a:ext cx="1918960" cy="397198"/>
          </a:xfrm>
          <a:prstGeom prst="rect">
            <a:avLst/>
          </a:prstGeom>
          <a:noFill/>
          <a:ln/>
        </p:spPr>
        <p:txBody>
          <a:bodyPr wrap="square" lIns="0" tIns="0" rIns="0" bIns="0" rtlCol="0" anchor="ctr"/>
          <a:lstStyle/>
          <a:p>
            <a:pPr indent="0" marL="0">
              <a:buNone/>
            </a:pPr>
            <a:r>
              <a:rPr lang="en-US" sz="2400" b="1" dirty="0">
                <a:solidFill>
                  <a:srgbClr val="F0AE44"/>
                </a:solidFill>
                <a:latin typeface="Cambria" pitchFamily="34" charset="0"/>
                <a:ea typeface="Cambria" pitchFamily="34" charset="-122"/>
                <a:cs typeface="Cambria" pitchFamily="34" charset="-120"/>
              </a:rPr>
              <a:t>J1</a:t>
            </a:r>
            <a:pPr indent="0" marL="0">
              <a:buNone/>
            </a:pPr>
            <a:r>
              <a:rPr lang="en-US" sz="1200" dirty="0">
                <a:solidFill>
                  <a:srgbClr val="8FA6B4"/>
                </a:solidFill>
                <a:latin typeface="Courier New" pitchFamily="34" charset="0"/>
                <a:ea typeface="Courier New" pitchFamily="34" charset="-122"/>
                <a:cs typeface="Courier New" pitchFamily="34" charset="-120"/>
              </a:rPr>
              <a:t>   S2</a:t>
            </a:r>
            <a:endParaRPr lang="en-US" sz="2400" dirty="0"/>
          </a:p>
        </p:txBody>
      </p:sp>
      <p:sp>
        <p:nvSpPr>
          <p:cNvPr id="35" name="Text 32"/>
          <p:cNvSpPr/>
          <p:nvPr/>
        </p:nvSpPr>
        <p:spPr>
          <a:xfrm>
            <a:off x="841248" y="5379586"/>
            <a:ext cx="1873240" cy="853977"/>
          </a:xfrm>
          <a:prstGeom prst="rect">
            <a:avLst/>
          </a:prstGeom>
          <a:noFill/>
          <a:ln/>
        </p:spPr>
        <p:txBody>
          <a:bodyPr wrap="square" lIns="0" tIns="0" rIns="0" bIns="0" rtlCol="0" anchor="t"/>
          <a:lstStyle/>
          <a:p>
            <a:pPr indent="0" marL="0">
              <a:buNone/>
            </a:pPr>
            <a:r>
              <a:rPr lang="en-US" sz="1200" dirty="0">
                <a:solidFill>
                  <a:srgbClr val="A9BDC9"/>
                </a:solidFill>
                <a:latin typeface="Calibri" pitchFamily="34" charset="0"/>
                <a:ea typeface="Calibri" pitchFamily="34" charset="-122"/>
                <a:cs typeface="Calibri" pitchFamily="34" charset="-120"/>
              </a:rPr>
              <a:t>Cadrage et architecture cible</a:t>
            </a:r>
            <a:endParaRPr lang="en-US" sz="1200" dirty="0"/>
          </a:p>
          <a:p>
            <a:pPr indent="0" marL="0">
              <a:buNone/>
            </a:pPr>
            <a:r>
              <a:rPr lang="en-US" sz="1200" dirty="0">
                <a:solidFill>
                  <a:srgbClr val="A9BDC9"/>
                </a:solidFill>
                <a:latin typeface="Calibri" pitchFamily="34" charset="0"/>
                <a:ea typeface="Calibri" pitchFamily="34" charset="-122"/>
                <a:cs typeface="Calibri" pitchFamily="34" charset="-120"/>
              </a:rPr>
              <a:t>(C4, niveaux 1 et 2) validés</a:t>
            </a:r>
            <a:endParaRPr lang="en-US" sz="1200" dirty="0"/>
          </a:p>
        </p:txBody>
      </p:sp>
      <p:sp>
        <p:nvSpPr>
          <p:cNvPr id="36" name="Text 33"/>
          <p:cNvSpPr/>
          <p:nvPr/>
        </p:nvSpPr>
        <p:spPr>
          <a:xfrm>
            <a:off x="2943088" y="4922808"/>
            <a:ext cx="1918960" cy="397198"/>
          </a:xfrm>
          <a:prstGeom prst="rect">
            <a:avLst/>
          </a:prstGeom>
          <a:noFill/>
          <a:ln/>
        </p:spPr>
        <p:txBody>
          <a:bodyPr wrap="square" lIns="0" tIns="0" rIns="0" bIns="0" rtlCol="0" anchor="ctr"/>
          <a:lstStyle/>
          <a:p>
            <a:pPr indent="0" marL="0">
              <a:buNone/>
            </a:pPr>
            <a:r>
              <a:rPr lang="en-US" sz="2400" b="1" dirty="0">
                <a:solidFill>
                  <a:srgbClr val="F0AE44"/>
                </a:solidFill>
                <a:latin typeface="Cambria" pitchFamily="34" charset="0"/>
                <a:ea typeface="Cambria" pitchFamily="34" charset="-122"/>
                <a:cs typeface="Cambria" pitchFamily="34" charset="-120"/>
              </a:rPr>
              <a:t>J2</a:t>
            </a:r>
            <a:pPr indent="0" marL="0">
              <a:buNone/>
            </a:pPr>
            <a:r>
              <a:rPr lang="en-US" sz="1200" dirty="0">
                <a:solidFill>
                  <a:srgbClr val="8FA6B4"/>
                </a:solidFill>
                <a:latin typeface="Courier New" pitchFamily="34" charset="0"/>
                <a:ea typeface="Courier New" pitchFamily="34" charset="-122"/>
                <a:cs typeface="Courier New" pitchFamily="34" charset="-120"/>
              </a:rPr>
              <a:t>   S6</a:t>
            </a:r>
            <a:endParaRPr lang="en-US" sz="2400" dirty="0"/>
          </a:p>
        </p:txBody>
      </p:sp>
      <p:sp>
        <p:nvSpPr>
          <p:cNvPr id="37" name="Text 34"/>
          <p:cNvSpPr/>
          <p:nvPr/>
        </p:nvSpPr>
        <p:spPr>
          <a:xfrm>
            <a:off x="2943088" y="5379586"/>
            <a:ext cx="1873240" cy="853977"/>
          </a:xfrm>
          <a:prstGeom prst="rect">
            <a:avLst/>
          </a:prstGeom>
          <a:noFill/>
          <a:ln/>
        </p:spPr>
        <p:txBody>
          <a:bodyPr wrap="square" lIns="0" tIns="0" rIns="0" bIns="0" rtlCol="0" anchor="t"/>
          <a:lstStyle/>
          <a:p>
            <a:pPr indent="0" marL="0">
              <a:buNone/>
            </a:pPr>
            <a:r>
              <a:rPr lang="en-US" sz="1200" dirty="0">
                <a:solidFill>
                  <a:srgbClr val="A9BDC9"/>
                </a:solidFill>
                <a:latin typeface="Calibri" pitchFamily="34" charset="0"/>
                <a:ea typeface="Calibri" pitchFamily="34" charset="-122"/>
                <a:cs typeface="Calibri" pitchFamily="34" charset="-120"/>
              </a:rPr>
              <a:t>Conception détaillée : modèle</a:t>
            </a:r>
            <a:endParaRPr lang="en-US" sz="1200" dirty="0"/>
          </a:p>
          <a:p>
            <a:pPr indent="0" marL="0">
              <a:buNone/>
            </a:pPr>
            <a:r>
              <a:rPr lang="en-US" sz="1200" dirty="0">
                <a:solidFill>
                  <a:srgbClr val="A9BDC9"/>
                </a:solidFill>
                <a:latin typeface="Calibri" pitchFamily="34" charset="0"/>
                <a:ea typeface="Calibri" pitchFamily="34" charset="-122"/>
                <a:cs typeface="Calibri" pitchFamily="34" charset="-120"/>
              </a:rPr>
              <a:t>de données et contrats d'API</a:t>
            </a:r>
            <a:endParaRPr lang="en-US" sz="1200" dirty="0"/>
          </a:p>
        </p:txBody>
      </p:sp>
      <p:sp>
        <p:nvSpPr>
          <p:cNvPr id="38" name="Text 35"/>
          <p:cNvSpPr/>
          <p:nvPr/>
        </p:nvSpPr>
        <p:spPr>
          <a:xfrm>
            <a:off x="5044928" y="4922808"/>
            <a:ext cx="1918960" cy="397198"/>
          </a:xfrm>
          <a:prstGeom prst="rect">
            <a:avLst/>
          </a:prstGeom>
          <a:noFill/>
          <a:ln/>
        </p:spPr>
        <p:txBody>
          <a:bodyPr wrap="square" lIns="0" tIns="0" rIns="0" bIns="0" rtlCol="0" anchor="ctr"/>
          <a:lstStyle/>
          <a:p>
            <a:pPr indent="0" marL="0">
              <a:buNone/>
            </a:pPr>
            <a:r>
              <a:rPr lang="en-US" sz="2400" b="1" dirty="0">
                <a:solidFill>
                  <a:srgbClr val="F0AE44"/>
                </a:solidFill>
                <a:latin typeface="Cambria" pitchFamily="34" charset="0"/>
                <a:ea typeface="Cambria" pitchFamily="34" charset="-122"/>
                <a:cs typeface="Cambria" pitchFamily="34" charset="-120"/>
              </a:rPr>
              <a:t>J3</a:t>
            </a:r>
            <a:pPr indent="0" marL="0">
              <a:buNone/>
            </a:pPr>
            <a:r>
              <a:rPr lang="en-US" sz="1200" dirty="0">
                <a:solidFill>
                  <a:srgbClr val="8FA6B4"/>
                </a:solidFill>
                <a:latin typeface="Courier New" pitchFamily="34" charset="0"/>
                <a:ea typeface="Courier New" pitchFamily="34" charset="-122"/>
                <a:cs typeface="Courier New" pitchFamily="34" charset="-120"/>
              </a:rPr>
              <a:t>   S10</a:t>
            </a:r>
            <a:endParaRPr lang="en-US" sz="2400" dirty="0"/>
          </a:p>
        </p:txBody>
      </p:sp>
      <p:sp>
        <p:nvSpPr>
          <p:cNvPr id="39" name="Text 36"/>
          <p:cNvSpPr/>
          <p:nvPr/>
        </p:nvSpPr>
        <p:spPr>
          <a:xfrm>
            <a:off x="5044928" y="5379586"/>
            <a:ext cx="1873240" cy="853977"/>
          </a:xfrm>
          <a:prstGeom prst="rect">
            <a:avLst/>
          </a:prstGeom>
          <a:noFill/>
          <a:ln/>
        </p:spPr>
        <p:txBody>
          <a:bodyPr wrap="square" lIns="0" tIns="0" rIns="0" bIns="0" rtlCol="0" anchor="t"/>
          <a:lstStyle/>
          <a:p>
            <a:pPr indent="0" marL="0">
              <a:buNone/>
            </a:pPr>
            <a:r>
              <a:rPr lang="en-US" sz="1200" dirty="0">
                <a:solidFill>
                  <a:srgbClr val="A9BDC9"/>
                </a:solidFill>
                <a:latin typeface="Calibri" pitchFamily="34" charset="0"/>
                <a:ea typeface="Calibri" pitchFamily="34" charset="-122"/>
                <a:cs typeface="Calibri" pitchFamily="34" charset="-120"/>
              </a:rPr>
              <a:t>Moteur de matching</a:t>
            </a:r>
            <a:endParaRPr lang="en-US" sz="1200" dirty="0"/>
          </a:p>
          <a:p>
            <a:pPr indent="0" marL="0">
              <a:buNone/>
            </a:pPr>
            <a:r>
              <a:rPr lang="en-US" sz="1200" dirty="0">
                <a:solidFill>
                  <a:srgbClr val="A9BDC9"/>
                </a:solidFill>
                <a:latin typeface="Calibri" pitchFamily="34" charset="0"/>
                <a:ea typeface="Calibri" pitchFamily="34" charset="-122"/>
                <a:cs typeface="Calibri" pitchFamily="34" charset="-120"/>
              </a:rPr>
              <a:t>et pipeline média</a:t>
            </a:r>
            <a:endParaRPr lang="en-US" sz="1200" dirty="0"/>
          </a:p>
        </p:txBody>
      </p:sp>
      <p:sp>
        <p:nvSpPr>
          <p:cNvPr id="40" name="Text 37"/>
          <p:cNvSpPr/>
          <p:nvPr/>
        </p:nvSpPr>
        <p:spPr>
          <a:xfrm>
            <a:off x="7146768" y="4922808"/>
            <a:ext cx="1918960" cy="397198"/>
          </a:xfrm>
          <a:prstGeom prst="rect">
            <a:avLst/>
          </a:prstGeom>
          <a:noFill/>
          <a:ln/>
        </p:spPr>
        <p:txBody>
          <a:bodyPr wrap="square" lIns="0" tIns="0" rIns="0" bIns="0" rtlCol="0" anchor="ctr"/>
          <a:lstStyle/>
          <a:p>
            <a:pPr indent="0" marL="0">
              <a:buNone/>
            </a:pPr>
            <a:r>
              <a:rPr lang="en-US" sz="2400" b="1" dirty="0">
                <a:solidFill>
                  <a:srgbClr val="F0AE44"/>
                </a:solidFill>
                <a:latin typeface="Cambria" pitchFamily="34" charset="0"/>
                <a:ea typeface="Cambria" pitchFamily="34" charset="-122"/>
                <a:cs typeface="Cambria" pitchFamily="34" charset="-120"/>
              </a:rPr>
              <a:t>J4</a:t>
            </a:r>
            <a:pPr indent="0" marL="0">
              <a:buNone/>
            </a:pPr>
            <a:r>
              <a:rPr lang="en-US" sz="1200" dirty="0">
                <a:solidFill>
                  <a:srgbClr val="8FA6B4"/>
                </a:solidFill>
                <a:latin typeface="Courier New" pitchFamily="34" charset="0"/>
                <a:ea typeface="Courier New" pitchFamily="34" charset="-122"/>
                <a:cs typeface="Courier New" pitchFamily="34" charset="-120"/>
              </a:rPr>
              <a:t>   S14</a:t>
            </a:r>
            <a:endParaRPr lang="en-US" sz="2400" dirty="0"/>
          </a:p>
        </p:txBody>
      </p:sp>
      <p:sp>
        <p:nvSpPr>
          <p:cNvPr id="41" name="Text 38"/>
          <p:cNvSpPr/>
          <p:nvPr/>
        </p:nvSpPr>
        <p:spPr>
          <a:xfrm>
            <a:off x="7146768" y="5379586"/>
            <a:ext cx="1873240" cy="853977"/>
          </a:xfrm>
          <a:prstGeom prst="rect">
            <a:avLst/>
          </a:prstGeom>
          <a:noFill/>
          <a:ln/>
        </p:spPr>
        <p:txBody>
          <a:bodyPr wrap="square" lIns="0" tIns="0" rIns="0" bIns="0" rtlCol="0" anchor="t"/>
          <a:lstStyle/>
          <a:p>
            <a:pPr indent="0" marL="0">
              <a:buNone/>
            </a:pPr>
            <a:r>
              <a:rPr lang="en-US" sz="1200" dirty="0">
                <a:solidFill>
                  <a:srgbClr val="A9BDC9"/>
                </a:solidFill>
                <a:latin typeface="Calibri" pitchFamily="34" charset="0"/>
                <a:ea typeface="Calibri" pitchFamily="34" charset="-122"/>
                <a:cs typeface="Calibri" pitchFamily="34" charset="-120"/>
              </a:rPr>
              <a:t>Beta Web</a:t>
            </a:r>
            <a:endParaRPr lang="en-US" sz="1200" dirty="0"/>
          </a:p>
          <a:p>
            <a:pPr indent="0" marL="0">
              <a:buNone/>
            </a:pPr>
            <a:r>
              <a:rPr lang="en-US" sz="1200" dirty="0">
                <a:solidFill>
                  <a:srgbClr val="A9BDC9"/>
                </a:solidFill>
                <a:latin typeface="Calibri" pitchFamily="34" charset="0"/>
                <a:ea typeface="Calibri" pitchFamily="34" charset="-122"/>
                <a:cs typeface="Calibri" pitchFamily="34" charset="-120"/>
              </a:rPr>
              <a:t>fonctionnelle</a:t>
            </a:r>
            <a:endParaRPr lang="en-US" sz="1200" dirty="0"/>
          </a:p>
        </p:txBody>
      </p:sp>
      <p:sp>
        <p:nvSpPr>
          <p:cNvPr id="42" name="Text 39"/>
          <p:cNvSpPr/>
          <p:nvPr/>
        </p:nvSpPr>
        <p:spPr>
          <a:xfrm>
            <a:off x="9248607" y="4922808"/>
            <a:ext cx="1918960" cy="397198"/>
          </a:xfrm>
          <a:prstGeom prst="rect">
            <a:avLst/>
          </a:prstGeom>
          <a:noFill/>
          <a:ln/>
        </p:spPr>
        <p:txBody>
          <a:bodyPr wrap="square" lIns="0" tIns="0" rIns="0" bIns="0" rtlCol="0" anchor="ctr"/>
          <a:lstStyle/>
          <a:p>
            <a:pPr indent="0" marL="0">
              <a:buNone/>
            </a:pPr>
            <a:r>
              <a:rPr lang="en-US" sz="2400" b="1" dirty="0">
                <a:solidFill>
                  <a:srgbClr val="F0AE44"/>
                </a:solidFill>
                <a:latin typeface="Cambria" pitchFamily="34" charset="0"/>
                <a:ea typeface="Cambria" pitchFamily="34" charset="-122"/>
                <a:cs typeface="Cambria" pitchFamily="34" charset="-120"/>
              </a:rPr>
              <a:t>J5</a:t>
            </a:r>
            <a:pPr indent="0" marL="0">
              <a:buNone/>
            </a:pPr>
            <a:r>
              <a:rPr lang="en-US" sz="1200" dirty="0">
                <a:solidFill>
                  <a:srgbClr val="8FA6B4"/>
                </a:solidFill>
                <a:latin typeface="Courier New" pitchFamily="34" charset="0"/>
                <a:ea typeface="Courier New" pitchFamily="34" charset="-122"/>
                <a:cs typeface="Courier New" pitchFamily="34" charset="-120"/>
              </a:rPr>
              <a:t>   S16</a:t>
            </a:r>
            <a:endParaRPr lang="en-US" sz="2400" dirty="0"/>
          </a:p>
        </p:txBody>
      </p:sp>
      <p:sp>
        <p:nvSpPr>
          <p:cNvPr id="43" name="Text 40"/>
          <p:cNvSpPr/>
          <p:nvPr/>
        </p:nvSpPr>
        <p:spPr>
          <a:xfrm>
            <a:off x="9248607" y="5379586"/>
            <a:ext cx="1873240" cy="853977"/>
          </a:xfrm>
          <a:prstGeom prst="rect">
            <a:avLst/>
          </a:prstGeom>
          <a:noFill/>
          <a:ln/>
        </p:spPr>
        <p:txBody>
          <a:bodyPr wrap="square" lIns="0" tIns="0" rIns="0" bIns="0" rtlCol="0" anchor="t"/>
          <a:lstStyle/>
          <a:p>
            <a:pPr indent="0" marL="0">
              <a:buNone/>
            </a:pPr>
            <a:r>
              <a:rPr lang="en-US" sz="1200" dirty="0">
                <a:solidFill>
                  <a:srgbClr val="A9BDC9"/>
                </a:solidFill>
                <a:latin typeface="Calibri" pitchFamily="34" charset="0"/>
                <a:ea typeface="Calibri" pitchFamily="34" charset="-122"/>
                <a:cs typeface="Calibri" pitchFamily="34" charset="-120"/>
              </a:rPr>
              <a:t>Recette finale et</a:t>
            </a:r>
            <a:endParaRPr lang="en-US" sz="1200" dirty="0"/>
          </a:p>
          <a:p>
            <a:pPr indent="0" marL="0">
              <a:buNone/>
            </a:pPr>
            <a:r>
              <a:rPr lang="en-US" sz="1200" dirty="0">
                <a:solidFill>
                  <a:srgbClr val="A9BDC9"/>
                </a:solidFill>
                <a:latin typeface="Calibri" pitchFamily="34" charset="0"/>
                <a:ea typeface="Calibri" pitchFamily="34" charset="-122"/>
                <a:cs typeface="Calibri" pitchFamily="34" charset="-120"/>
              </a:rPr>
              <a:t>mise en production V1.0</a:t>
            </a:r>
            <a:endParaRPr lang="en-US" sz="1200" dirty="0"/>
          </a:p>
        </p:txBody>
      </p:sp>
      <p:sp>
        <p:nvSpPr>
          <p:cNvPr id="44" name="Text 41"/>
          <p:cNvSpPr/>
          <p:nvPr/>
        </p:nvSpPr>
        <p:spPr>
          <a:xfrm>
            <a:off x="841248" y="6015103"/>
            <a:ext cx="10509199" cy="258179"/>
          </a:xfrm>
          <a:prstGeom prst="rect">
            <a:avLst/>
          </a:prstGeom>
          <a:noFill/>
          <a:ln/>
        </p:spPr>
        <p:txBody>
          <a:bodyPr wrap="square" lIns="0" tIns="0" rIns="0" bIns="0" rtlCol="0" anchor="ctr"/>
          <a:lstStyle/>
          <a:p>
            <a:pPr indent="0" marL="0">
              <a:buNone/>
            </a:pPr>
            <a:r>
              <a:rPr lang="en-US" sz="1000" i="1" dirty="0">
                <a:solidFill>
                  <a:srgbClr val="8FA6B4"/>
                </a:solidFill>
                <a:latin typeface="Calibri" pitchFamily="34" charset="0"/>
                <a:ea typeface="Calibri" pitchFamily="34" charset="-122"/>
                <a:cs typeface="Calibri" pitchFamily="34" charset="-120"/>
              </a:rPr>
              <a:t>Sprint 0 de cadrage en S1–S2, puis 6 sprints de deux semaines jusqu'à S14.   ·   C4 : modèle de documentation d'architecture à quatre niveaux — contexte, conteneurs, composants, code.</a:t>
            </a:r>
            <a:endParaRPr lang="en-US" sz="1000" dirty="0"/>
          </a:p>
        </p:txBody>
      </p:sp>
      <p:sp>
        <p:nvSpPr>
          <p:cNvPr id="45" name="Text 42"/>
          <p:cNvSpPr/>
          <p:nvPr/>
        </p:nvSpPr>
        <p:spPr>
          <a:xfrm>
            <a:off x="10984687" y="6419088"/>
            <a:ext cx="640080" cy="256032"/>
          </a:xfrm>
          <a:prstGeom prst="rect">
            <a:avLst/>
          </a:prstGeom>
          <a:noFill/>
          <a:ln/>
        </p:spPr>
        <p:txBody>
          <a:bodyPr wrap="square" lIns="0" tIns="0" rIns="0" bIns="0" rtlCol="0" anchor="ctr"/>
          <a:lstStyle/>
          <a:p>
            <a:pPr algn="r" indent="0" marL="0">
              <a:buNone/>
            </a:pPr>
            <a:r>
              <a:rPr lang="en-US" sz="1000" dirty="0">
                <a:solidFill>
                  <a:srgbClr val="9FB2BD"/>
                </a:solidFill>
                <a:latin typeface="Courier New" pitchFamily="34" charset="0"/>
                <a:ea typeface="Courier New" pitchFamily="34" charset="-122"/>
                <a:cs typeface="Courier New"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66928" y="384048"/>
            <a:ext cx="7740487" cy="219456"/>
          </a:xfrm>
          <a:prstGeom prst="rect">
            <a:avLst/>
          </a:prstGeom>
          <a:noFill/>
          <a:ln/>
        </p:spPr>
        <p:txBody>
          <a:bodyPr wrap="square" lIns="0" tIns="0" rIns="0" bIns="0" rtlCol="0" anchor="ctr"/>
          <a:lstStyle/>
          <a:p>
            <a:pPr indent="0" marL="0">
              <a:buNone/>
            </a:pPr>
            <a:r>
              <a:rPr lang="en-US" sz="1050" b="1" spc="160" kern="0" dirty="0">
                <a:solidFill>
                  <a:srgbClr val="1F5468"/>
                </a:solidFill>
                <a:latin typeface="Courier New" pitchFamily="34" charset="0"/>
                <a:ea typeface="Courier New" pitchFamily="34" charset="-122"/>
                <a:cs typeface="Courier New" pitchFamily="34" charset="-120"/>
              </a:rPr>
              <a:t>PARTIE 1 · PLANIFIER</a:t>
            </a:r>
            <a:endParaRPr lang="en-US" sz="1050" dirty="0"/>
          </a:p>
        </p:txBody>
      </p:sp>
      <p:sp>
        <p:nvSpPr>
          <p:cNvPr id="4" name="Text 1"/>
          <p:cNvSpPr/>
          <p:nvPr/>
        </p:nvSpPr>
        <p:spPr>
          <a:xfrm>
            <a:off x="566928" y="621792"/>
            <a:ext cx="8403958" cy="731520"/>
          </a:xfrm>
          <a:prstGeom prst="rect">
            <a:avLst/>
          </a:prstGeom>
          <a:noFill/>
          <a:ln/>
        </p:spPr>
        <p:txBody>
          <a:bodyPr wrap="square" lIns="0" tIns="0" rIns="0" bIns="0" rtlCol="0" anchor="t"/>
          <a:lstStyle/>
          <a:p>
            <a:pPr indent="0" marL="0">
              <a:buNone/>
            </a:pPr>
            <a:r>
              <a:rPr lang="en-US" sz="2900" b="1" dirty="0">
                <a:solidFill>
                  <a:srgbClr val="0E1D28"/>
                </a:solidFill>
                <a:latin typeface="Cambria" pitchFamily="34" charset="0"/>
                <a:ea typeface="Cambria" pitchFamily="34" charset="-122"/>
                <a:cs typeface="Cambria" pitchFamily="34" charset="-120"/>
              </a:rPr>
              <a:t>La charge estimée : 119 jours-homme</a:t>
            </a:r>
            <a:endParaRPr lang="en-US" sz="2900" dirty="0"/>
          </a:p>
        </p:txBody>
      </p:sp>
      <p:sp>
        <p:nvSpPr>
          <p:cNvPr id="5" name="Shape 2"/>
          <p:cNvSpPr/>
          <p:nvPr/>
        </p:nvSpPr>
        <p:spPr>
          <a:xfrm>
            <a:off x="10801807" y="384048"/>
            <a:ext cx="822960" cy="310896"/>
          </a:xfrm>
          <a:prstGeom prst="roundRect">
            <a:avLst>
              <a:gd name="adj" fmla="val 17647"/>
            </a:avLst>
          </a:prstGeom>
          <a:solidFill>
            <a:srgbClr val="AE3F2C"/>
          </a:solidFill>
          <a:ln w="9525">
            <a:solidFill>
              <a:srgbClr val="AE3F2C"/>
            </a:solidFill>
            <a:prstDash val="solid"/>
          </a:ln>
        </p:spPr>
      </p:sp>
      <p:sp>
        <p:nvSpPr>
          <p:cNvPr id="6" name="Text 3"/>
          <p:cNvSpPr/>
          <p:nvPr/>
        </p:nvSpPr>
        <p:spPr>
          <a:xfrm>
            <a:off x="10801807" y="384048"/>
            <a:ext cx="82296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C3.1</a:t>
            </a:r>
            <a:endParaRPr lang="en-US" sz="1000" dirty="0"/>
          </a:p>
        </p:txBody>
      </p:sp>
      <p:sp>
        <p:nvSpPr>
          <p:cNvPr id="7" name="Text 4"/>
          <p:cNvSpPr/>
          <p:nvPr/>
        </p:nvSpPr>
        <p:spPr>
          <a:xfrm>
            <a:off x="566928" y="1444752"/>
            <a:ext cx="4572000" cy="201168"/>
          </a:xfrm>
          <a:prstGeom prst="rect">
            <a:avLst/>
          </a:prstGeom>
          <a:noFill/>
          <a:ln/>
        </p:spPr>
        <p:txBody>
          <a:bodyPr wrap="square" lIns="0" tIns="0" rIns="0" bIns="0" rtlCol="0" anchor="ctr"/>
          <a:lstStyle/>
          <a:p>
            <a:pPr indent="0" marL="0">
              <a:buNone/>
            </a:pPr>
            <a:r>
              <a:rPr lang="en-US" sz="900" b="1" spc="120" kern="0" dirty="0">
                <a:solidFill>
                  <a:srgbClr val="1F5468"/>
                </a:solidFill>
                <a:latin typeface="Courier New" pitchFamily="34" charset="0"/>
                <a:ea typeface="Courier New" pitchFamily="34" charset="-122"/>
                <a:cs typeface="Courier New" pitchFamily="34" charset="-120"/>
              </a:rPr>
              <a:t>ESTIMATION PAR LOT, EN JOURS-HOMME</a:t>
            </a:r>
            <a:endParaRPr lang="en-US" sz="900" dirty="0"/>
          </a:p>
        </p:txBody>
      </p:sp>
      <p:graphicFrame>
        <p:nvGraphicFramePr>
          <p:cNvPr id="8" name="Chart 0" descr=""/>
          <p:cNvGraphicFramePr/>
          <p:nvPr/>
        </p:nvGraphicFramePr>
        <p:xfrm>
          <a:off x="475488" y="1700784"/>
          <a:ext cx="6492240" cy="3401568"/>
        </p:xfrm>
        <a:graphic xmlns:a="http://schemas.openxmlformats.org/drawingml/2006/main">
          <a:graphicData uri="http://schemas.openxmlformats.org/drawingml/2006/chart">
            <c:chart xmlns:c="http://schemas.openxmlformats.org/drawingml/2006/chart" r:id="rId1"/>
          </a:graphicData>
        </a:graphic>
      </p:graphicFrame>
      <p:sp>
        <p:nvSpPr>
          <p:cNvPr id="9" name="Shape 5"/>
          <p:cNvSpPr/>
          <p:nvPr/>
        </p:nvSpPr>
        <p:spPr>
          <a:xfrm>
            <a:off x="566928" y="5230368"/>
            <a:ext cx="6400800" cy="969264"/>
          </a:xfrm>
          <a:prstGeom prst="roundRect">
            <a:avLst>
              <a:gd name="adj" fmla="val 3302"/>
            </a:avLst>
          </a:prstGeom>
          <a:solidFill>
            <a:srgbClr val="F1F5F7"/>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10" name="Text 6"/>
          <p:cNvSpPr/>
          <p:nvPr/>
        </p:nvSpPr>
        <p:spPr>
          <a:xfrm>
            <a:off x="786384" y="5394960"/>
            <a:ext cx="5961888" cy="292608"/>
          </a:xfrm>
          <a:prstGeom prst="rect">
            <a:avLst/>
          </a:prstGeom>
          <a:noFill/>
          <a:ln/>
        </p:spPr>
        <p:txBody>
          <a:bodyPr wrap="square" lIns="0" tIns="0" rIns="0" bIns="0" rtlCol="0" anchor="ctr"/>
          <a:lstStyle/>
          <a:p>
            <a:pPr indent="0" marL="0">
              <a:buNone/>
            </a:pPr>
            <a:r>
              <a:rPr lang="en-US" sz="1400" b="1" dirty="0">
                <a:solidFill>
                  <a:srgbClr val="0E1D28"/>
                </a:solidFill>
                <a:latin typeface="Calibri" pitchFamily="34" charset="0"/>
                <a:ea typeface="Calibri" pitchFamily="34" charset="-122"/>
                <a:cs typeface="Calibri" pitchFamily="34" charset="-120"/>
              </a:rPr>
              <a:t>Le coefficient de risque, lot par lot</a:t>
            </a:r>
            <a:endParaRPr lang="en-US" sz="1400" dirty="0"/>
          </a:p>
        </p:txBody>
      </p:sp>
      <p:sp>
        <p:nvSpPr>
          <p:cNvPr id="11" name="Text 7"/>
          <p:cNvSpPr/>
          <p:nvPr/>
        </p:nvSpPr>
        <p:spPr>
          <a:xfrm>
            <a:off x="786384" y="5742432"/>
            <a:ext cx="5961888" cy="274320"/>
          </a:xfrm>
          <a:prstGeom prst="rect">
            <a:avLst/>
          </a:prstGeom>
          <a:noFill/>
          <a:ln/>
        </p:spPr>
        <p:txBody>
          <a:bodyPr wrap="square" lIns="0" tIns="0" rIns="0" bIns="0" rtlCol="0" anchor="t"/>
          <a:lstStyle/>
          <a:p>
            <a:pPr marL="177800" indent="-177800">
              <a:lnSpc>
                <a:spcPct val="105000"/>
              </a:lnSpc>
              <a:spcAft>
                <a:spcPts val="400"/>
              </a:spcAft>
              <a:buSzPct val="100000"/>
              <a:buChar char="•"/>
            </a:pPr>
            <a:r>
              <a:rPr lang="en-US" sz="1200" dirty="0">
                <a:solidFill>
                  <a:srgbClr val="17303F"/>
                </a:solidFill>
                <a:latin typeface="Calibri" pitchFamily="34" charset="0"/>
                <a:ea typeface="Calibri" pitchFamily="34" charset="-122"/>
                <a:cs typeface="Calibri" pitchFamily="34" charset="-120"/>
              </a:rPr>
              <a:t>Marge ajoutée à la charge brute, proportionnelle à l'incertitude technique du lot.</a:t>
            </a:r>
            <a:endParaRPr lang="en-US" sz="1200" dirty="0"/>
          </a:p>
          <a:p>
            <a:pPr marL="177800" indent="-177800">
              <a:lnSpc>
                <a:spcPct val="105000"/>
              </a:lnSpc>
              <a:spcAft>
                <a:spcPts val="400"/>
              </a:spcAft>
              <a:buSzPct val="100000"/>
              <a:buChar char="•"/>
            </a:pPr>
            <a:r>
              <a:rPr lang="en-US" sz="1200" dirty="0">
                <a:solidFill>
                  <a:srgbClr val="17303F"/>
                </a:solidFill>
                <a:latin typeface="Calibri" pitchFamily="34" charset="0"/>
                <a:ea typeface="Calibri" pitchFamily="34" charset="-122"/>
                <a:cs typeface="Calibri" pitchFamily="34" charset="-120"/>
              </a:rPr>
              <a:t>0 % sur EP01 · 10 % sur EP02 et EP05 · 20 % sur EP03 et EP06 · 25 % sur EP04.</a:t>
            </a:r>
            <a:endParaRPr lang="en-US" sz="1200" dirty="0"/>
          </a:p>
        </p:txBody>
      </p:sp>
      <p:sp>
        <p:nvSpPr>
          <p:cNvPr id="12" name="Text 8"/>
          <p:cNvSpPr/>
          <p:nvPr/>
        </p:nvSpPr>
        <p:spPr>
          <a:xfrm>
            <a:off x="7287768" y="1426464"/>
            <a:ext cx="4334256" cy="219456"/>
          </a:xfrm>
          <a:prstGeom prst="rect">
            <a:avLst/>
          </a:prstGeom>
          <a:noFill/>
          <a:ln/>
        </p:spPr>
        <p:txBody>
          <a:bodyPr wrap="square" lIns="0" tIns="0" rIns="0" bIns="0" rtlCol="0" anchor="ctr"/>
          <a:lstStyle/>
          <a:p>
            <a:pPr indent="0" marL="0">
              <a:buNone/>
            </a:pPr>
            <a:r>
              <a:rPr lang="en-US" sz="900" b="1" spc="120" kern="0" dirty="0">
                <a:solidFill>
                  <a:srgbClr val="1F5468"/>
                </a:solidFill>
                <a:latin typeface="Courier New" pitchFamily="34" charset="0"/>
                <a:ea typeface="Courier New" pitchFamily="34" charset="-122"/>
                <a:cs typeface="Courier New" pitchFamily="34" charset="-120"/>
              </a:rPr>
              <a:t>JIRA — AVANCEMENT PAR LOT</a:t>
            </a:r>
            <a:endParaRPr lang="en-US" sz="900" dirty="0"/>
          </a:p>
        </p:txBody>
      </p:sp>
      <p:sp>
        <p:nvSpPr>
          <p:cNvPr id="13" name="Shape 9"/>
          <p:cNvSpPr/>
          <p:nvPr/>
        </p:nvSpPr>
        <p:spPr>
          <a:xfrm>
            <a:off x="7242048" y="1655064"/>
            <a:ext cx="4425696" cy="2612243"/>
          </a:xfrm>
          <a:prstGeom prst="rect">
            <a:avLst/>
          </a:prstGeom>
          <a:solidFill>
            <a:srgbClr val="E6EDF1"/>
          </a:solidFill>
          <a:ln w="9525">
            <a:solidFill>
              <a:srgbClr val="D5DFE5"/>
            </a:solidFill>
            <a:prstDash val="solid"/>
          </a:ln>
          <a:effectLst>
            <a:outerShdw sx="100000" sy="100000" kx="0" ky="0" algn="bl" rotWithShape="0" blurRad="177800" dist="38100" dir="5400000">
              <a:srgbClr val="0E1D28">
                <a:alpha val="10000"/>
              </a:srgbClr>
            </a:outerShdw>
          </a:effectLst>
        </p:spPr>
      </p:sp>
      <p:pic>
        <p:nvPicPr>
          <p:cNvPr id="14" name="Image 0" descr="/home/claude/shots/C-epic-avancement.png">    </p:cNvPr>
          <p:cNvPicPr>
            <a:picLocks noChangeAspect="1"/>
          </p:cNvPicPr>
          <p:nvPr/>
        </p:nvPicPr>
        <p:blipFill>
          <a:blip r:embed="rId2"/>
          <a:stretch>
            <a:fillRect/>
          </a:stretch>
        </p:blipFill>
        <p:spPr>
          <a:xfrm>
            <a:off x="7287768" y="1700784"/>
            <a:ext cx="4334256" cy="2520803"/>
          </a:xfrm>
          <a:prstGeom prst="rect">
            <a:avLst/>
          </a:prstGeom>
        </p:spPr>
      </p:pic>
      <p:sp>
        <p:nvSpPr>
          <p:cNvPr id="15" name="Shape 10"/>
          <p:cNvSpPr/>
          <p:nvPr/>
        </p:nvSpPr>
        <p:spPr>
          <a:xfrm>
            <a:off x="7287768" y="4553712"/>
            <a:ext cx="4334256" cy="1645920"/>
          </a:xfrm>
          <a:prstGeom prst="roundRect">
            <a:avLst>
              <a:gd name="adj" fmla="val 1944"/>
            </a:avLst>
          </a:prstGeom>
          <a:solidFill>
            <a:srgbClr val="F1F5F7"/>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16" name="Text 11"/>
          <p:cNvSpPr/>
          <p:nvPr/>
        </p:nvSpPr>
        <p:spPr>
          <a:xfrm>
            <a:off x="7507224" y="4718304"/>
            <a:ext cx="3895344" cy="292608"/>
          </a:xfrm>
          <a:prstGeom prst="rect">
            <a:avLst/>
          </a:prstGeom>
          <a:noFill/>
          <a:ln/>
        </p:spPr>
        <p:txBody>
          <a:bodyPr wrap="square" lIns="0" tIns="0" rIns="0" bIns="0" rtlCol="0" anchor="ctr"/>
          <a:lstStyle/>
          <a:p>
            <a:pPr indent="0" marL="0">
              <a:buNone/>
            </a:pPr>
            <a:r>
              <a:rPr lang="en-US" sz="1400" b="1" dirty="0">
                <a:solidFill>
                  <a:srgbClr val="0E1D28"/>
                </a:solidFill>
                <a:latin typeface="Calibri" pitchFamily="34" charset="0"/>
                <a:ea typeface="Calibri" pitchFamily="34" charset="-122"/>
                <a:cs typeface="Calibri" pitchFamily="34" charset="-120"/>
              </a:rPr>
              <a:t>Ce que la vue Jira ajoute</a:t>
            </a:r>
            <a:endParaRPr lang="en-US" sz="1400" dirty="0"/>
          </a:p>
        </p:txBody>
      </p:sp>
      <p:sp>
        <p:nvSpPr>
          <p:cNvPr id="17" name="Text 12"/>
          <p:cNvSpPr/>
          <p:nvPr/>
        </p:nvSpPr>
        <p:spPr>
          <a:xfrm>
            <a:off x="7507224" y="5065776"/>
            <a:ext cx="3895344" cy="950976"/>
          </a:xfrm>
          <a:prstGeom prst="rect">
            <a:avLst/>
          </a:prstGeom>
          <a:noFill/>
          <a:ln/>
        </p:spPr>
        <p:txBody>
          <a:bodyPr wrap="square" lIns="0" tIns="0" rIns="0" bIns="0" rtlCol="0" anchor="t"/>
          <a:lstStyle/>
          <a:p>
            <a:pPr marL="177800" indent="-177800">
              <a:lnSpc>
                <a:spcPct val="105000"/>
              </a:lnSpc>
              <a:spcAft>
                <a:spcPts val="400"/>
              </a:spcAft>
              <a:buSzPct val="100000"/>
              <a:buChar char="•"/>
            </a:pPr>
            <a:r>
              <a:rPr lang="en-US" sz="1350" dirty="0">
                <a:solidFill>
                  <a:srgbClr val="17303F"/>
                </a:solidFill>
                <a:latin typeface="Calibri" pitchFamily="34" charset="0"/>
                <a:ea typeface="Calibri" pitchFamily="34" charset="-122"/>
                <a:cs typeface="Calibri" pitchFamily="34" charset="-120"/>
              </a:rPr>
              <a:t>EP05 91 % · EP06 58 % · conception 13 %.</a:t>
            </a:r>
            <a:endParaRPr lang="en-US" sz="1350" dirty="0"/>
          </a:p>
          <a:p>
            <a:pPr marL="177800" indent="-177800">
              <a:lnSpc>
                <a:spcPct val="105000"/>
              </a:lnSpc>
              <a:spcAft>
                <a:spcPts val="400"/>
              </a:spcAft>
              <a:buSzPct val="100000"/>
              <a:buChar char="•"/>
            </a:pPr>
            <a:r>
              <a:rPr lang="en-US" sz="1350" dirty="0">
                <a:solidFill>
                  <a:srgbClr val="17303F"/>
                </a:solidFill>
                <a:latin typeface="Calibri" pitchFamily="34" charset="0"/>
                <a:ea typeface="Calibri" pitchFamily="34" charset="-122"/>
                <a:cs typeface="Calibri" pitchFamily="34" charset="-120"/>
              </a:rPr>
              <a:t>Le découpage est mesuré en continu, lot par lot.</a:t>
            </a:r>
            <a:endParaRPr lang="en-US" sz="1350" dirty="0"/>
          </a:p>
        </p:txBody>
      </p:sp>
      <p:sp>
        <p:nvSpPr>
          <p:cNvPr id="18" name="Text 13"/>
          <p:cNvSpPr/>
          <p:nvPr/>
        </p:nvSpPr>
        <p:spPr>
          <a:xfrm>
            <a:off x="10984687" y="6419088"/>
            <a:ext cx="640080" cy="256032"/>
          </a:xfrm>
          <a:prstGeom prst="rect">
            <a:avLst/>
          </a:prstGeom>
          <a:noFill/>
          <a:ln/>
        </p:spPr>
        <p:txBody>
          <a:bodyPr wrap="square" lIns="0" tIns="0" rIns="0" bIns="0" rtlCol="0" anchor="ctr"/>
          <a:lstStyle/>
          <a:p>
            <a:pPr algn="r" indent="0" marL="0">
              <a:buNone/>
            </a:pPr>
            <a:r>
              <a:rPr lang="en-US" sz="1000" dirty="0">
                <a:solidFill>
                  <a:srgbClr val="9FB2BD"/>
                </a:solidFill>
                <a:latin typeface="Courier New" pitchFamily="34" charset="0"/>
                <a:ea typeface="Courier New" pitchFamily="34" charset="-122"/>
                <a:cs typeface="Courier New"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66928" y="384048"/>
            <a:ext cx="7740487" cy="219456"/>
          </a:xfrm>
          <a:prstGeom prst="rect">
            <a:avLst/>
          </a:prstGeom>
          <a:noFill/>
          <a:ln/>
        </p:spPr>
        <p:txBody>
          <a:bodyPr wrap="square" lIns="0" tIns="0" rIns="0" bIns="0" rtlCol="0" anchor="ctr"/>
          <a:lstStyle/>
          <a:p>
            <a:pPr indent="0" marL="0">
              <a:buNone/>
            </a:pPr>
            <a:r>
              <a:rPr lang="en-US" sz="1050" b="1" spc="160" kern="0" dirty="0">
                <a:solidFill>
                  <a:srgbClr val="1F5468"/>
                </a:solidFill>
                <a:latin typeface="Courier New" pitchFamily="34" charset="0"/>
                <a:ea typeface="Courier New" pitchFamily="34" charset="-122"/>
                <a:cs typeface="Courier New" pitchFamily="34" charset="-120"/>
              </a:rPr>
              <a:t>PARTIE 1 · PLANIFIER</a:t>
            </a:r>
            <a:endParaRPr lang="en-US" sz="1050" dirty="0"/>
          </a:p>
        </p:txBody>
      </p:sp>
      <p:sp>
        <p:nvSpPr>
          <p:cNvPr id="4" name="Text 1"/>
          <p:cNvSpPr/>
          <p:nvPr/>
        </p:nvSpPr>
        <p:spPr>
          <a:xfrm>
            <a:off x="566928" y="621792"/>
            <a:ext cx="8403958" cy="731520"/>
          </a:xfrm>
          <a:prstGeom prst="rect">
            <a:avLst/>
          </a:prstGeom>
          <a:noFill/>
          <a:ln/>
        </p:spPr>
        <p:txBody>
          <a:bodyPr wrap="square" lIns="0" tIns="0" rIns="0" bIns="0" rtlCol="0" anchor="t"/>
          <a:lstStyle/>
          <a:p>
            <a:pPr indent="0" marL="0">
              <a:buNone/>
            </a:pPr>
            <a:r>
              <a:rPr lang="en-US" sz="2900" b="1" dirty="0">
                <a:solidFill>
                  <a:srgbClr val="0E1D28"/>
                </a:solidFill>
                <a:latin typeface="Cambria" pitchFamily="34" charset="0"/>
                <a:ea typeface="Cambria" pitchFamily="34" charset="-122"/>
                <a:cs typeface="Cambria" pitchFamily="34" charset="-120"/>
              </a:rPr>
              <a:t>Les ressources nécessaires</a:t>
            </a:r>
            <a:endParaRPr lang="en-US" sz="2900" dirty="0"/>
          </a:p>
        </p:txBody>
      </p:sp>
      <p:sp>
        <p:nvSpPr>
          <p:cNvPr id="5" name="Shape 2"/>
          <p:cNvSpPr/>
          <p:nvPr/>
        </p:nvSpPr>
        <p:spPr>
          <a:xfrm>
            <a:off x="10801807" y="384048"/>
            <a:ext cx="822960" cy="310896"/>
          </a:xfrm>
          <a:prstGeom prst="roundRect">
            <a:avLst>
              <a:gd name="adj" fmla="val 17647"/>
            </a:avLst>
          </a:prstGeom>
          <a:solidFill>
            <a:srgbClr val="AE3F2C"/>
          </a:solidFill>
          <a:ln w="9525">
            <a:solidFill>
              <a:srgbClr val="AE3F2C"/>
            </a:solidFill>
            <a:prstDash val="solid"/>
          </a:ln>
        </p:spPr>
      </p:sp>
      <p:sp>
        <p:nvSpPr>
          <p:cNvPr id="6" name="Text 3"/>
          <p:cNvSpPr/>
          <p:nvPr/>
        </p:nvSpPr>
        <p:spPr>
          <a:xfrm>
            <a:off x="10801807" y="384048"/>
            <a:ext cx="82296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C3.1</a:t>
            </a:r>
            <a:endParaRPr lang="en-US" sz="1000" dirty="0"/>
          </a:p>
        </p:txBody>
      </p:sp>
      <p:sp>
        <p:nvSpPr>
          <p:cNvPr id="7" name="Shape 4"/>
          <p:cNvSpPr/>
          <p:nvPr/>
        </p:nvSpPr>
        <p:spPr>
          <a:xfrm>
            <a:off x="9777679" y="384048"/>
            <a:ext cx="914400" cy="310896"/>
          </a:xfrm>
          <a:prstGeom prst="roundRect">
            <a:avLst>
              <a:gd name="adj" fmla="val 17647"/>
            </a:avLst>
          </a:prstGeom>
          <a:solidFill>
            <a:srgbClr val="E6EDF1"/>
          </a:solidFill>
          <a:ln w="9525">
            <a:solidFill>
              <a:srgbClr val="D5DFE5"/>
            </a:solidFill>
            <a:prstDash val="solid"/>
          </a:ln>
        </p:spPr>
      </p:sp>
      <p:sp>
        <p:nvSpPr>
          <p:cNvPr id="8" name="Text 5"/>
          <p:cNvSpPr/>
          <p:nvPr/>
        </p:nvSpPr>
        <p:spPr>
          <a:xfrm>
            <a:off x="9777679" y="384048"/>
            <a:ext cx="914400" cy="310896"/>
          </a:xfrm>
          <a:prstGeom prst="rect">
            <a:avLst/>
          </a:prstGeom>
          <a:noFill/>
          <a:ln/>
        </p:spPr>
        <p:txBody>
          <a:bodyPr wrap="square" lIns="0" tIns="0" rIns="0" bIns="0" rtlCol="0" anchor="ctr"/>
          <a:lstStyle/>
          <a:p>
            <a:pPr algn="ctr" indent="0" marL="0">
              <a:buNone/>
            </a:pPr>
            <a:r>
              <a:rPr lang="en-US" sz="1000" b="1" dirty="0">
                <a:solidFill>
                  <a:srgbClr val="1F5468"/>
                </a:solidFill>
                <a:latin typeface="Courier New" pitchFamily="34" charset="0"/>
                <a:ea typeface="Courier New" pitchFamily="34" charset="-122"/>
                <a:cs typeface="Courier New" pitchFamily="34" charset="-120"/>
              </a:rPr>
              <a:t>CIBLE</a:t>
            </a:r>
            <a:endParaRPr lang="en-US" sz="1000" dirty="0"/>
          </a:p>
        </p:txBody>
      </p:sp>
      <p:sp>
        <p:nvSpPr>
          <p:cNvPr id="9" name="Text 6"/>
          <p:cNvSpPr/>
          <p:nvPr/>
        </p:nvSpPr>
        <p:spPr>
          <a:xfrm>
            <a:off x="566928" y="1645920"/>
            <a:ext cx="6949440" cy="244996"/>
          </a:xfrm>
          <a:prstGeom prst="rect">
            <a:avLst/>
          </a:prstGeom>
          <a:noFill/>
          <a:ln/>
        </p:spPr>
        <p:txBody>
          <a:bodyPr wrap="square" lIns="0" tIns="0" rIns="0" bIns="0" rtlCol="0" anchor="ctr"/>
          <a:lstStyle/>
          <a:p>
            <a:pPr indent="0" marL="0">
              <a:buNone/>
            </a:pPr>
            <a:r>
              <a:rPr lang="en-US" sz="950" b="1" spc="130" kern="0" dirty="0">
                <a:solidFill>
                  <a:srgbClr val="1F5468"/>
                </a:solidFill>
                <a:latin typeface="Courier New" pitchFamily="34" charset="0"/>
                <a:ea typeface="Courier New" pitchFamily="34" charset="-122"/>
                <a:cs typeface="Courier New" pitchFamily="34" charset="-120"/>
              </a:rPr>
              <a:t>RESSOURCES HUMAINES — ÉQUIPE CIBLE</a:t>
            </a:r>
            <a:endParaRPr lang="en-US" sz="9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6928" y="1931749"/>
          <a:ext cx="6949440" cy="914400"/>
        </p:xfrm>
        <a:graphic>
          <a:graphicData uri="http://schemas.openxmlformats.org/drawingml/2006/table">
            <a:tbl>
              <a:tblPr/>
              <a:tblGrid>
                <a:gridCol w="2743200"/>
                <a:gridCol w="713232"/>
                <a:gridCol w="713232"/>
                <a:gridCol w="950976"/>
                <a:gridCol w="1828800"/>
              </a:tblGrid>
              <a:tr h="592074">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Profil</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0E1D28"/>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TJM</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0E1D28"/>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Jours</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0E1D28"/>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Coût</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0E1D28"/>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Périmètre porté</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0E1D28"/>
                    </a:solidFill>
                  </a:tcPr>
                </a:tc>
              </a:tr>
              <a:tr h="592074">
                <a:tc>
                  <a:txBody>
                    <a:bodyPr/>
                    <a:lstStyle/>
                    <a:p>
                      <a:pPr indent="0" marL="0">
                        <a:buNone/>
                      </a:pPr>
                      <a:r>
                        <a:rPr lang="en-US" sz="1250" dirty="0">
                          <a:solidFill>
                            <a:srgbClr val="17303F"/>
                          </a:solidFill>
                          <a:latin typeface="Calibri" pitchFamily="34" charset="0"/>
                          <a:ea typeface="Calibri" pitchFamily="34" charset="-122"/>
                          <a:cs typeface="Calibri" pitchFamily="34" charset="-120"/>
                        </a:rPr>
                        <a:t>Lead Developer / Architecte</a:t>
                      </a:r>
                      <a:endParaRPr lang="en-US" sz="12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250" dirty="0">
                          <a:solidFill>
                            <a:srgbClr val="17303F"/>
                          </a:solidFill>
                          <a:latin typeface="Calibri" pitchFamily="34" charset="0"/>
                          <a:ea typeface="Calibri" pitchFamily="34" charset="-122"/>
                          <a:cs typeface="Calibri" pitchFamily="34" charset="-120"/>
                        </a:rPr>
                        <a:t>600 €</a:t>
                      </a:r>
                      <a:endParaRPr lang="en-US" sz="12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250" dirty="0">
                          <a:solidFill>
                            <a:srgbClr val="17303F"/>
                          </a:solidFill>
                          <a:latin typeface="Calibri" pitchFamily="34" charset="0"/>
                          <a:ea typeface="Calibri" pitchFamily="34" charset="-122"/>
                          <a:cs typeface="Calibri" pitchFamily="34" charset="-120"/>
                        </a:rPr>
                        <a:t>60 j</a:t>
                      </a:r>
                      <a:endParaRPr lang="en-US" sz="12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250" dirty="0">
                          <a:solidFill>
                            <a:srgbClr val="17303F"/>
                          </a:solidFill>
                          <a:latin typeface="Calibri" pitchFamily="34" charset="0"/>
                          <a:ea typeface="Calibri" pitchFamily="34" charset="-122"/>
                          <a:cs typeface="Calibri" pitchFamily="34" charset="-120"/>
                        </a:rPr>
                        <a:t>36 000 €</a:t>
                      </a:r>
                      <a:endParaRPr lang="en-US" sz="12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250" dirty="0">
                          <a:solidFill>
                            <a:srgbClr val="17303F"/>
                          </a:solidFill>
                          <a:latin typeface="Calibri" pitchFamily="34" charset="0"/>
                          <a:ea typeface="Calibri" pitchFamily="34" charset="-122"/>
                          <a:cs typeface="Calibri" pitchFamily="34" charset="-120"/>
                        </a:rPr>
                        <a:t>Architecture, sécurité, matching, pilotage</a:t>
                      </a:r>
                      <a:endParaRPr lang="en-US" sz="12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r>
              <a:tr h="592074">
                <a:tc>
                  <a:txBody>
                    <a:bodyPr/>
                    <a:lstStyle/>
                    <a:p>
                      <a:pPr indent="0" marL="0">
                        <a:buNone/>
                      </a:pPr>
                      <a:r>
                        <a:rPr lang="en-US" sz="1250" dirty="0">
                          <a:solidFill>
                            <a:srgbClr val="17303F"/>
                          </a:solidFill>
                          <a:latin typeface="Calibri" pitchFamily="34" charset="0"/>
                          <a:ea typeface="Calibri" pitchFamily="34" charset="-122"/>
                          <a:cs typeface="Calibri" pitchFamily="34" charset="-120"/>
                        </a:rPr>
                        <a:t>Développeur Full-Stack</a:t>
                      </a:r>
                      <a:endParaRPr lang="en-US" sz="12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250" dirty="0">
                          <a:solidFill>
                            <a:srgbClr val="17303F"/>
                          </a:solidFill>
                          <a:latin typeface="Calibri" pitchFamily="34" charset="0"/>
                          <a:ea typeface="Calibri" pitchFamily="34" charset="-122"/>
                          <a:cs typeface="Calibri" pitchFamily="34" charset="-120"/>
                        </a:rPr>
                        <a:t>400 €</a:t>
                      </a:r>
                      <a:endParaRPr lang="en-US" sz="12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250" dirty="0">
                          <a:solidFill>
                            <a:srgbClr val="17303F"/>
                          </a:solidFill>
                          <a:latin typeface="Calibri" pitchFamily="34" charset="0"/>
                          <a:ea typeface="Calibri" pitchFamily="34" charset="-122"/>
                          <a:cs typeface="Calibri" pitchFamily="34" charset="-120"/>
                        </a:rPr>
                        <a:t>80 j</a:t>
                      </a:r>
                      <a:endParaRPr lang="en-US" sz="12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250" dirty="0">
                          <a:solidFill>
                            <a:srgbClr val="17303F"/>
                          </a:solidFill>
                          <a:latin typeface="Calibri" pitchFamily="34" charset="0"/>
                          <a:ea typeface="Calibri" pitchFamily="34" charset="-122"/>
                          <a:cs typeface="Calibri" pitchFamily="34" charset="-120"/>
                        </a:rPr>
                        <a:t>32 000 €</a:t>
                      </a:r>
                      <a:endParaRPr lang="en-US" sz="12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250" dirty="0">
                          <a:solidFill>
                            <a:srgbClr val="17303F"/>
                          </a:solidFill>
                          <a:latin typeface="Calibri" pitchFamily="34" charset="0"/>
                          <a:ea typeface="Calibri" pitchFamily="34" charset="-122"/>
                          <a:cs typeface="Calibri" pitchFamily="34" charset="-120"/>
                        </a:rPr>
                        <a:t>Monolithe, frontend web, tests</a:t>
                      </a:r>
                      <a:endParaRPr lang="en-US" sz="12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r>
              <a:tr h="592074">
                <a:tc>
                  <a:txBody>
                    <a:bodyPr/>
                    <a:lstStyle/>
                    <a:p>
                      <a:pPr indent="0" marL="0">
                        <a:buNone/>
                      </a:pPr>
                      <a:r>
                        <a:rPr lang="en-US" sz="1250" dirty="0">
                          <a:solidFill>
                            <a:srgbClr val="17303F"/>
                          </a:solidFill>
                          <a:latin typeface="Calibri" pitchFamily="34" charset="0"/>
                          <a:ea typeface="Calibri" pitchFamily="34" charset="-122"/>
                          <a:cs typeface="Calibri" pitchFamily="34" charset="-120"/>
                        </a:rPr>
                        <a:t>UX/UI Designer</a:t>
                      </a:r>
                      <a:endParaRPr lang="en-US" sz="12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250" dirty="0">
                          <a:solidFill>
                            <a:srgbClr val="17303F"/>
                          </a:solidFill>
                          <a:latin typeface="Calibri" pitchFamily="34" charset="0"/>
                          <a:ea typeface="Calibri" pitchFamily="34" charset="-122"/>
                          <a:cs typeface="Calibri" pitchFamily="34" charset="-120"/>
                        </a:rPr>
                        <a:t>450 €</a:t>
                      </a:r>
                      <a:endParaRPr lang="en-US" sz="12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250" dirty="0">
                          <a:solidFill>
                            <a:srgbClr val="17303F"/>
                          </a:solidFill>
                          <a:latin typeface="Calibri" pitchFamily="34" charset="0"/>
                          <a:ea typeface="Calibri" pitchFamily="34" charset="-122"/>
                          <a:cs typeface="Calibri" pitchFamily="34" charset="-120"/>
                        </a:rPr>
                        <a:t>20 j</a:t>
                      </a:r>
                      <a:endParaRPr lang="en-US" sz="12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250" dirty="0">
                          <a:solidFill>
                            <a:srgbClr val="17303F"/>
                          </a:solidFill>
                          <a:latin typeface="Calibri" pitchFamily="34" charset="0"/>
                          <a:ea typeface="Calibri" pitchFamily="34" charset="-122"/>
                          <a:cs typeface="Calibri" pitchFamily="34" charset="-120"/>
                        </a:rPr>
                        <a:t>9 000 €</a:t>
                      </a:r>
                      <a:endParaRPr lang="en-US" sz="12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250" dirty="0">
                          <a:solidFill>
                            <a:srgbClr val="17303F"/>
                          </a:solidFill>
                          <a:latin typeface="Calibri" pitchFamily="34" charset="0"/>
                          <a:ea typeface="Calibri" pitchFamily="34" charset="-122"/>
                          <a:cs typeface="Calibri" pitchFamily="34" charset="-120"/>
                        </a:rPr>
                        <a:t>Parcours, design system, Armurerie</a:t>
                      </a:r>
                      <a:endParaRPr lang="en-US" sz="12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r>
              <a:tr h="592074">
                <a:tc>
                  <a:txBody>
                    <a:bodyPr/>
                    <a:lstStyle/>
                    <a:p>
                      <a:pPr indent="0" marL="0">
                        <a:buNone/>
                      </a:pPr>
                      <a:r>
                        <a:rPr lang="en-US" sz="1250" b="1" dirty="0">
                          <a:solidFill>
                            <a:srgbClr val="0E1D28"/>
                          </a:solidFill>
                          <a:latin typeface="Calibri" pitchFamily="34" charset="0"/>
                          <a:ea typeface="Calibri" pitchFamily="34" charset="-122"/>
                          <a:cs typeface="Calibri" pitchFamily="34" charset="-120"/>
                        </a:rPr>
                        <a:t>TOTAL BUILD</a:t>
                      </a:r>
                      <a:endParaRPr lang="en-US" sz="12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endParaRPr lang="en-US" sz="12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250" b="1" dirty="0">
                          <a:solidFill>
                            <a:srgbClr val="0E1D28"/>
                          </a:solidFill>
                          <a:latin typeface="Calibri" pitchFamily="34" charset="0"/>
                          <a:ea typeface="Calibri" pitchFamily="34" charset="-122"/>
                          <a:cs typeface="Calibri" pitchFamily="34" charset="-120"/>
                        </a:rPr>
                        <a:t>160 j</a:t>
                      </a:r>
                      <a:endParaRPr lang="en-US" sz="12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250" b="1" dirty="0">
                          <a:solidFill>
                            <a:srgbClr val="0E1D28"/>
                          </a:solidFill>
                          <a:latin typeface="Calibri" pitchFamily="34" charset="0"/>
                          <a:ea typeface="Calibri" pitchFamily="34" charset="-122"/>
                          <a:cs typeface="Calibri" pitchFamily="34" charset="-120"/>
                        </a:rPr>
                        <a:t>77 000 €</a:t>
                      </a:r>
                      <a:endParaRPr lang="en-US" sz="12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050" i="1" dirty="0">
                          <a:solidFill>
                            <a:srgbClr val="5B6E7B"/>
                          </a:solidFill>
                          <a:latin typeface="Calibri" pitchFamily="34" charset="0"/>
                          <a:ea typeface="Calibri" pitchFamily="34" charset="-122"/>
                          <a:cs typeface="Calibri" pitchFamily="34" charset="-120"/>
                        </a:rPr>
                        <a:t>Le rôle DevOps est porté par le Lead en Lot 1</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r>
            </a:tbl>
          </a:graphicData>
        </a:graphic>
      </p:graphicFrame>
      <p:sp>
        <p:nvSpPr>
          <p:cNvPr id="11" name="Shape 7"/>
          <p:cNvSpPr/>
          <p:nvPr/>
        </p:nvSpPr>
        <p:spPr>
          <a:xfrm>
            <a:off x="7744968" y="1645920"/>
            <a:ext cx="3879799" cy="1898720"/>
          </a:xfrm>
          <a:prstGeom prst="roundRect">
            <a:avLst>
              <a:gd name="adj" fmla="val 1686"/>
            </a:avLst>
          </a:prstGeom>
          <a:solidFill>
            <a:srgbClr val="F1F5F7"/>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12" name="Text 8"/>
          <p:cNvSpPr/>
          <p:nvPr/>
        </p:nvSpPr>
        <p:spPr>
          <a:xfrm>
            <a:off x="7964424" y="1829667"/>
            <a:ext cx="3440887" cy="326662"/>
          </a:xfrm>
          <a:prstGeom prst="rect">
            <a:avLst/>
          </a:prstGeom>
          <a:noFill/>
          <a:ln/>
        </p:spPr>
        <p:txBody>
          <a:bodyPr wrap="square" lIns="0" tIns="0" rIns="0" bIns="0" rtlCol="0" anchor="ctr"/>
          <a:lstStyle/>
          <a:p>
            <a:pPr indent="0" marL="0">
              <a:buNone/>
            </a:pPr>
            <a:r>
              <a:rPr lang="en-US" sz="1450" b="1" dirty="0">
                <a:solidFill>
                  <a:srgbClr val="0E1D28"/>
                </a:solidFill>
                <a:latin typeface="Calibri" pitchFamily="34" charset="0"/>
                <a:ea typeface="Calibri" pitchFamily="34" charset="-122"/>
                <a:cs typeface="Calibri" pitchFamily="34" charset="-120"/>
              </a:rPr>
              <a:t>Ressources matérielles et techniques</a:t>
            </a:r>
            <a:endParaRPr lang="en-US" sz="1450" dirty="0"/>
          </a:p>
        </p:txBody>
      </p:sp>
      <p:sp>
        <p:nvSpPr>
          <p:cNvPr id="13" name="Text 9"/>
          <p:cNvSpPr/>
          <p:nvPr/>
        </p:nvSpPr>
        <p:spPr>
          <a:xfrm>
            <a:off x="7964424" y="2217578"/>
            <a:ext cx="3440887" cy="1122899"/>
          </a:xfrm>
          <a:prstGeom prst="rect">
            <a:avLst/>
          </a:prstGeom>
          <a:noFill/>
          <a:ln/>
        </p:spPr>
        <p:txBody>
          <a:bodyPr wrap="square" lIns="0" tIns="0" rIns="0" bIns="0" rtlCol="0" anchor="t"/>
          <a:lstStyle/>
          <a:p>
            <a:pPr marL="177800" indent="-177800">
              <a:lnSpc>
                <a:spcPct val="105000"/>
              </a:lnSpc>
              <a:spcAft>
                <a:spcPts val="400"/>
              </a:spcAft>
              <a:buSzPct val="100000"/>
              <a:buChar char="•"/>
            </a:pPr>
            <a:r>
              <a:rPr lang="en-US" sz="1350" dirty="0">
                <a:solidFill>
                  <a:srgbClr val="17303F"/>
                </a:solidFill>
                <a:latin typeface="Calibri" pitchFamily="34" charset="0"/>
                <a:ea typeface="Calibri" pitchFamily="34" charset="-122"/>
                <a:cs typeface="Calibri" pitchFamily="34" charset="-120"/>
              </a:rPr>
              <a:t>Dev, staging et production isolés, conteneurisés.</a:t>
            </a:r>
            <a:endParaRPr lang="en-US" sz="1350" dirty="0"/>
          </a:p>
          <a:p>
            <a:pPr marL="177800" indent="-177800">
              <a:lnSpc>
                <a:spcPct val="105000"/>
              </a:lnSpc>
              <a:spcAft>
                <a:spcPts val="400"/>
              </a:spcAft>
              <a:buSzPct val="100000"/>
              <a:buChar char="•"/>
            </a:pPr>
            <a:r>
              <a:rPr lang="en-US" sz="1350" dirty="0">
                <a:solidFill>
                  <a:srgbClr val="17303F"/>
                </a:solidFill>
                <a:latin typeface="Calibri" pitchFamily="34" charset="0"/>
                <a:ea typeface="Calibri" pitchFamily="34" charset="-122"/>
                <a:cs typeface="Calibri" pitchFamily="34" charset="-120"/>
              </a:rPr>
              <a:t>VM OVHcloud, registre d'images, chaîne d'intégration.</a:t>
            </a:r>
            <a:endParaRPr lang="en-US" sz="1350" dirty="0"/>
          </a:p>
          <a:p>
            <a:pPr marL="177800" indent="-177800">
              <a:lnSpc>
                <a:spcPct val="105000"/>
              </a:lnSpc>
              <a:spcAft>
                <a:spcPts val="400"/>
              </a:spcAft>
              <a:buSzPct val="100000"/>
              <a:buChar char="•"/>
            </a:pPr>
            <a:r>
              <a:rPr lang="en-US" sz="1350" dirty="0">
                <a:solidFill>
                  <a:srgbClr val="17303F"/>
                </a:solidFill>
                <a:latin typeface="Calibri" pitchFamily="34" charset="0"/>
                <a:ea typeface="Calibri" pitchFamily="34" charset="-122"/>
                <a:cs typeface="Calibri" pitchFamily="34" charset="-120"/>
              </a:rPr>
              <a:t>Stockage S3 et CDN pour les portfolios.</a:t>
            </a:r>
            <a:endParaRPr lang="en-US" sz="1350" dirty="0"/>
          </a:p>
        </p:txBody>
      </p:sp>
      <p:sp>
        <p:nvSpPr>
          <p:cNvPr id="14" name="Shape 10"/>
          <p:cNvSpPr/>
          <p:nvPr/>
        </p:nvSpPr>
        <p:spPr>
          <a:xfrm>
            <a:off x="7744968" y="3707971"/>
            <a:ext cx="3879799" cy="1939553"/>
          </a:xfrm>
          <a:prstGeom prst="roundRect">
            <a:avLst>
              <a:gd name="adj" fmla="val 1650"/>
            </a:avLst>
          </a:prstGeom>
          <a:solidFill>
            <a:srgbClr val="0E1D28"/>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15" name="Text 11"/>
          <p:cNvSpPr/>
          <p:nvPr/>
        </p:nvSpPr>
        <p:spPr>
          <a:xfrm>
            <a:off x="8019288" y="3891718"/>
            <a:ext cx="3108960" cy="244996"/>
          </a:xfrm>
          <a:prstGeom prst="rect">
            <a:avLst/>
          </a:prstGeom>
          <a:noFill/>
          <a:ln/>
        </p:spPr>
        <p:txBody>
          <a:bodyPr wrap="square" lIns="0" tIns="0" rIns="0" bIns="0" rtlCol="0" anchor="ctr"/>
          <a:lstStyle/>
          <a:p>
            <a:pPr indent="0" marL="0">
              <a:buNone/>
            </a:pPr>
            <a:r>
              <a:rPr lang="en-US" sz="950" b="1" spc="130" kern="0" dirty="0">
                <a:solidFill>
                  <a:srgbClr val="F0AE44"/>
                </a:solidFill>
                <a:latin typeface="Courier New" pitchFamily="34" charset="0"/>
                <a:ea typeface="Courier New" pitchFamily="34" charset="-122"/>
                <a:cs typeface="Courier New" pitchFamily="34" charset="-120"/>
              </a:rPr>
              <a:t>RESSOURCES FINANCIÈRES</a:t>
            </a:r>
            <a:endParaRPr lang="en-US" sz="950" dirty="0"/>
          </a:p>
        </p:txBody>
      </p:sp>
      <p:sp>
        <p:nvSpPr>
          <p:cNvPr id="16" name="Text 12"/>
          <p:cNvSpPr/>
          <p:nvPr/>
        </p:nvSpPr>
        <p:spPr>
          <a:xfrm>
            <a:off x="8019288" y="4177547"/>
            <a:ext cx="3108960" cy="673739"/>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88 400 €</a:t>
            </a:r>
            <a:endParaRPr lang="en-US" sz="4000" dirty="0"/>
          </a:p>
        </p:txBody>
      </p:sp>
      <p:sp>
        <p:nvSpPr>
          <p:cNvPr id="17" name="Text 13"/>
          <p:cNvSpPr/>
          <p:nvPr/>
        </p:nvSpPr>
        <p:spPr>
          <a:xfrm>
            <a:off x="8019288" y="4830870"/>
            <a:ext cx="3108960" cy="285829"/>
          </a:xfrm>
          <a:prstGeom prst="rect">
            <a:avLst/>
          </a:prstGeom>
          <a:noFill/>
          <a:ln/>
        </p:spPr>
        <p:txBody>
          <a:bodyPr wrap="square" lIns="0" tIns="0" rIns="0" bIns="0" rtlCol="0" anchor="ctr"/>
          <a:lstStyle/>
          <a:p>
            <a:pPr indent="0" marL="0">
              <a:buNone/>
            </a:pPr>
            <a:r>
              <a:rPr lang="en-US" sz="1200" dirty="0">
                <a:solidFill>
                  <a:srgbClr val="8FA6B4"/>
                </a:solidFill>
                <a:latin typeface="Calibri" pitchFamily="34" charset="0"/>
                <a:ea typeface="Calibri" pitchFamily="34" charset="-122"/>
                <a:cs typeface="Calibri" pitchFamily="34" charset="-120"/>
              </a:rPr>
              <a:t>HT sur la première année</a:t>
            </a:r>
            <a:endParaRPr lang="en-US" sz="1200" dirty="0"/>
          </a:p>
        </p:txBody>
      </p:sp>
      <p:sp>
        <p:nvSpPr>
          <p:cNvPr id="18" name="Text 14"/>
          <p:cNvSpPr/>
          <p:nvPr/>
        </p:nvSpPr>
        <p:spPr>
          <a:xfrm>
            <a:off x="8019288" y="5137115"/>
            <a:ext cx="3376879" cy="428743"/>
          </a:xfrm>
          <a:prstGeom prst="rect">
            <a:avLst/>
          </a:prstGeom>
          <a:noFill/>
          <a:ln/>
        </p:spPr>
        <p:txBody>
          <a:bodyPr wrap="square" lIns="0" tIns="0" rIns="0" bIns="0" rtlCol="0" anchor="ctr"/>
          <a:lstStyle/>
          <a:p>
            <a:pPr indent="0" marL="0">
              <a:buNone/>
            </a:pPr>
            <a:r>
              <a:rPr lang="en-US" sz="1150" dirty="0">
                <a:solidFill>
                  <a:srgbClr val="A9BDC9"/>
                </a:solidFill>
                <a:latin typeface="Calibri" pitchFamily="34" charset="0"/>
                <a:ea typeface="Calibri" pitchFamily="34" charset="-122"/>
                <a:cs typeface="Calibri" pitchFamily="34" charset="-120"/>
              </a:rPr>
              <a:t>77 000 € de développement  ·  11 400 € d'exploitation cloud, estimés sur une base de 1 000 utilisateurs actifs</a:t>
            </a:r>
            <a:endParaRPr lang="en-US" sz="1150" dirty="0"/>
          </a:p>
        </p:txBody>
      </p:sp>
      <p:sp>
        <p:nvSpPr>
          <p:cNvPr id="19" name="Shape 15"/>
          <p:cNvSpPr/>
          <p:nvPr/>
        </p:nvSpPr>
        <p:spPr>
          <a:xfrm>
            <a:off x="566928" y="5116699"/>
            <a:ext cx="6949440" cy="1265813"/>
          </a:xfrm>
          <a:prstGeom prst="roundRect">
            <a:avLst>
              <a:gd name="adj" fmla="val 2528"/>
            </a:avLst>
          </a:prstGeom>
          <a:solidFill>
            <a:srgbClr val="FBF3E6"/>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20" name="Shape 16"/>
          <p:cNvSpPr/>
          <p:nvPr/>
        </p:nvSpPr>
        <p:spPr>
          <a:xfrm>
            <a:off x="566928" y="5116699"/>
            <a:ext cx="68580" cy="1265813"/>
          </a:xfrm>
          <a:prstGeom prst="rect">
            <a:avLst/>
          </a:prstGeom>
          <a:solidFill>
            <a:srgbClr val="D98A21"/>
          </a:solidFill>
          <a:ln w="12700">
            <a:solidFill>
              <a:srgbClr val="D98A21"/>
            </a:solidFill>
            <a:prstDash val="solid"/>
          </a:ln>
        </p:spPr>
      </p:sp>
      <p:sp>
        <p:nvSpPr>
          <p:cNvPr id="21" name="Text 17"/>
          <p:cNvSpPr/>
          <p:nvPr/>
        </p:nvSpPr>
        <p:spPr>
          <a:xfrm>
            <a:off x="877824" y="5259613"/>
            <a:ext cx="6400800" cy="979985"/>
          </a:xfrm>
          <a:prstGeom prst="rect">
            <a:avLst/>
          </a:prstGeom>
          <a:noFill/>
          <a:ln/>
        </p:spPr>
        <p:txBody>
          <a:bodyPr wrap="square" lIns="0" tIns="0" rIns="0" bIns="0" rtlCol="0" anchor="t"/>
          <a:lstStyle/>
          <a:p>
            <a:pPr indent="0" marL="0">
              <a:buNone/>
            </a:pPr>
            <a:r>
              <a:rPr lang="en-US" sz="1200" b="1" dirty="0">
                <a:solidFill>
                  <a:srgbClr val="0E1D28"/>
                </a:solidFill>
                <a:latin typeface="Calibri" pitchFamily="34" charset="0"/>
                <a:ea typeface="Calibri" pitchFamily="34" charset="-122"/>
                <a:cs typeface="Calibri" pitchFamily="34" charset="-120"/>
              </a:rPr>
              <a:t>119 jours-homme estimés, 160 jours staffés. </a:t>
            </a:r>
            <a:pPr indent="0" marL="0">
              <a:buNone/>
            </a:pPr>
            <a:r>
              <a:rPr lang="en-US" sz="1200" dirty="0">
                <a:solidFill>
                  <a:srgbClr val="17303F"/>
                </a:solidFill>
                <a:latin typeface="Calibri" pitchFamily="34" charset="0"/>
                <a:ea typeface="Calibri" pitchFamily="34" charset="-122"/>
                <a:cs typeface="Calibri" pitchFamily="34" charset="-120"/>
              </a:rPr>
              <a:t>Les 41 jours d'écart couvrent la coordination, la recette et la reprise de dette — qui ne produisent pas de fonctionnalité mais sont indispensables. Un plan qui staffe exactement la charge de production est un plan qui dérape.</a:t>
            </a:r>
            <a:endParaRPr lang="en-US" sz="1200" dirty="0"/>
          </a:p>
        </p:txBody>
      </p:sp>
      <p:sp>
        <p:nvSpPr>
          <p:cNvPr id="22" name="Text 18"/>
          <p:cNvSpPr/>
          <p:nvPr/>
        </p:nvSpPr>
        <p:spPr>
          <a:xfrm>
            <a:off x="10984687" y="6419088"/>
            <a:ext cx="640080" cy="256032"/>
          </a:xfrm>
          <a:prstGeom prst="rect">
            <a:avLst/>
          </a:prstGeom>
          <a:noFill/>
          <a:ln/>
        </p:spPr>
        <p:txBody>
          <a:bodyPr wrap="square" lIns="0" tIns="0" rIns="0" bIns="0" rtlCol="0" anchor="ctr"/>
          <a:lstStyle/>
          <a:p>
            <a:pPr algn="r" indent="0" marL="0">
              <a:buNone/>
            </a:pPr>
            <a:r>
              <a:rPr lang="en-US" sz="1000" dirty="0">
                <a:solidFill>
                  <a:srgbClr val="9FB2BD"/>
                </a:solidFill>
                <a:latin typeface="Courier New" pitchFamily="34" charset="0"/>
                <a:ea typeface="Courier New" pitchFamily="34" charset="-122"/>
                <a:cs typeface="Courier New"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66928" y="384048"/>
            <a:ext cx="7740487" cy="219456"/>
          </a:xfrm>
          <a:prstGeom prst="rect">
            <a:avLst/>
          </a:prstGeom>
          <a:noFill/>
          <a:ln/>
        </p:spPr>
        <p:txBody>
          <a:bodyPr wrap="square" lIns="0" tIns="0" rIns="0" bIns="0" rtlCol="0" anchor="ctr"/>
          <a:lstStyle/>
          <a:p>
            <a:pPr indent="0" marL="0">
              <a:buNone/>
            </a:pPr>
            <a:r>
              <a:rPr lang="en-US" sz="1050" b="1" spc="160" kern="0" dirty="0">
                <a:solidFill>
                  <a:srgbClr val="1F5468"/>
                </a:solidFill>
                <a:latin typeface="Courier New" pitchFamily="34" charset="0"/>
                <a:ea typeface="Courier New" pitchFamily="34" charset="-122"/>
                <a:cs typeface="Courier New" pitchFamily="34" charset="-120"/>
              </a:rPr>
              <a:t>PARTIE 1 · PLANIFIER</a:t>
            </a:r>
            <a:endParaRPr lang="en-US" sz="1050" dirty="0"/>
          </a:p>
        </p:txBody>
      </p:sp>
      <p:sp>
        <p:nvSpPr>
          <p:cNvPr id="4" name="Text 1"/>
          <p:cNvSpPr/>
          <p:nvPr/>
        </p:nvSpPr>
        <p:spPr>
          <a:xfrm>
            <a:off x="566928" y="621792"/>
            <a:ext cx="8403958" cy="731520"/>
          </a:xfrm>
          <a:prstGeom prst="rect">
            <a:avLst/>
          </a:prstGeom>
          <a:noFill/>
          <a:ln/>
        </p:spPr>
        <p:txBody>
          <a:bodyPr wrap="square" lIns="0" tIns="0" rIns="0" bIns="0" rtlCol="0" anchor="t"/>
          <a:lstStyle/>
          <a:p>
            <a:pPr indent="0" marL="0">
              <a:buNone/>
            </a:pPr>
            <a:r>
              <a:rPr lang="en-US" sz="2900" b="1" dirty="0">
                <a:solidFill>
                  <a:srgbClr val="0E1D28"/>
                </a:solidFill>
                <a:latin typeface="Cambria" pitchFamily="34" charset="0"/>
                <a:ea typeface="Cambria" pitchFamily="34" charset="-122"/>
                <a:cs typeface="Cambria" pitchFamily="34" charset="-120"/>
              </a:rPr>
              <a:t>Affectation des missions et accessibilité</a:t>
            </a:r>
            <a:endParaRPr lang="en-US" sz="2900" dirty="0"/>
          </a:p>
        </p:txBody>
      </p:sp>
      <p:sp>
        <p:nvSpPr>
          <p:cNvPr id="5" name="Shape 2"/>
          <p:cNvSpPr/>
          <p:nvPr/>
        </p:nvSpPr>
        <p:spPr>
          <a:xfrm>
            <a:off x="10801807" y="384048"/>
            <a:ext cx="822960" cy="310896"/>
          </a:xfrm>
          <a:prstGeom prst="roundRect">
            <a:avLst>
              <a:gd name="adj" fmla="val 17647"/>
            </a:avLst>
          </a:prstGeom>
          <a:solidFill>
            <a:srgbClr val="AE3F2C"/>
          </a:solidFill>
          <a:ln w="9525">
            <a:solidFill>
              <a:srgbClr val="AE3F2C"/>
            </a:solidFill>
            <a:prstDash val="solid"/>
          </a:ln>
        </p:spPr>
      </p:sp>
      <p:sp>
        <p:nvSpPr>
          <p:cNvPr id="6" name="Text 3"/>
          <p:cNvSpPr/>
          <p:nvPr/>
        </p:nvSpPr>
        <p:spPr>
          <a:xfrm>
            <a:off x="10801807" y="384048"/>
            <a:ext cx="82296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C3.1</a:t>
            </a:r>
            <a:endParaRPr lang="en-US" sz="1000" dirty="0"/>
          </a:p>
        </p:txBody>
      </p:sp>
      <p:sp>
        <p:nvSpPr>
          <p:cNvPr id="7" name="Shape 4"/>
          <p:cNvSpPr/>
          <p:nvPr/>
        </p:nvSpPr>
        <p:spPr>
          <a:xfrm>
            <a:off x="566928" y="1389888"/>
            <a:ext cx="658368" cy="237744"/>
          </a:xfrm>
          <a:prstGeom prst="roundRect">
            <a:avLst>
              <a:gd name="adj" fmla="val 19231"/>
            </a:avLst>
          </a:prstGeom>
          <a:solidFill>
            <a:srgbClr val="D98A21"/>
          </a:solidFill>
          <a:ln w="12700">
            <a:solidFill>
              <a:srgbClr val="D98A21"/>
            </a:solidFill>
            <a:prstDash val="solid"/>
          </a:ln>
        </p:spPr>
      </p:sp>
      <p:sp>
        <p:nvSpPr>
          <p:cNvPr id="8" name="Text 5"/>
          <p:cNvSpPr/>
          <p:nvPr/>
        </p:nvSpPr>
        <p:spPr>
          <a:xfrm>
            <a:off x="566928" y="1389888"/>
            <a:ext cx="658368" cy="237744"/>
          </a:xfrm>
          <a:prstGeom prst="rect">
            <a:avLst/>
          </a:prstGeom>
          <a:noFill/>
          <a:ln/>
        </p:spPr>
        <p:txBody>
          <a:bodyPr wrap="square" lIns="0" tIns="0" rIns="0" bIns="0" rtlCol="0" anchor="ctr"/>
          <a:lstStyle/>
          <a:p>
            <a:pPr algn="ctr" indent="0" marL="0">
              <a:buNone/>
            </a:pPr>
            <a:r>
              <a:rPr lang="en-US" sz="800" b="1" dirty="0">
                <a:solidFill>
                  <a:srgbClr val="0E1D28"/>
                </a:solidFill>
                <a:latin typeface="Courier New" pitchFamily="34" charset="0"/>
                <a:ea typeface="Courier New" pitchFamily="34" charset="-122"/>
                <a:cs typeface="Courier New" pitchFamily="34" charset="-120"/>
              </a:rPr>
              <a:t>CIBLE</a:t>
            </a:r>
            <a:endParaRPr lang="en-US" sz="800" dirty="0"/>
          </a:p>
        </p:txBody>
      </p:sp>
      <p:sp>
        <p:nvSpPr>
          <p:cNvPr id="9" name="Text 6"/>
          <p:cNvSpPr/>
          <p:nvPr/>
        </p:nvSpPr>
        <p:spPr>
          <a:xfrm>
            <a:off x="1335024" y="1408176"/>
            <a:ext cx="4114800" cy="201168"/>
          </a:xfrm>
          <a:prstGeom prst="rect">
            <a:avLst/>
          </a:prstGeom>
          <a:noFill/>
          <a:ln/>
        </p:spPr>
        <p:txBody>
          <a:bodyPr wrap="square" lIns="0" tIns="0" rIns="0" bIns="0" rtlCol="0" anchor="ctr"/>
          <a:lstStyle/>
          <a:p>
            <a:pPr indent="0" marL="0">
              <a:buNone/>
            </a:pPr>
            <a:r>
              <a:rPr lang="en-US" sz="900" b="1" spc="120" kern="0" dirty="0">
                <a:solidFill>
                  <a:srgbClr val="1F5468"/>
                </a:solidFill>
                <a:latin typeface="Courier New" pitchFamily="34" charset="0"/>
                <a:ea typeface="Courier New" pitchFamily="34" charset="-122"/>
                <a:cs typeface="Courier New" pitchFamily="34" charset="-120"/>
              </a:rPr>
              <a:t>MATRICE RACI DE L'ÉQUIPE PROJETÉE</a:t>
            </a:r>
            <a:endParaRPr lang="en-US" sz="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66928" y="1682496"/>
          <a:ext cx="5943600" cy="914400"/>
        </p:xfrm>
        <a:graphic>
          <a:graphicData uri="http://schemas.openxmlformats.org/drawingml/2006/table">
            <a:tbl>
              <a:tblPr/>
              <a:tblGrid>
                <a:gridCol w="2468880"/>
                <a:gridCol w="896112"/>
                <a:gridCol w="896112"/>
                <a:gridCol w="896112"/>
                <a:gridCol w="786384"/>
              </a:tblGrid>
              <a:tr h="265176">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Chantier</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0E1D28"/>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Lead / CdP</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0E1D28"/>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Dev</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0E1D28"/>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Designer</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0E1D28"/>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Client</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0E1D28"/>
                    </a:solidFill>
                  </a:tcPr>
                </a:tc>
              </a:tr>
              <a:tr h="265176">
                <a:tc>
                  <a:txBody>
                    <a:bodyPr/>
                    <a:lstStyle/>
                    <a:p>
                      <a:pPr indent="0" marL="0">
                        <a:buNone/>
                      </a:pPr>
                      <a:r>
                        <a:rPr lang="en-US" sz="1050" dirty="0">
                          <a:solidFill>
                            <a:srgbClr val="17303F"/>
                          </a:solidFill>
                          <a:latin typeface="Calibri" pitchFamily="34" charset="0"/>
                          <a:ea typeface="Calibri" pitchFamily="34" charset="-122"/>
                          <a:cs typeface="Calibri" pitchFamily="34" charset="-120"/>
                        </a:rPr>
                        <a:t>Définition des besoins</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AE3F2C"/>
                          </a:solidFill>
                          <a:latin typeface="Calibri" pitchFamily="34" charset="0"/>
                          <a:ea typeface="Calibri" pitchFamily="34" charset="-122"/>
                          <a:cs typeface="Calibri" pitchFamily="34" charset="-120"/>
                        </a:rPr>
                        <a:t>R</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5B6E7B"/>
                          </a:solidFill>
                          <a:latin typeface="Calibri" pitchFamily="34" charset="0"/>
                          <a:ea typeface="Calibri" pitchFamily="34" charset="-122"/>
                          <a:cs typeface="Calibri" pitchFamily="34" charset="-120"/>
                        </a:rPr>
                        <a:t>C</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5B6E7B"/>
                          </a:solidFill>
                          <a:latin typeface="Calibri" pitchFamily="34" charset="0"/>
                          <a:ea typeface="Calibri" pitchFamily="34" charset="-122"/>
                          <a:cs typeface="Calibri" pitchFamily="34" charset="-120"/>
                        </a:rPr>
                        <a:t>C</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F5468"/>
                          </a:solidFill>
                          <a:latin typeface="Calibri" pitchFamily="34" charset="0"/>
                          <a:ea typeface="Calibri" pitchFamily="34" charset="-122"/>
                          <a:cs typeface="Calibri" pitchFamily="34" charset="-120"/>
                        </a:rPr>
                        <a:t>A</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r>
              <a:tr h="265176">
                <a:tc>
                  <a:txBody>
                    <a:bodyPr/>
                    <a:lstStyle/>
                    <a:p>
                      <a:pPr indent="0" marL="0">
                        <a:buNone/>
                      </a:pPr>
                      <a:r>
                        <a:rPr lang="en-US" sz="1050" dirty="0">
                          <a:solidFill>
                            <a:srgbClr val="17303F"/>
                          </a:solidFill>
                          <a:latin typeface="Calibri" pitchFamily="34" charset="0"/>
                          <a:ea typeface="Calibri" pitchFamily="34" charset="-122"/>
                          <a:cs typeface="Calibri" pitchFamily="34" charset="-120"/>
                        </a:rPr>
                        <a:t>Choix d'architecture</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AE3F2C"/>
                          </a:solidFill>
                          <a:latin typeface="Calibri" pitchFamily="34" charset="0"/>
                          <a:ea typeface="Calibri" pitchFamily="34" charset="-122"/>
                          <a:cs typeface="Calibri" pitchFamily="34" charset="-120"/>
                        </a:rPr>
                        <a:t>R</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F5468"/>
                          </a:solidFill>
                          <a:latin typeface="Calibri" pitchFamily="34" charset="0"/>
                          <a:ea typeface="Calibri" pitchFamily="34" charset="-122"/>
                          <a:cs typeface="Calibri" pitchFamily="34" charset="-120"/>
                        </a:rPr>
                        <a:t>A</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5B6E7B"/>
                          </a:solidFill>
                          <a:latin typeface="Calibri" pitchFamily="34" charset="0"/>
                          <a:ea typeface="Calibri" pitchFamily="34" charset="-122"/>
                          <a:cs typeface="Calibri" pitchFamily="34" charset="-120"/>
                        </a:rPr>
                        <a:t>I</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5B6E7B"/>
                          </a:solidFill>
                          <a:latin typeface="Calibri" pitchFamily="34" charset="0"/>
                          <a:ea typeface="Calibri" pitchFamily="34" charset="-122"/>
                          <a:cs typeface="Calibri" pitchFamily="34" charset="-120"/>
                        </a:rPr>
                        <a:t>I</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r>
              <a:tr h="265176">
                <a:tc>
                  <a:txBody>
                    <a:bodyPr/>
                    <a:lstStyle/>
                    <a:p>
                      <a:pPr indent="0" marL="0">
                        <a:buNone/>
                      </a:pPr>
                      <a:r>
                        <a:rPr lang="en-US" sz="1050" dirty="0">
                          <a:solidFill>
                            <a:srgbClr val="17303F"/>
                          </a:solidFill>
                          <a:latin typeface="Calibri" pitchFamily="34" charset="0"/>
                          <a:ea typeface="Calibri" pitchFamily="34" charset="-122"/>
                          <a:cs typeface="Calibri" pitchFamily="34" charset="-120"/>
                        </a:rPr>
                        <a:t>Développement logiciel</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F5468"/>
                          </a:solidFill>
                          <a:latin typeface="Calibri" pitchFamily="34" charset="0"/>
                          <a:ea typeface="Calibri" pitchFamily="34" charset="-122"/>
                          <a:cs typeface="Calibri" pitchFamily="34" charset="-120"/>
                        </a:rPr>
                        <a:t>A</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AE3F2C"/>
                          </a:solidFill>
                          <a:latin typeface="Calibri" pitchFamily="34" charset="0"/>
                          <a:ea typeface="Calibri" pitchFamily="34" charset="-122"/>
                          <a:cs typeface="Calibri" pitchFamily="34" charset="-120"/>
                        </a:rPr>
                        <a:t>R</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5B6E7B"/>
                          </a:solidFill>
                          <a:latin typeface="Calibri" pitchFamily="34" charset="0"/>
                          <a:ea typeface="Calibri" pitchFamily="34" charset="-122"/>
                          <a:cs typeface="Calibri" pitchFamily="34" charset="-120"/>
                        </a:rPr>
                        <a:t>C</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5B6E7B"/>
                          </a:solidFill>
                          <a:latin typeface="Calibri" pitchFamily="34" charset="0"/>
                          <a:ea typeface="Calibri" pitchFamily="34" charset="-122"/>
                          <a:cs typeface="Calibri" pitchFamily="34" charset="-120"/>
                        </a:rPr>
                        <a:t>I</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r>
              <a:tr h="265176">
                <a:tc>
                  <a:txBody>
                    <a:bodyPr/>
                    <a:lstStyle/>
                    <a:p>
                      <a:pPr indent="0" marL="0">
                        <a:buNone/>
                      </a:pPr>
                      <a:r>
                        <a:rPr lang="en-US" sz="1050" dirty="0">
                          <a:solidFill>
                            <a:srgbClr val="17303F"/>
                          </a:solidFill>
                          <a:latin typeface="Calibri" pitchFamily="34" charset="0"/>
                          <a:ea typeface="Calibri" pitchFamily="34" charset="-122"/>
                          <a:cs typeface="Calibri" pitchFamily="34" charset="-120"/>
                        </a:rPr>
                        <a:t>Conformité RGPD et réglementaire</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AE3F2C"/>
                          </a:solidFill>
                          <a:latin typeface="Calibri" pitchFamily="34" charset="0"/>
                          <a:ea typeface="Calibri" pitchFamily="34" charset="-122"/>
                          <a:cs typeface="Calibri" pitchFamily="34" charset="-120"/>
                        </a:rPr>
                        <a:t>R</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5B6E7B"/>
                          </a:solidFill>
                          <a:latin typeface="Calibri" pitchFamily="34" charset="0"/>
                          <a:ea typeface="Calibri" pitchFamily="34" charset="-122"/>
                          <a:cs typeface="Calibri" pitchFamily="34" charset="-120"/>
                        </a:rPr>
                        <a:t>C</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5B6E7B"/>
                          </a:solidFill>
                          <a:latin typeface="Calibri" pitchFamily="34" charset="0"/>
                          <a:ea typeface="Calibri" pitchFamily="34" charset="-122"/>
                          <a:cs typeface="Calibri" pitchFamily="34" charset="-120"/>
                        </a:rPr>
                        <a:t>I</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F5468"/>
                          </a:solidFill>
                          <a:latin typeface="Calibri" pitchFamily="34" charset="0"/>
                          <a:ea typeface="Calibri" pitchFamily="34" charset="-122"/>
                          <a:cs typeface="Calibri" pitchFamily="34" charset="-120"/>
                        </a:rPr>
                        <a:t>A</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r>
              <a:tr h="265176">
                <a:tc>
                  <a:txBody>
                    <a:bodyPr/>
                    <a:lstStyle/>
                    <a:p>
                      <a:pPr indent="0" marL="0">
                        <a:buNone/>
                      </a:pPr>
                      <a:r>
                        <a:rPr lang="en-US" sz="1050" dirty="0">
                          <a:solidFill>
                            <a:srgbClr val="17303F"/>
                          </a:solidFill>
                          <a:latin typeface="Calibri" pitchFamily="34" charset="0"/>
                          <a:ea typeface="Calibri" pitchFamily="34" charset="-122"/>
                          <a:cs typeface="Calibri" pitchFamily="34" charset="-120"/>
                        </a:rPr>
                        <a:t>Accessibilité RGAA</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F5468"/>
                          </a:solidFill>
                          <a:latin typeface="Calibri" pitchFamily="34" charset="0"/>
                          <a:ea typeface="Calibri" pitchFamily="34" charset="-122"/>
                          <a:cs typeface="Calibri" pitchFamily="34" charset="-120"/>
                        </a:rPr>
                        <a:t>A</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5B6E7B"/>
                          </a:solidFill>
                          <a:latin typeface="Calibri" pitchFamily="34" charset="0"/>
                          <a:ea typeface="Calibri" pitchFamily="34" charset="-122"/>
                          <a:cs typeface="Calibri" pitchFamily="34" charset="-120"/>
                        </a:rPr>
                        <a:t>C</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AE3F2C"/>
                          </a:solidFill>
                          <a:latin typeface="Calibri" pitchFamily="34" charset="0"/>
                          <a:ea typeface="Calibri" pitchFamily="34" charset="-122"/>
                          <a:cs typeface="Calibri" pitchFamily="34" charset="-120"/>
                        </a:rPr>
                        <a:t>R</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5B6E7B"/>
                          </a:solidFill>
                          <a:latin typeface="Calibri" pitchFamily="34" charset="0"/>
                          <a:ea typeface="Calibri" pitchFamily="34" charset="-122"/>
                          <a:cs typeface="Calibri" pitchFamily="34" charset="-120"/>
                        </a:rPr>
                        <a:t>I</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r>
              <a:tr h="265176">
                <a:tc>
                  <a:txBody>
                    <a:bodyPr/>
                    <a:lstStyle/>
                    <a:p>
                      <a:pPr indent="0" marL="0">
                        <a:buNone/>
                      </a:pPr>
                      <a:r>
                        <a:rPr lang="en-US" sz="1050" dirty="0">
                          <a:solidFill>
                            <a:srgbClr val="17303F"/>
                          </a:solidFill>
                          <a:latin typeface="Calibri" pitchFamily="34" charset="0"/>
                          <a:ea typeface="Calibri" pitchFamily="34" charset="-122"/>
                          <a:cs typeface="Calibri" pitchFamily="34" charset="-120"/>
                        </a:rPr>
                        <a:t>Recette et validation</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5B6E7B"/>
                          </a:solidFill>
                          <a:latin typeface="Calibri" pitchFamily="34" charset="0"/>
                          <a:ea typeface="Calibri" pitchFamily="34" charset="-122"/>
                          <a:cs typeface="Calibri" pitchFamily="34" charset="-120"/>
                        </a:rPr>
                        <a:t>C</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5B6E7B"/>
                          </a:solidFill>
                          <a:latin typeface="Calibri" pitchFamily="34" charset="0"/>
                          <a:ea typeface="Calibri" pitchFamily="34" charset="-122"/>
                          <a:cs typeface="Calibri" pitchFamily="34" charset="-120"/>
                        </a:rPr>
                        <a:t>I</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5B6E7B"/>
                          </a:solidFill>
                          <a:latin typeface="Calibri" pitchFamily="34" charset="0"/>
                          <a:ea typeface="Calibri" pitchFamily="34" charset="-122"/>
                          <a:cs typeface="Calibri" pitchFamily="34" charset="-120"/>
                        </a:rPr>
                        <a:t>I</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AE3F2C"/>
                          </a:solidFill>
                          <a:latin typeface="Calibri" pitchFamily="34" charset="0"/>
                          <a:ea typeface="Calibri" pitchFamily="34" charset="-122"/>
                          <a:cs typeface="Calibri" pitchFamily="34" charset="-120"/>
                        </a:rPr>
                        <a:t>R</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r>
            </a:tbl>
          </a:graphicData>
        </a:graphic>
      </p:graphicFrame>
      <p:sp>
        <p:nvSpPr>
          <p:cNvPr id="11" name="Text 7"/>
          <p:cNvSpPr/>
          <p:nvPr/>
        </p:nvSpPr>
        <p:spPr>
          <a:xfrm>
            <a:off x="566928" y="3602736"/>
            <a:ext cx="5943600" cy="219456"/>
          </a:xfrm>
          <a:prstGeom prst="rect">
            <a:avLst/>
          </a:prstGeom>
          <a:noFill/>
          <a:ln/>
        </p:spPr>
        <p:txBody>
          <a:bodyPr wrap="square" lIns="0" tIns="0" rIns="0" bIns="0" rtlCol="0" anchor="ctr"/>
          <a:lstStyle/>
          <a:p>
            <a:pPr indent="0" marL="0">
              <a:buNone/>
            </a:pPr>
            <a:r>
              <a:rPr lang="en-US" sz="900" dirty="0">
                <a:solidFill>
                  <a:srgbClr val="5B6E7B"/>
                </a:solidFill>
                <a:latin typeface="Courier New" pitchFamily="34" charset="0"/>
                <a:ea typeface="Courier New" pitchFamily="34" charset="-122"/>
                <a:cs typeface="Courier New" pitchFamily="34" charset="-120"/>
              </a:rPr>
              <a:t>R Responsible  ·  A Accountable  ·  C Consulted  ·  I Informed</a:t>
            </a:r>
            <a:endParaRPr lang="en-US" sz="900" dirty="0"/>
          </a:p>
        </p:txBody>
      </p:sp>
      <p:sp>
        <p:nvSpPr>
          <p:cNvPr id="12" name="Shape 8"/>
          <p:cNvSpPr/>
          <p:nvPr/>
        </p:nvSpPr>
        <p:spPr>
          <a:xfrm>
            <a:off x="566928" y="3931920"/>
            <a:ext cx="5943600" cy="2075688"/>
          </a:xfrm>
          <a:prstGeom prst="roundRect">
            <a:avLst>
              <a:gd name="adj" fmla="val 1542"/>
            </a:avLst>
          </a:prstGeom>
          <a:solidFill>
            <a:srgbClr val="FBF3E6"/>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13" name="Text 9"/>
          <p:cNvSpPr/>
          <p:nvPr/>
        </p:nvSpPr>
        <p:spPr>
          <a:xfrm>
            <a:off x="804672" y="4041648"/>
            <a:ext cx="5486400" cy="274320"/>
          </a:xfrm>
          <a:prstGeom prst="rect">
            <a:avLst/>
          </a:prstGeom>
          <a:noFill/>
          <a:ln/>
        </p:spPr>
        <p:txBody>
          <a:bodyPr wrap="square" lIns="0" tIns="0" rIns="0" bIns="0" rtlCol="0" anchor="ctr"/>
          <a:lstStyle/>
          <a:p>
            <a:pPr indent="0" marL="0">
              <a:buNone/>
            </a:pPr>
            <a:r>
              <a:rPr lang="en-US" sz="1350" b="1" dirty="0">
                <a:solidFill>
                  <a:srgbClr val="0E1D28"/>
                </a:solidFill>
                <a:latin typeface="Calibri" pitchFamily="34" charset="0"/>
                <a:ea typeface="Calibri" pitchFamily="34" charset="-122"/>
                <a:cs typeface="Calibri" pitchFamily="34" charset="-120"/>
              </a:rPr>
              <a:t>L'accessibilité par la règle, pas par l'exception</a:t>
            </a:r>
            <a:endParaRPr lang="en-US" sz="1350" dirty="0"/>
          </a:p>
        </p:txBody>
      </p:sp>
      <p:sp>
        <p:nvSpPr>
          <p:cNvPr id="14" name="Text 10"/>
          <p:cNvSpPr/>
          <p:nvPr/>
        </p:nvSpPr>
        <p:spPr>
          <a:xfrm>
            <a:off x="804672" y="4352544"/>
            <a:ext cx="5486400" cy="1261872"/>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7303F"/>
                </a:solidFill>
                <a:latin typeface="Calibri" pitchFamily="34" charset="0"/>
                <a:ea typeface="Calibri" pitchFamily="34" charset="-122"/>
                <a:cs typeface="Calibri" pitchFamily="34" charset="-120"/>
              </a:rPr>
              <a:t>Tout ce qui est décidé est écrit.</a:t>
            </a:r>
            <a:endParaRPr lang="en-US" sz="1400" dirty="0"/>
          </a:p>
          <a:p>
            <a:pPr marL="177800" indent="-177800">
              <a:spcAft>
                <a:spcPts val="600"/>
              </a:spcAft>
              <a:buSzPct val="100000"/>
              <a:buChar char="•"/>
            </a:pPr>
            <a:r>
              <a:rPr lang="en-US" sz="1400" dirty="0">
                <a:solidFill>
                  <a:srgbClr val="17303F"/>
                </a:solidFill>
                <a:latin typeface="Calibri" pitchFamily="34" charset="0"/>
                <a:ea typeface="Calibri" pitchFamily="34" charset="-122"/>
                <a:cs typeface="Calibri" pitchFamily="34" charset="-120"/>
              </a:rPr>
              <a:t>Le poste reste tenable sans l'information orale.</a:t>
            </a:r>
            <a:endParaRPr lang="en-US" sz="1400" dirty="0"/>
          </a:p>
          <a:p>
            <a:pPr marL="177800" indent="-177800">
              <a:spcAft>
                <a:spcPts val="600"/>
              </a:spcAft>
              <a:buSzPct val="100000"/>
              <a:buChar char="•"/>
            </a:pPr>
            <a:r>
              <a:rPr lang="en-US" sz="1400" dirty="0">
                <a:solidFill>
                  <a:srgbClr val="17303F"/>
                </a:solidFill>
                <a:latin typeface="Calibri" pitchFamily="34" charset="0"/>
                <a:ea typeface="Calibri" pitchFamily="34" charset="-122"/>
                <a:cs typeface="Calibri" pitchFamily="34" charset="-120"/>
              </a:rPr>
              <a:t>J'ajoute : visio sous-titrée, chantiers documentaires.</a:t>
            </a:r>
            <a:endParaRPr lang="en-US" sz="1400" dirty="0"/>
          </a:p>
        </p:txBody>
      </p:sp>
      <p:sp>
        <p:nvSpPr>
          <p:cNvPr id="15" name="Shape 11"/>
          <p:cNvSpPr/>
          <p:nvPr/>
        </p:nvSpPr>
        <p:spPr>
          <a:xfrm>
            <a:off x="6784848" y="1389888"/>
            <a:ext cx="658368" cy="237744"/>
          </a:xfrm>
          <a:prstGeom prst="roundRect">
            <a:avLst>
              <a:gd name="adj" fmla="val 19231"/>
            </a:avLst>
          </a:prstGeom>
          <a:solidFill>
            <a:srgbClr val="1F5468"/>
          </a:solidFill>
          <a:ln w="12700">
            <a:solidFill>
              <a:srgbClr val="1F5468"/>
            </a:solidFill>
            <a:prstDash val="solid"/>
          </a:ln>
        </p:spPr>
      </p:sp>
      <p:sp>
        <p:nvSpPr>
          <p:cNvPr id="16" name="Text 12"/>
          <p:cNvSpPr/>
          <p:nvPr/>
        </p:nvSpPr>
        <p:spPr>
          <a:xfrm>
            <a:off x="6784848" y="1389888"/>
            <a:ext cx="658368"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urier New" pitchFamily="34" charset="0"/>
                <a:ea typeface="Courier New" pitchFamily="34" charset="-122"/>
                <a:cs typeface="Courier New" pitchFamily="34" charset="-120"/>
              </a:rPr>
              <a:t>RÉEL</a:t>
            </a:r>
            <a:endParaRPr lang="en-US" sz="800" dirty="0"/>
          </a:p>
        </p:txBody>
      </p:sp>
      <p:sp>
        <p:nvSpPr>
          <p:cNvPr id="17" name="Text 13"/>
          <p:cNvSpPr/>
          <p:nvPr/>
        </p:nvSpPr>
        <p:spPr>
          <a:xfrm>
            <a:off x="7552944" y="1408176"/>
            <a:ext cx="4023360" cy="201168"/>
          </a:xfrm>
          <a:prstGeom prst="rect">
            <a:avLst/>
          </a:prstGeom>
          <a:noFill/>
          <a:ln/>
        </p:spPr>
        <p:txBody>
          <a:bodyPr wrap="square" lIns="0" tIns="0" rIns="0" bIns="0" rtlCol="0" anchor="ctr"/>
          <a:lstStyle/>
          <a:p>
            <a:pPr indent="0" marL="0">
              <a:buNone/>
            </a:pPr>
            <a:r>
              <a:rPr lang="en-US" sz="900" b="1" spc="120" kern="0" dirty="0">
                <a:solidFill>
                  <a:srgbClr val="1F5468"/>
                </a:solidFill>
                <a:latin typeface="Courier New" pitchFamily="34" charset="0"/>
                <a:ea typeface="Courier New" pitchFamily="34" charset="-122"/>
                <a:cs typeface="Courier New" pitchFamily="34" charset="-120"/>
              </a:rPr>
              <a:t>JIRA — UN TICKET AFFECTÉ ET ESTIMÉ</a:t>
            </a:r>
            <a:endParaRPr lang="en-US" sz="900" dirty="0"/>
          </a:p>
        </p:txBody>
      </p:sp>
      <p:sp>
        <p:nvSpPr>
          <p:cNvPr id="18" name="Shape 14"/>
          <p:cNvSpPr/>
          <p:nvPr/>
        </p:nvSpPr>
        <p:spPr>
          <a:xfrm>
            <a:off x="6739128" y="1636776"/>
            <a:ext cx="4928616" cy="2879105"/>
          </a:xfrm>
          <a:prstGeom prst="rect">
            <a:avLst/>
          </a:prstGeom>
          <a:solidFill>
            <a:srgbClr val="E6EDF1"/>
          </a:solidFill>
          <a:ln w="9525">
            <a:solidFill>
              <a:srgbClr val="D5DFE5"/>
            </a:solidFill>
            <a:prstDash val="solid"/>
          </a:ln>
          <a:effectLst>
            <a:outerShdw sx="100000" sy="100000" kx="0" ky="0" algn="bl" rotWithShape="0" blurRad="177800" dist="38100" dir="5400000">
              <a:srgbClr val="0E1D28">
                <a:alpha val="10000"/>
              </a:srgbClr>
            </a:outerShdw>
          </a:effectLst>
        </p:spPr>
      </p:sp>
      <p:pic>
        <p:nvPicPr>
          <p:cNvPr id="19" name="Image 0" descr="/home/claude/shots/D-ticket-sh30.png">    </p:cNvPr>
          <p:cNvPicPr>
            <a:picLocks noChangeAspect="1"/>
          </p:cNvPicPr>
          <p:nvPr/>
        </p:nvPicPr>
        <p:blipFill>
          <a:blip r:embed="rId1"/>
          <a:stretch>
            <a:fillRect/>
          </a:stretch>
        </p:blipFill>
        <p:spPr>
          <a:xfrm>
            <a:off x="6784848" y="1682496"/>
            <a:ext cx="4837176" cy="2787665"/>
          </a:xfrm>
          <a:prstGeom prst="rect">
            <a:avLst/>
          </a:prstGeom>
        </p:spPr>
      </p:pic>
      <p:sp>
        <p:nvSpPr>
          <p:cNvPr id="20" name="Shape 15"/>
          <p:cNvSpPr/>
          <p:nvPr/>
        </p:nvSpPr>
        <p:spPr>
          <a:xfrm>
            <a:off x="6784848" y="4553712"/>
            <a:ext cx="4837176" cy="1453896"/>
          </a:xfrm>
          <a:prstGeom prst="roundRect">
            <a:avLst>
              <a:gd name="adj" fmla="val 2201"/>
            </a:avLst>
          </a:prstGeom>
          <a:solidFill>
            <a:srgbClr val="F1F5F7"/>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21" name="Text 16"/>
          <p:cNvSpPr/>
          <p:nvPr/>
        </p:nvSpPr>
        <p:spPr>
          <a:xfrm>
            <a:off x="7022592" y="4736592"/>
            <a:ext cx="4361688" cy="109728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7303F"/>
                </a:solidFill>
                <a:latin typeface="Calibri" pitchFamily="34" charset="0"/>
                <a:ea typeface="Calibri" pitchFamily="34" charset="-122"/>
                <a:cs typeface="Calibri" pitchFamily="34" charset="-120"/>
              </a:rPr>
              <a:t>Assignation, 5 Story Points, échéance, lot.</a:t>
            </a:r>
            <a:endParaRPr lang="en-US" sz="1300" dirty="0"/>
          </a:p>
          <a:p>
            <a:pPr marL="177800" indent="-177800">
              <a:spcAft>
                <a:spcPts val="500"/>
              </a:spcAft>
              <a:buSzPct val="100000"/>
              <a:buChar char="•"/>
            </a:pPr>
            <a:r>
              <a:rPr lang="en-US" sz="1300" dirty="0">
                <a:solidFill>
                  <a:srgbClr val="17303F"/>
                </a:solidFill>
                <a:latin typeface="Calibri" pitchFamily="34" charset="0"/>
                <a:ea typeface="Calibri" pitchFamily="34" charset="-122"/>
                <a:cs typeface="Calibri" pitchFamily="34" charset="-120"/>
              </a:rPr>
              <a:t>DoR et critères d'acceptation écrits avant le code.</a:t>
            </a:r>
            <a:endParaRPr lang="en-US" sz="1300" dirty="0"/>
          </a:p>
          <a:p>
            <a:pPr marL="177800" indent="-177800">
              <a:spcAft>
                <a:spcPts val="500"/>
              </a:spcAft>
              <a:buSzPct val="100000"/>
              <a:buChar char="•"/>
            </a:pPr>
            <a:r>
              <a:rPr lang="en-US" sz="1300" dirty="0">
                <a:solidFill>
                  <a:srgbClr val="17303F"/>
                </a:solidFill>
                <a:latin typeface="Calibri" pitchFamily="34" charset="0"/>
                <a:ea typeface="Calibri" pitchFamily="34" charset="-122"/>
                <a:cs typeface="Calibri" pitchFamily="34" charset="-120"/>
              </a:rPr>
              <a:t>Compétence RNCP citée · clés SCRUM-46 / SH-30.</a:t>
            </a:r>
            <a:endParaRPr lang="en-US" sz="1300" dirty="0"/>
          </a:p>
        </p:txBody>
      </p:sp>
      <p:sp>
        <p:nvSpPr>
          <p:cNvPr id="22" name="Text 17"/>
          <p:cNvSpPr/>
          <p:nvPr/>
        </p:nvSpPr>
        <p:spPr>
          <a:xfrm>
            <a:off x="10984687" y="6419088"/>
            <a:ext cx="640080" cy="256032"/>
          </a:xfrm>
          <a:prstGeom prst="rect">
            <a:avLst/>
          </a:prstGeom>
          <a:noFill/>
          <a:ln/>
        </p:spPr>
        <p:txBody>
          <a:bodyPr wrap="square" lIns="0" tIns="0" rIns="0" bIns="0" rtlCol="0" anchor="ctr"/>
          <a:lstStyle/>
          <a:p>
            <a:pPr algn="r" indent="0" marL="0">
              <a:buNone/>
            </a:pPr>
            <a:r>
              <a:rPr lang="en-US" sz="1000" dirty="0">
                <a:solidFill>
                  <a:srgbClr val="9FB2BD"/>
                </a:solidFill>
                <a:latin typeface="Courier New" pitchFamily="34" charset="0"/>
                <a:ea typeface="Courier New" pitchFamily="34" charset="-122"/>
                <a:cs typeface="Courier New"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66928" y="384048"/>
            <a:ext cx="7740487" cy="219456"/>
          </a:xfrm>
          <a:prstGeom prst="rect">
            <a:avLst/>
          </a:prstGeom>
          <a:noFill/>
          <a:ln/>
        </p:spPr>
        <p:txBody>
          <a:bodyPr wrap="square" lIns="0" tIns="0" rIns="0" bIns="0" rtlCol="0" anchor="ctr"/>
          <a:lstStyle/>
          <a:p>
            <a:pPr indent="0" marL="0">
              <a:buNone/>
            </a:pPr>
            <a:r>
              <a:rPr lang="en-US" sz="1050" b="1" spc="160" kern="0" dirty="0">
                <a:solidFill>
                  <a:srgbClr val="1F5468"/>
                </a:solidFill>
                <a:latin typeface="Courier New" pitchFamily="34" charset="0"/>
                <a:ea typeface="Courier New" pitchFamily="34" charset="-122"/>
                <a:cs typeface="Courier New" pitchFamily="34" charset="-120"/>
              </a:rPr>
              <a:t>PARTIE 1 · PLANIFIER</a:t>
            </a:r>
            <a:endParaRPr lang="en-US" sz="1050" dirty="0"/>
          </a:p>
        </p:txBody>
      </p:sp>
      <p:sp>
        <p:nvSpPr>
          <p:cNvPr id="4" name="Text 1"/>
          <p:cNvSpPr/>
          <p:nvPr/>
        </p:nvSpPr>
        <p:spPr>
          <a:xfrm>
            <a:off x="566928" y="621792"/>
            <a:ext cx="8403958" cy="731520"/>
          </a:xfrm>
          <a:prstGeom prst="rect">
            <a:avLst/>
          </a:prstGeom>
          <a:noFill/>
          <a:ln/>
        </p:spPr>
        <p:txBody>
          <a:bodyPr wrap="square" lIns="0" tIns="0" rIns="0" bIns="0" rtlCol="0" anchor="t"/>
          <a:lstStyle/>
          <a:p>
            <a:pPr indent="0" marL="0">
              <a:buNone/>
            </a:pPr>
            <a:r>
              <a:rPr lang="en-US" sz="2900" b="1" dirty="0">
                <a:solidFill>
                  <a:srgbClr val="0E1D28"/>
                </a:solidFill>
                <a:latin typeface="Cambria" pitchFamily="34" charset="0"/>
                <a:ea typeface="Cambria" pitchFamily="34" charset="-122"/>
                <a:cs typeface="Cambria" pitchFamily="34" charset="-120"/>
              </a:rPr>
              <a:t>Les points de vigilance et leurs parades</a:t>
            </a:r>
            <a:endParaRPr lang="en-US" sz="2900" dirty="0"/>
          </a:p>
        </p:txBody>
      </p:sp>
      <p:sp>
        <p:nvSpPr>
          <p:cNvPr id="5" name="Shape 2"/>
          <p:cNvSpPr/>
          <p:nvPr/>
        </p:nvSpPr>
        <p:spPr>
          <a:xfrm>
            <a:off x="10801807" y="384048"/>
            <a:ext cx="822960" cy="310896"/>
          </a:xfrm>
          <a:prstGeom prst="roundRect">
            <a:avLst>
              <a:gd name="adj" fmla="val 17647"/>
            </a:avLst>
          </a:prstGeom>
          <a:solidFill>
            <a:srgbClr val="AE3F2C"/>
          </a:solidFill>
          <a:ln w="9525">
            <a:solidFill>
              <a:srgbClr val="AE3F2C"/>
            </a:solidFill>
            <a:prstDash val="solid"/>
          </a:ln>
        </p:spPr>
      </p:sp>
      <p:sp>
        <p:nvSpPr>
          <p:cNvPr id="6" name="Text 3"/>
          <p:cNvSpPr/>
          <p:nvPr/>
        </p:nvSpPr>
        <p:spPr>
          <a:xfrm>
            <a:off x="10801807" y="384048"/>
            <a:ext cx="82296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C3.1</a:t>
            </a:r>
            <a:endParaRPr lang="en-US" sz="1000" dirty="0"/>
          </a:p>
        </p:txBody>
      </p:sp>
      <p:sp>
        <p:nvSpPr>
          <p:cNvPr id="7" name="Text 4"/>
          <p:cNvSpPr/>
          <p:nvPr/>
        </p:nvSpPr>
        <p:spPr>
          <a:xfrm>
            <a:off x="566928" y="1645920"/>
            <a:ext cx="11057839" cy="335136"/>
          </a:xfrm>
          <a:prstGeom prst="rect">
            <a:avLst/>
          </a:prstGeom>
          <a:noFill/>
          <a:ln/>
        </p:spPr>
        <p:txBody>
          <a:bodyPr wrap="square" lIns="0" tIns="0" rIns="0" bIns="0" rtlCol="0" anchor="ctr"/>
          <a:lstStyle/>
          <a:p>
            <a:pPr indent="0" marL="0">
              <a:buNone/>
            </a:pPr>
            <a:r>
              <a:rPr lang="en-US" sz="1250" dirty="0">
                <a:solidFill>
                  <a:srgbClr val="17303F"/>
                </a:solidFill>
                <a:latin typeface="Calibri" pitchFamily="34" charset="0"/>
                <a:ea typeface="Calibri" pitchFamily="34" charset="-122"/>
                <a:cs typeface="Calibri" pitchFamily="34" charset="-120"/>
              </a:rPr>
              <a:t>10 risques identifiés, cotés Probabilité × Impact. Quatre atteignent la criticité 12 et ont déclenché une action prioritaire.</a:t>
            </a:r>
            <a:endParaRPr lang="en-US" sz="1250" dirty="0"/>
          </a:p>
        </p:txBody>
      </p:sp>
      <p:sp>
        <p:nvSpPr>
          <p:cNvPr id="8" name="Shape 5"/>
          <p:cNvSpPr/>
          <p:nvPr/>
        </p:nvSpPr>
        <p:spPr>
          <a:xfrm>
            <a:off x="566928" y="2316192"/>
            <a:ext cx="11057839" cy="949553"/>
          </a:xfrm>
          <a:prstGeom prst="roundRect">
            <a:avLst>
              <a:gd name="adj" fmla="val 3370"/>
            </a:avLst>
          </a:prstGeom>
          <a:solidFill>
            <a:srgbClr val="F1F5F7"/>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9" name="Shape 6"/>
          <p:cNvSpPr/>
          <p:nvPr/>
        </p:nvSpPr>
        <p:spPr>
          <a:xfrm>
            <a:off x="768096" y="2528445"/>
            <a:ext cx="566928" cy="525047"/>
          </a:xfrm>
          <a:prstGeom prst="roundRect">
            <a:avLst>
              <a:gd name="adj" fmla="val 8708"/>
            </a:avLst>
          </a:prstGeom>
          <a:solidFill>
            <a:srgbClr val="AE3F2C"/>
          </a:solidFill>
          <a:ln/>
        </p:spPr>
      </p:sp>
      <p:sp>
        <p:nvSpPr>
          <p:cNvPr id="10" name="Text 7"/>
          <p:cNvSpPr/>
          <p:nvPr/>
        </p:nvSpPr>
        <p:spPr>
          <a:xfrm>
            <a:off x="768096" y="2528445"/>
            <a:ext cx="566928" cy="525047"/>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R2</a:t>
            </a:r>
            <a:endParaRPr lang="en-US" sz="1200" dirty="0"/>
          </a:p>
        </p:txBody>
      </p:sp>
      <p:sp>
        <p:nvSpPr>
          <p:cNvPr id="11" name="Text 8"/>
          <p:cNvSpPr/>
          <p:nvPr/>
        </p:nvSpPr>
        <p:spPr>
          <a:xfrm>
            <a:off x="1408176" y="2528445"/>
            <a:ext cx="457200" cy="525047"/>
          </a:xfrm>
          <a:prstGeom prst="rect">
            <a:avLst/>
          </a:prstGeom>
          <a:noFill/>
          <a:ln/>
        </p:spPr>
        <p:txBody>
          <a:bodyPr wrap="square" lIns="0" tIns="0" rIns="0" bIns="0" rtlCol="0" anchor="ctr"/>
          <a:lstStyle/>
          <a:p>
            <a:pPr algn="ctr" indent="0" marL="0">
              <a:buNone/>
            </a:pPr>
            <a:r>
              <a:rPr lang="en-US" sz="1900" b="1" dirty="0">
                <a:solidFill>
                  <a:srgbClr val="AE3F2C"/>
                </a:solidFill>
                <a:latin typeface="Cambria" pitchFamily="34" charset="0"/>
                <a:ea typeface="Cambria" pitchFamily="34" charset="-122"/>
                <a:cs typeface="Cambria" pitchFamily="34" charset="-120"/>
              </a:rPr>
              <a:t>16</a:t>
            </a:r>
            <a:endParaRPr lang="en-US" sz="1900" dirty="0"/>
          </a:p>
        </p:txBody>
      </p:sp>
      <p:sp>
        <p:nvSpPr>
          <p:cNvPr id="12" name="Text 9"/>
          <p:cNvSpPr/>
          <p:nvPr/>
        </p:nvSpPr>
        <p:spPr>
          <a:xfrm>
            <a:off x="1984248" y="2483761"/>
            <a:ext cx="2286000" cy="625588"/>
          </a:xfrm>
          <a:prstGeom prst="rect">
            <a:avLst/>
          </a:prstGeom>
          <a:noFill/>
          <a:ln/>
        </p:spPr>
        <p:txBody>
          <a:bodyPr wrap="square" lIns="0" tIns="0" rIns="0" bIns="0" rtlCol="0" anchor="ctr"/>
          <a:lstStyle/>
          <a:p>
            <a:pPr indent="0" marL="0">
              <a:buNone/>
            </a:pPr>
            <a:r>
              <a:rPr lang="en-US" sz="1200" b="1" dirty="0">
                <a:solidFill>
                  <a:srgbClr val="0E1D28"/>
                </a:solidFill>
                <a:latin typeface="Calibri" pitchFamily="34" charset="0"/>
                <a:ea typeface="Calibri" pitchFamily="34" charset="-122"/>
                <a:cs typeface="Calibri" pitchFamily="34" charset="-120"/>
              </a:rPr>
              <a:t>Usurpation de compétences</a:t>
            </a:r>
            <a:endParaRPr lang="en-US" sz="1200" dirty="0"/>
          </a:p>
          <a:p>
            <a:pPr indent="0" marL="0">
              <a:buNone/>
            </a:pPr>
            <a:r>
              <a:rPr lang="en-US" sz="1200" b="1" dirty="0">
                <a:solidFill>
                  <a:srgbClr val="0E1D28"/>
                </a:solidFill>
                <a:latin typeface="Calibri" pitchFamily="34" charset="0"/>
                <a:ea typeface="Calibri" pitchFamily="34" charset="-122"/>
                <a:cs typeface="Calibri" pitchFamily="34" charset="-120"/>
              </a:rPr>
              <a:t>et fausses certifications</a:t>
            </a:r>
            <a:endParaRPr lang="en-US" sz="1200" dirty="0"/>
          </a:p>
        </p:txBody>
      </p:sp>
      <p:sp>
        <p:nvSpPr>
          <p:cNvPr id="13" name="Text 10"/>
          <p:cNvSpPr/>
          <p:nvPr/>
        </p:nvSpPr>
        <p:spPr>
          <a:xfrm>
            <a:off x="4407408" y="2483761"/>
            <a:ext cx="4480560" cy="625588"/>
          </a:xfrm>
          <a:prstGeom prst="rect">
            <a:avLst/>
          </a:prstGeom>
          <a:noFill/>
          <a:ln/>
        </p:spPr>
        <p:txBody>
          <a:bodyPr wrap="square" lIns="0" tIns="0" rIns="0" bIns="0" rtlCol="0" anchor="ctr"/>
          <a:lstStyle/>
          <a:p>
            <a:pPr indent="0" marL="0">
              <a:buNone/>
            </a:pPr>
            <a:r>
              <a:rPr lang="en-US" sz="1150" dirty="0">
                <a:solidFill>
                  <a:srgbClr val="17303F"/>
                </a:solidFill>
                <a:latin typeface="Calibri" pitchFamily="34" charset="0"/>
                <a:ea typeface="Calibri" pitchFamily="34" charset="-122"/>
                <a:cs typeface="Calibri" pitchFamily="34" charset="-120"/>
              </a:rPr>
              <a:t>Vérification des métadonnées PDF, workflow de validation admin, badge « Vérifié ».</a:t>
            </a:r>
            <a:endParaRPr lang="en-US" sz="1150" dirty="0"/>
          </a:p>
        </p:txBody>
      </p:sp>
      <p:sp>
        <p:nvSpPr>
          <p:cNvPr id="14" name="Text 11"/>
          <p:cNvSpPr/>
          <p:nvPr/>
        </p:nvSpPr>
        <p:spPr>
          <a:xfrm>
            <a:off x="9025128" y="2483761"/>
            <a:ext cx="2416759" cy="625588"/>
          </a:xfrm>
          <a:prstGeom prst="rect">
            <a:avLst/>
          </a:prstGeom>
          <a:noFill/>
          <a:ln/>
        </p:spPr>
        <p:txBody>
          <a:bodyPr wrap="square" lIns="0" tIns="0" rIns="0" bIns="0" rtlCol="0" anchor="ctr"/>
          <a:lstStyle/>
          <a:p>
            <a:pPr indent="0" marL="0">
              <a:buNone/>
            </a:pPr>
            <a:r>
              <a:rPr lang="en-US" sz="950" dirty="0">
                <a:solidFill>
                  <a:srgbClr val="1F5468"/>
                </a:solidFill>
                <a:latin typeface="Courier New" pitchFamily="34" charset="0"/>
                <a:ea typeface="Courier New" pitchFamily="34" charset="-122"/>
                <a:cs typeface="Courier New" pitchFamily="34" charset="-120"/>
              </a:rPr>
              <a:t>Délai moyen de validation</a:t>
            </a:r>
            <a:endParaRPr lang="en-US" sz="950" dirty="0"/>
          </a:p>
          <a:p>
            <a:pPr indent="0" marL="0">
              <a:buNone/>
            </a:pPr>
            <a:r>
              <a:rPr lang="en-US" sz="950" dirty="0">
                <a:solidFill>
                  <a:srgbClr val="1F5468"/>
                </a:solidFill>
                <a:latin typeface="Courier New" pitchFamily="34" charset="0"/>
                <a:ea typeface="Courier New" pitchFamily="34" charset="-122"/>
                <a:cs typeface="Courier New" pitchFamily="34" charset="-120"/>
              </a:rPr>
              <a:t>des brevets DGAC</a:t>
            </a:r>
            <a:endParaRPr lang="en-US" sz="950" dirty="0"/>
          </a:p>
        </p:txBody>
      </p:sp>
      <p:sp>
        <p:nvSpPr>
          <p:cNvPr id="15" name="Shape 12"/>
          <p:cNvSpPr/>
          <p:nvPr/>
        </p:nvSpPr>
        <p:spPr>
          <a:xfrm>
            <a:off x="566928" y="3355115"/>
            <a:ext cx="11057839" cy="949553"/>
          </a:xfrm>
          <a:prstGeom prst="roundRect">
            <a:avLst>
              <a:gd name="adj" fmla="val 3370"/>
            </a:avLst>
          </a:prstGeom>
          <a:solidFill>
            <a:srgbClr val="F1F5F7"/>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16" name="Shape 13"/>
          <p:cNvSpPr/>
          <p:nvPr/>
        </p:nvSpPr>
        <p:spPr>
          <a:xfrm>
            <a:off x="768096" y="3567368"/>
            <a:ext cx="566928" cy="525047"/>
          </a:xfrm>
          <a:prstGeom prst="roundRect">
            <a:avLst>
              <a:gd name="adj" fmla="val 8708"/>
            </a:avLst>
          </a:prstGeom>
          <a:solidFill>
            <a:srgbClr val="AE3F2C"/>
          </a:solidFill>
          <a:ln/>
        </p:spPr>
      </p:sp>
      <p:sp>
        <p:nvSpPr>
          <p:cNvPr id="17" name="Text 14"/>
          <p:cNvSpPr/>
          <p:nvPr/>
        </p:nvSpPr>
        <p:spPr>
          <a:xfrm>
            <a:off x="768096" y="3567368"/>
            <a:ext cx="566928" cy="525047"/>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R1</a:t>
            </a:r>
            <a:endParaRPr lang="en-US" sz="1200" dirty="0"/>
          </a:p>
        </p:txBody>
      </p:sp>
      <p:sp>
        <p:nvSpPr>
          <p:cNvPr id="18" name="Text 15"/>
          <p:cNvSpPr/>
          <p:nvPr/>
        </p:nvSpPr>
        <p:spPr>
          <a:xfrm>
            <a:off x="1408176" y="3567368"/>
            <a:ext cx="457200" cy="525047"/>
          </a:xfrm>
          <a:prstGeom prst="rect">
            <a:avLst/>
          </a:prstGeom>
          <a:noFill/>
          <a:ln/>
        </p:spPr>
        <p:txBody>
          <a:bodyPr wrap="square" lIns="0" tIns="0" rIns="0" bIns="0" rtlCol="0" anchor="ctr"/>
          <a:lstStyle/>
          <a:p>
            <a:pPr algn="ctr" indent="0" marL="0">
              <a:buNone/>
            </a:pPr>
            <a:r>
              <a:rPr lang="en-US" sz="1900" b="1" dirty="0">
                <a:solidFill>
                  <a:srgbClr val="AE3F2C"/>
                </a:solidFill>
                <a:latin typeface="Cambria" pitchFamily="34" charset="0"/>
                <a:ea typeface="Cambria" pitchFamily="34" charset="-122"/>
                <a:cs typeface="Cambria" pitchFamily="34" charset="-120"/>
              </a:rPr>
              <a:t>12</a:t>
            </a:r>
            <a:endParaRPr lang="en-US" sz="1900" dirty="0"/>
          </a:p>
        </p:txBody>
      </p:sp>
      <p:sp>
        <p:nvSpPr>
          <p:cNvPr id="19" name="Text 16"/>
          <p:cNvSpPr/>
          <p:nvPr/>
        </p:nvSpPr>
        <p:spPr>
          <a:xfrm>
            <a:off x="1984248" y="3522683"/>
            <a:ext cx="2286000" cy="625588"/>
          </a:xfrm>
          <a:prstGeom prst="rect">
            <a:avLst/>
          </a:prstGeom>
          <a:noFill/>
          <a:ln/>
        </p:spPr>
        <p:txBody>
          <a:bodyPr wrap="square" lIns="0" tIns="0" rIns="0" bIns="0" rtlCol="0" anchor="ctr"/>
          <a:lstStyle/>
          <a:p>
            <a:pPr indent="0" marL="0">
              <a:buNone/>
            </a:pPr>
            <a:r>
              <a:rPr lang="en-US" sz="1200" b="1" dirty="0">
                <a:solidFill>
                  <a:srgbClr val="0E1D28"/>
                </a:solidFill>
                <a:latin typeface="Calibri" pitchFamily="34" charset="0"/>
                <a:ea typeface="Calibri" pitchFamily="34" charset="-122"/>
                <a:cs typeface="Calibri" pitchFamily="34" charset="-120"/>
              </a:rPr>
              <a:t>Saturation du transcodage</a:t>
            </a:r>
            <a:endParaRPr lang="en-US" sz="1200" dirty="0"/>
          </a:p>
          <a:p>
            <a:pPr indent="0" marL="0">
              <a:buNone/>
            </a:pPr>
            <a:r>
              <a:rPr lang="en-US" sz="1200" b="1" dirty="0">
                <a:solidFill>
                  <a:srgbClr val="0E1D28"/>
                </a:solidFill>
                <a:latin typeface="Calibri" pitchFamily="34" charset="0"/>
                <a:ea typeface="Calibri" pitchFamily="34" charset="-122"/>
                <a:cs typeface="Calibri" pitchFamily="34" charset="-120"/>
              </a:rPr>
              <a:t>vidéo</a:t>
            </a:r>
            <a:endParaRPr lang="en-US" sz="1200" dirty="0"/>
          </a:p>
        </p:txBody>
      </p:sp>
      <p:sp>
        <p:nvSpPr>
          <p:cNvPr id="20" name="Text 17"/>
          <p:cNvSpPr/>
          <p:nvPr/>
        </p:nvSpPr>
        <p:spPr>
          <a:xfrm>
            <a:off x="4407408" y="3522683"/>
            <a:ext cx="4480560" cy="625588"/>
          </a:xfrm>
          <a:prstGeom prst="rect">
            <a:avLst/>
          </a:prstGeom>
          <a:noFill/>
          <a:ln/>
        </p:spPr>
        <p:txBody>
          <a:bodyPr wrap="square" lIns="0" tIns="0" rIns="0" bIns="0" rtlCol="0" anchor="ctr"/>
          <a:lstStyle/>
          <a:p>
            <a:pPr indent="0" marL="0">
              <a:buNone/>
            </a:pPr>
            <a:r>
              <a:rPr lang="en-US" sz="1150" dirty="0">
                <a:solidFill>
                  <a:srgbClr val="17303F"/>
                </a:solidFill>
                <a:latin typeface="Calibri" pitchFamily="34" charset="0"/>
                <a:ea typeface="Calibri" pitchFamily="34" charset="-122"/>
                <a:cs typeface="Calibri" pitchFamily="34" charset="-120"/>
              </a:rPr>
              <a:t>Traitement asynchrone en file d'attente, autoscaling des workers.</a:t>
            </a:r>
            <a:endParaRPr lang="en-US" sz="1150" dirty="0"/>
          </a:p>
        </p:txBody>
      </p:sp>
      <p:sp>
        <p:nvSpPr>
          <p:cNvPr id="21" name="Text 18"/>
          <p:cNvSpPr/>
          <p:nvPr/>
        </p:nvSpPr>
        <p:spPr>
          <a:xfrm>
            <a:off x="9025128" y="3522683"/>
            <a:ext cx="2416759" cy="625588"/>
          </a:xfrm>
          <a:prstGeom prst="rect">
            <a:avLst/>
          </a:prstGeom>
          <a:noFill/>
          <a:ln/>
        </p:spPr>
        <p:txBody>
          <a:bodyPr wrap="square" lIns="0" tIns="0" rIns="0" bIns="0" rtlCol="0" anchor="ctr"/>
          <a:lstStyle/>
          <a:p>
            <a:pPr indent="0" marL="0">
              <a:buNone/>
            </a:pPr>
            <a:r>
              <a:rPr lang="en-US" sz="950" dirty="0">
                <a:solidFill>
                  <a:srgbClr val="1F5468"/>
                </a:solidFill>
                <a:latin typeface="Courier New" pitchFamily="34" charset="0"/>
                <a:ea typeface="Courier New" pitchFamily="34" charset="-122"/>
                <a:cs typeface="Courier New" pitchFamily="34" charset="-120"/>
              </a:rPr>
              <a:t>Taille de la file d'attente</a:t>
            </a:r>
            <a:endParaRPr lang="en-US" sz="950" dirty="0"/>
          </a:p>
          <a:p>
            <a:pPr indent="0" marL="0">
              <a:buNone/>
            </a:pPr>
            <a:r>
              <a:rPr lang="en-US" sz="950" dirty="0">
                <a:solidFill>
                  <a:srgbClr val="1F5468"/>
                </a:solidFill>
                <a:latin typeface="Courier New" pitchFamily="34" charset="0"/>
                <a:ea typeface="Courier New" pitchFamily="34" charset="-122"/>
                <a:cs typeface="Courier New" pitchFamily="34" charset="-120"/>
              </a:rPr>
              <a:t>(alerte au-delà de 50)</a:t>
            </a:r>
            <a:endParaRPr lang="en-US" sz="950" dirty="0"/>
          </a:p>
        </p:txBody>
      </p:sp>
      <p:sp>
        <p:nvSpPr>
          <p:cNvPr id="22" name="Shape 19"/>
          <p:cNvSpPr/>
          <p:nvPr/>
        </p:nvSpPr>
        <p:spPr>
          <a:xfrm>
            <a:off x="566928" y="4394037"/>
            <a:ext cx="11057839" cy="949553"/>
          </a:xfrm>
          <a:prstGeom prst="roundRect">
            <a:avLst>
              <a:gd name="adj" fmla="val 3370"/>
            </a:avLst>
          </a:prstGeom>
          <a:solidFill>
            <a:srgbClr val="F1F5F7"/>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23" name="Shape 20"/>
          <p:cNvSpPr/>
          <p:nvPr/>
        </p:nvSpPr>
        <p:spPr>
          <a:xfrm>
            <a:off x="768096" y="4606290"/>
            <a:ext cx="566928" cy="525047"/>
          </a:xfrm>
          <a:prstGeom prst="roundRect">
            <a:avLst>
              <a:gd name="adj" fmla="val 8708"/>
            </a:avLst>
          </a:prstGeom>
          <a:solidFill>
            <a:srgbClr val="AE3F2C"/>
          </a:solidFill>
          <a:ln/>
        </p:spPr>
      </p:sp>
      <p:sp>
        <p:nvSpPr>
          <p:cNvPr id="24" name="Text 21"/>
          <p:cNvSpPr/>
          <p:nvPr/>
        </p:nvSpPr>
        <p:spPr>
          <a:xfrm>
            <a:off x="768096" y="4606290"/>
            <a:ext cx="566928" cy="525047"/>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R7</a:t>
            </a:r>
            <a:endParaRPr lang="en-US" sz="1200" dirty="0"/>
          </a:p>
        </p:txBody>
      </p:sp>
      <p:sp>
        <p:nvSpPr>
          <p:cNvPr id="25" name="Text 22"/>
          <p:cNvSpPr/>
          <p:nvPr/>
        </p:nvSpPr>
        <p:spPr>
          <a:xfrm>
            <a:off x="1408176" y="4606290"/>
            <a:ext cx="457200" cy="525047"/>
          </a:xfrm>
          <a:prstGeom prst="rect">
            <a:avLst/>
          </a:prstGeom>
          <a:noFill/>
          <a:ln/>
        </p:spPr>
        <p:txBody>
          <a:bodyPr wrap="square" lIns="0" tIns="0" rIns="0" bIns="0" rtlCol="0" anchor="ctr"/>
          <a:lstStyle/>
          <a:p>
            <a:pPr algn="ctr" indent="0" marL="0">
              <a:buNone/>
            </a:pPr>
            <a:r>
              <a:rPr lang="en-US" sz="1900" b="1" dirty="0">
                <a:solidFill>
                  <a:srgbClr val="AE3F2C"/>
                </a:solidFill>
                <a:latin typeface="Cambria" pitchFamily="34" charset="0"/>
                <a:ea typeface="Cambria" pitchFamily="34" charset="-122"/>
                <a:cs typeface="Cambria" pitchFamily="34" charset="-120"/>
              </a:rPr>
              <a:t>12</a:t>
            </a:r>
            <a:endParaRPr lang="en-US" sz="1900" dirty="0"/>
          </a:p>
        </p:txBody>
      </p:sp>
      <p:sp>
        <p:nvSpPr>
          <p:cNvPr id="26" name="Text 23"/>
          <p:cNvSpPr/>
          <p:nvPr/>
        </p:nvSpPr>
        <p:spPr>
          <a:xfrm>
            <a:off x="1984248" y="4561605"/>
            <a:ext cx="2286000" cy="625588"/>
          </a:xfrm>
          <a:prstGeom prst="rect">
            <a:avLst/>
          </a:prstGeom>
          <a:noFill/>
          <a:ln/>
        </p:spPr>
        <p:txBody>
          <a:bodyPr wrap="square" lIns="0" tIns="0" rIns="0" bIns="0" rtlCol="0" anchor="ctr"/>
          <a:lstStyle/>
          <a:p>
            <a:pPr indent="0" marL="0">
              <a:buNone/>
            </a:pPr>
            <a:r>
              <a:rPr lang="en-US" sz="1200" b="1" dirty="0">
                <a:solidFill>
                  <a:srgbClr val="0E1D28"/>
                </a:solidFill>
                <a:latin typeface="Calibri" pitchFamily="34" charset="0"/>
                <a:ea typeface="Calibri" pitchFamily="34" charset="-122"/>
                <a:cs typeface="Calibri" pitchFamily="34" charset="-120"/>
              </a:rPr>
              <a:t>Injections SQL, NoSQL</a:t>
            </a:r>
            <a:endParaRPr lang="en-US" sz="1200" dirty="0"/>
          </a:p>
          <a:p>
            <a:pPr indent="0" marL="0">
              <a:buNone/>
            </a:pPr>
            <a:r>
              <a:rPr lang="en-US" sz="1200" b="1" dirty="0">
                <a:solidFill>
                  <a:srgbClr val="0E1D28"/>
                </a:solidFill>
                <a:latin typeface="Calibri" pitchFamily="34" charset="0"/>
                <a:ea typeface="Calibri" pitchFamily="34" charset="-122"/>
                <a:cs typeface="Calibri" pitchFamily="34" charset="-120"/>
              </a:rPr>
              <a:t>et commandes système</a:t>
            </a:r>
            <a:endParaRPr lang="en-US" sz="1200" dirty="0"/>
          </a:p>
        </p:txBody>
      </p:sp>
      <p:sp>
        <p:nvSpPr>
          <p:cNvPr id="27" name="Text 24"/>
          <p:cNvSpPr/>
          <p:nvPr/>
        </p:nvSpPr>
        <p:spPr>
          <a:xfrm>
            <a:off x="4407408" y="4561605"/>
            <a:ext cx="4480560" cy="625588"/>
          </a:xfrm>
          <a:prstGeom prst="rect">
            <a:avLst/>
          </a:prstGeom>
          <a:noFill/>
          <a:ln/>
        </p:spPr>
        <p:txBody>
          <a:bodyPr wrap="square" lIns="0" tIns="0" rIns="0" bIns="0" rtlCol="0" anchor="ctr"/>
          <a:lstStyle/>
          <a:p>
            <a:pPr indent="0" marL="0">
              <a:buNone/>
            </a:pPr>
            <a:r>
              <a:rPr lang="en-US" sz="1150" dirty="0">
                <a:solidFill>
                  <a:srgbClr val="17303F"/>
                </a:solidFill>
                <a:latin typeface="Calibri" pitchFamily="34" charset="0"/>
                <a:ea typeface="Calibri" pitchFamily="34" charset="-122"/>
                <a:cs typeface="Calibri" pitchFamily="34" charset="-120"/>
              </a:rPr>
              <a:t>Bannissement des requêtes brutes, validation stricte des entrées par DTO.</a:t>
            </a:r>
            <a:endParaRPr lang="en-US" sz="1150" dirty="0"/>
          </a:p>
        </p:txBody>
      </p:sp>
      <p:sp>
        <p:nvSpPr>
          <p:cNvPr id="28" name="Text 25"/>
          <p:cNvSpPr/>
          <p:nvPr/>
        </p:nvSpPr>
        <p:spPr>
          <a:xfrm>
            <a:off x="9025128" y="4561605"/>
            <a:ext cx="2416759" cy="625588"/>
          </a:xfrm>
          <a:prstGeom prst="rect">
            <a:avLst/>
          </a:prstGeom>
          <a:noFill/>
          <a:ln/>
        </p:spPr>
        <p:txBody>
          <a:bodyPr wrap="square" lIns="0" tIns="0" rIns="0" bIns="0" rtlCol="0" anchor="ctr"/>
          <a:lstStyle/>
          <a:p>
            <a:pPr indent="0" marL="0">
              <a:buNone/>
            </a:pPr>
            <a:r>
              <a:rPr lang="en-US" sz="950" dirty="0">
                <a:solidFill>
                  <a:srgbClr val="1F5468"/>
                </a:solidFill>
                <a:latin typeface="Courier New" pitchFamily="34" charset="0"/>
                <a:ea typeface="Courier New" pitchFamily="34" charset="-122"/>
                <a:cs typeface="Courier New" pitchFamily="34" charset="-120"/>
              </a:rPr>
              <a:t>Volume de requêtes</a:t>
            </a:r>
            <a:endParaRPr lang="en-US" sz="950" dirty="0"/>
          </a:p>
          <a:p>
            <a:pPr indent="0" marL="0">
              <a:buNone/>
            </a:pPr>
            <a:r>
              <a:rPr lang="en-US" sz="950" dirty="0">
                <a:solidFill>
                  <a:srgbClr val="1F5468"/>
                </a:solidFill>
                <a:latin typeface="Courier New" pitchFamily="34" charset="0"/>
                <a:ea typeface="Courier New" pitchFamily="34" charset="-122"/>
                <a:cs typeface="Courier New" pitchFamily="34" charset="-120"/>
              </a:rPr>
              <a:t>bloquées par la gateway</a:t>
            </a:r>
            <a:endParaRPr lang="en-US" sz="950" dirty="0"/>
          </a:p>
        </p:txBody>
      </p:sp>
      <p:sp>
        <p:nvSpPr>
          <p:cNvPr id="29" name="Shape 26"/>
          <p:cNvSpPr/>
          <p:nvPr/>
        </p:nvSpPr>
        <p:spPr>
          <a:xfrm>
            <a:off x="566928" y="5432959"/>
            <a:ext cx="11057839" cy="949553"/>
          </a:xfrm>
          <a:prstGeom prst="roundRect">
            <a:avLst>
              <a:gd name="adj" fmla="val 3370"/>
            </a:avLst>
          </a:prstGeom>
          <a:solidFill>
            <a:srgbClr val="F1F5F7"/>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30" name="Shape 27"/>
          <p:cNvSpPr/>
          <p:nvPr/>
        </p:nvSpPr>
        <p:spPr>
          <a:xfrm>
            <a:off x="768096" y="5645212"/>
            <a:ext cx="566928" cy="525047"/>
          </a:xfrm>
          <a:prstGeom prst="roundRect">
            <a:avLst>
              <a:gd name="adj" fmla="val 8708"/>
            </a:avLst>
          </a:prstGeom>
          <a:solidFill>
            <a:srgbClr val="AE3F2C"/>
          </a:solidFill>
          <a:ln/>
        </p:spPr>
      </p:sp>
      <p:sp>
        <p:nvSpPr>
          <p:cNvPr id="31" name="Text 28"/>
          <p:cNvSpPr/>
          <p:nvPr/>
        </p:nvSpPr>
        <p:spPr>
          <a:xfrm>
            <a:off x="768096" y="5645212"/>
            <a:ext cx="566928" cy="525047"/>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R10</a:t>
            </a:r>
            <a:endParaRPr lang="en-US" sz="1200" dirty="0"/>
          </a:p>
        </p:txBody>
      </p:sp>
      <p:sp>
        <p:nvSpPr>
          <p:cNvPr id="32" name="Text 29"/>
          <p:cNvSpPr/>
          <p:nvPr/>
        </p:nvSpPr>
        <p:spPr>
          <a:xfrm>
            <a:off x="1408176" y="5645212"/>
            <a:ext cx="457200" cy="525047"/>
          </a:xfrm>
          <a:prstGeom prst="rect">
            <a:avLst/>
          </a:prstGeom>
          <a:noFill/>
          <a:ln/>
        </p:spPr>
        <p:txBody>
          <a:bodyPr wrap="square" lIns="0" tIns="0" rIns="0" bIns="0" rtlCol="0" anchor="ctr"/>
          <a:lstStyle/>
          <a:p>
            <a:pPr algn="ctr" indent="0" marL="0">
              <a:buNone/>
            </a:pPr>
            <a:r>
              <a:rPr lang="en-US" sz="1900" b="1" dirty="0">
                <a:solidFill>
                  <a:srgbClr val="AE3F2C"/>
                </a:solidFill>
                <a:latin typeface="Cambria" pitchFamily="34" charset="0"/>
                <a:ea typeface="Cambria" pitchFamily="34" charset="-122"/>
                <a:cs typeface="Cambria" pitchFamily="34" charset="-120"/>
              </a:rPr>
              <a:t>12</a:t>
            </a:r>
            <a:endParaRPr lang="en-US" sz="1900" dirty="0"/>
          </a:p>
        </p:txBody>
      </p:sp>
      <p:sp>
        <p:nvSpPr>
          <p:cNvPr id="33" name="Text 30"/>
          <p:cNvSpPr/>
          <p:nvPr/>
        </p:nvSpPr>
        <p:spPr>
          <a:xfrm>
            <a:off x="1984248" y="5600527"/>
            <a:ext cx="2286000" cy="625588"/>
          </a:xfrm>
          <a:prstGeom prst="rect">
            <a:avLst/>
          </a:prstGeom>
          <a:noFill/>
          <a:ln/>
        </p:spPr>
        <p:txBody>
          <a:bodyPr wrap="square" lIns="0" tIns="0" rIns="0" bIns="0" rtlCol="0" anchor="ctr"/>
          <a:lstStyle/>
          <a:p>
            <a:pPr indent="0" marL="0">
              <a:buNone/>
            </a:pPr>
            <a:r>
              <a:rPr lang="en-US" sz="1200" b="1" dirty="0">
                <a:solidFill>
                  <a:srgbClr val="0E1D28"/>
                </a:solidFill>
                <a:latin typeface="Calibri" pitchFamily="34" charset="0"/>
                <a:ea typeface="Calibri" pitchFamily="34" charset="-122"/>
                <a:cs typeface="Calibri" pitchFamily="34" charset="-120"/>
              </a:rPr>
              <a:t>Faible taux de complétion</a:t>
            </a:r>
            <a:endParaRPr lang="en-US" sz="1200" dirty="0"/>
          </a:p>
          <a:p>
            <a:pPr indent="0" marL="0">
              <a:buNone/>
            </a:pPr>
            <a:r>
              <a:rPr lang="en-US" sz="1200" b="1" dirty="0">
                <a:solidFill>
                  <a:srgbClr val="0E1D28"/>
                </a:solidFill>
                <a:latin typeface="Calibri" pitchFamily="34" charset="0"/>
                <a:ea typeface="Calibri" pitchFamily="34" charset="-122"/>
                <a:cs typeface="Calibri" pitchFamily="34" charset="-120"/>
              </a:rPr>
              <a:t>des profils</a:t>
            </a:r>
            <a:endParaRPr lang="en-US" sz="1200" dirty="0"/>
          </a:p>
        </p:txBody>
      </p:sp>
      <p:sp>
        <p:nvSpPr>
          <p:cNvPr id="34" name="Text 31"/>
          <p:cNvSpPr/>
          <p:nvPr/>
        </p:nvSpPr>
        <p:spPr>
          <a:xfrm>
            <a:off x="4407408" y="5600527"/>
            <a:ext cx="4480560" cy="625588"/>
          </a:xfrm>
          <a:prstGeom prst="rect">
            <a:avLst/>
          </a:prstGeom>
          <a:noFill/>
          <a:ln/>
        </p:spPr>
        <p:txBody>
          <a:bodyPr wrap="square" lIns="0" tIns="0" rIns="0" bIns="0" rtlCol="0" anchor="ctr"/>
          <a:lstStyle/>
          <a:p>
            <a:pPr indent="0" marL="0">
              <a:buNone/>
            </a:pPr>
            <a:r>
              <a:rPr lang="en-US" sz="1150" dirty="0">
                <a:solidFill>
                  <a:srgbClr val="17303F"/>
                </a:solidFill>
                <a:latin typeface="Calibri" pitchFamily="34" charset="0"/>
                <a:ea typeface="Calibri" pitchFamily="34" charset="-122"/>
                <a:cs typeface="Calibri" pitchFamily="34" charset="-120"/>
              </a:rPr>
              <a:t>Gamification de l'Armurerie : cartes visuelles, progression, badges.</a:t>
            </a:r>
            <a:endParaRPr lang="en-US" sz="1150" dirty="0"/>
          </a:p>
        </p:txBody>
      </p:sp>
      <p:sp>
        <p:nvSpPr>
          <p:cNvPr id="35" name="Text 32"/>
          <p:cNvSpPr/>
          <p:nvPr/>
        </p:nvSpPr>
        <p:spPr>
          <a:xfrm>
            <a:off x="9025128" y="5600527"/>
            <a:ext cx="2416759" cy="625588"/>
          </a:xfrm>
          <a:prstGeom prst="rect">
            <a:avLst/>
          </a:prstGeom>
          <a:noFill/>
          <a:ln/>
        </p:spPr>
        <p:txBody>
          <a:bodyPr wrap="square" lIns="0" tIns="0" rIns="0" bIns="0" rtlCol="0" anchor="ctr"/>
          <a:lstStyle/>
          <a:p>
            <a:pPr indent="0" marL="0">
              <a:buNone/>
            </a:pPr>
            <a:r>
              <a:rPr lang="en-US" sz="950" dirty="0">
                <a:solidFill>
                  <a:srgbClr val="1F5468"/>
                </a:solidFill>
                <a:latin typeface="Courier New" pitchFamily="34" charset="0"/>
                <a:ea typeface="Courier New" pitchFamily="34" charset="-122"/>
                <a:cs typeface="Courier New" pitchFamily="34" charset="-120"/>
              </a:rPr>
              <a:t>Taux d'abandon</a:t>
            </a:r>
            <a:endParaRPr lang="en-US" sz="950" dirty="0"/>
          </a:p>
          <a:p>
            <a:pPr indent="0" marL="0">
              <a:buNone/>
            </a:pPr>
            <a:r>
              <a:rPr lang="en-US" sz="950" dirty="0">
                <a:solidFill>
                  <a:srgbClr val="1F5468"/>
                </a:solidFill>
                <a:latin typeface="Courier New" pitchFamily="34" charset="0"/>
                <a:ea typeface="Courier New" pitchFamily="34" charset="-122"/>
                <a:cs typeface="Courier New" pitchFamily="34" charset="-120"/>
              </a:rPr>
              <a:t>du tunnel d'inscription</a:t>
            </a:r>
            <a:endParaRPr lang="en-US" sz="950" dirty="0"/>
          </a:p>
        </p:txBody>
      </p:sp>
      <p:sp>
        <p:nvSpPr>
          <p:cNvPr id="36" name="Text 33"/>
          <p:cNvSpPr/>
          <p:nvPr/>
        </p:nvSpPr>
        <p:spPr>
          <a:xfrm>
            <a:off x="1353312" y="2048083"/>
            <a:ext cx="566928" cy="245767"/>
          </a:xfrm>
          <a:prstGeom prst="rect">
            <a:avLst/>
          </a:prstGeom>
          <a:noFill/>
          <a:ln/>
        </p:spPr>
        <p:txBody>
          <a:bodyPr wrap="square" lIns="0" tIns="0" rIns="0" bIns="0" rtlCol="0" anchor="ctr"/>
          <a:lstStyle/>
          <a:p>
            <a:pPr algn="ctr" indent="0" marL="0">
              <a:buNone/>
            </a:pPr>
            <a:r>
              <a:rPr lang="en-US" sz="750" b="1" dirty="0">
                <a:solidFill>
                  <a:srgbClr val="5B6E7B"/>
                </a:solidFill>
                <a:latin typeface="Courier New" pitchFamily="34" charset="0"/>
                <a:ea typeface="Courier New" pitchFamily="34" charset="-122"/>
                <a:cs typeface="Courier New" pitchFamily="34" charset="-120"/>
              </a:rPr>
              <a:t>CRITICITÉ</a:t>
            </a:r>
            <a:endParaRPr lang="en-US" sz="750" dirty="0"/>
          </a:p>
        </p:txBody>
      </p:sp>
      <p:sp>
        <p:nvSpPr>
          <p:cNvPr id="37" name="Text 34"/>
          <p:cNvSpPr/>
          <p:nvPr/>
        </p:nvSpPr>
        <p:spPr>
          <a:xfrm>
            <a:off x="4407408" y="2048083"/>
            <a:ext cx="2743200" cy="245767"/>
          </a:xfrm>
          <a:prstGeom prst="rect">
            <a:avLst/>
          </a:prstGeom>
          <a:noFill/>
          <a:ln/>
        </p:spPr>
        <p:txBody>
          <a:bodyPr wrap="square" lIns="0" tIns="0" rIns="0" bIns="0" rtlCol="0" anchor="ctr"/>
          <a:lstStyle/>
          <a:p>
            <a:pPr indent="0" marL="0">
              <a:buNone/>
            </a:pPr>
            <a:r>
              <a:rPr lang="en-US" sz="750" b="1" spc="100" kern="0" dirty="0">
                <a:solidFill>
                  <a:srgbClr val="5B6E7B"/>
                </a:solidFill>
                <a:latin typeface="Courier New" pitchFamily="34" charset="0"/>
                <a:ea typeface="Courier New" pitchFamily="34" charset="-122"/>
                <a:cs typeface="Courier New" pitchFamily="34" charset="-120"/>
              </a:rPr>
              <a:t>PARADE MISE EN ŒUVRE</a:t>
            </a:r>
            <a:endParaRPr lang="en-US" sz="750" dirty="0"/>
          </a:p>
        </p:txBody>
      </p:sp>
      <p:sp>
        <p:nvSpPr>
          <p:cNvPr id="38" name="Text 35"/>
          <p:cNvSpPr/>
          <p:nvPr/>
        </p:nvSpPr>
        <p:spPr>
          <a:xfrm>
            <a:off x="9025128" y="2048083"/>
            <a:ext cx="2743200" cy="245767"/>
          </a:xfrm>
          <a:prstGeom prst="rect">
            <a:avLst/>
          </a:prstGeom>
          <a:noFill/>
          <a:ln/>
        </p:spPr>
        <p:txBody>
          <a:bodyPr wrap="square" lIns="0" tIns="0" rIns="0" bIns="0" rtlCol="0" anchor="ctr"/>
          <a:lstStyle/>
          <a:p>
            <a:pPr indent="0" marL="0">
              <a:buNone/>
            </a:pPr>
            <a:r>
              <a:rPr lang="en-US" sz="750" b="1" spc="100" kern="0" dirty="0">
                <a:solidFill>
                  <a:srgbClr val="5B6E7B"/>
                </a:solidFill>
                <a:latin typeface="Courier New" pitchFamily="34" charset="0"/>
                <a:ea typeface="Courier New" pitchFamily="34" charset="-122"/>
                <a:cs typeface="Courier New" pitchFamily="34" charset="-120"/>
              </a:rPr>
              <a:t>INDICATEUR DE CONTRÔLE</a:t>
            </a:r>
            <a:endParaRPr lang="en-US" sz="750" dirty="0"/>
          </a:p>
        </p:txBody>
      </p:sp>
      <p:sp>
        <p:nvSpPr>
          <p:cNvPr id="39" name="Text 36"/>
          <p:cNvSpPr/>
          <p:nvPr/>
        </p:nvSpPr>
        <p:spPr>
          <a:xfrm>
            <a:off x="10984687" y="6419088"/>
            <a:ext cx="640080" cy="256032"/>
          </a:xfrm>
          <a:prstGeom prst="rect">
            <a:avLst/>
          </a:prstGeom>
          <a:noFill/>
          <a:ln/>
        </p:spPr>
        <p:txBody>
          <a:bodyPr wrap="square" lIns="0" tIns="0" rIns="0" bIns="0" rtlCol="0" anchor="ctr"/>
          <a:lstStyle/>
          <a:p>
            <a:pPr algn="r" indent="0" marL="0">
              <a:buNone/>
            </a:pPr>
            <a:r>
              <a:rPr lang="en-US" sz="1000" dirty="0">
                <a:solidFill>
                  <a:srgbClr val="9FB2BD"/>
                </a:solidFill>
                <a:latin typeface="Courier New" pitchFamily="34" charset="0"/>
                <a:ea typeface="Courier New" pitchFamily="34" charset="-122"/>
                <a:cs typeface="Courier New"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D28"/>
        </a:solidFill>
      </p:bgPr>
    </p:bg>
    <p:spTree>
      <p:nvGrpSpPr>
        <p:cNvPr id="1" name=""/>
        <p:cNvGrpSpPr/>
        <p:nvPr/>
      </p:nvGrpSpPr>
      <p:grpSpPr>
        <a:xfrm>
          <a:off x="0" y="0"/>
          <a:ext cx="0" cy="0"/>
          <a:chOff x="0" y="0"/>
          <a:chExt cx="0" cy="0"/>
        </a:xfrm>
      </p:grpSpPr>
      <p:sp>
        <p:nvSpPr>
          <p:cNvPr id="3" name="Text 0"/>
          <p:cNvSpPr/>
          <p:nvPr/>
        </p:nvSpPr>
        <p:spPr>
          <a:xfrm>
            <a:off x="566928" y="1737360"/>
            <a:ext cx="1828800" cy="1463040"/>
          </a:xfrm>
          <a:prstGeom prst="rect">
            <a:avLst/>
          </a:prstGeom>
          <a:noFill/>
          <a:ln/>
        </p:spPr>
        <p:txBody>
          <a:bodyPr wrap="square" lIns="0" tIns="0" rIns="0" bIns="0" rtlCol="0" anchor="ctr"/>
          <a:lstStyle/>
          <a:p>
            <a:pPr indent="0" marL="0">
              <a:buNone/>
            </a:pPr>
            <a:r>
              <a:rPr lang="en-US" sz="10000" b="1" dirty="0">
                <a:solidFill>
                  <a:srgbClr val="1E3646"/>
                </a:solidFill>
                <a:latin typeface="Cambria" pitchFamily="34" charset="0"/>
                <a:ea typeface="Cambria" pitchFamily="34" charset="-122"/>
                <a:cs typeface="Cambria" pitchFamily="34" charset="-120"/>
              </a:rPr>
              <a:t>02</a:t>
            </a:r>
            <a:endParaRPr lang="en-US" sz="10000" dirty="0"/>
          </a:p>
        </p:txBody>
      </p:sp>
      <p:sp>
        <p:nvSpPr>
          <p:cNvPr id="4" name="Text 1"/>
          <p:cNvSpPr/>
          <p:nvPr/>
        </p:nvSpPr>
        <p:spPr>
          <a:xfrm>
            <a:off x="566928" y="3017520"/>
            <a:ext cx="8229600" cy="100584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Piloter</a:t>
            </a:r>
            <a:endParaRPr lang="en-US" sz="6000" dirty="0"/>
          </a:p>
        </p:txBody>
      </p:sp>
      <p:sp>
        <p:nvSpPr>
          <p:cNvPr id="5" name="Text 2"/>
          <p:cNvSpPr/>
          <p:nvPr/>
        </p:nvSpPr>
        <p:spPr>
          <a:xfrm>
            <a:off x="566928" y="4069080"/>
            <a:ext cx="7863840" cy="548640"/>
          </a:xfrm>
          <a:prstGeom prst="rect">
            <a:avLst/>
          </a:prstGeom>
          <a:noFill/>
          <a:ln/>
        </p:spPr>
        <p:txBody>
          <a:bodyPr wrap="square" lIns="0" tIns="0" rIns="0" bIns="0" rtlCol="0" anchor="ctr"/>
          <a:lstStyle/>
          <a:p>
            <a:pPr indent="0" marL="0">
              <a:buNone/>
            </a:pPr>
            <a:r>
              <a:rPr lang="en-US" sz="1500" dirty="0">
                <a:solidFill>
                  <a:srgbClr val="A9BDC9"/>
                </a:solidFill>
                <a:latin typeface="Calibri" pitchFamily="34" charset="0"/>
                <a:ea typeface="Calibri" pitchFamily="34" charset="-122"/>
                <a:cs typeface="Calibri" pitchFamily="34" charset="-120"/>
              </a:rPr>
              <a:t>Outils de suivi, indicateurs clés, analyse des écarts et arbitrages</a:t>
            </a:r>
            <a:endParaRPr lang="en-US" sz="1500" dirty="0"/>
          </a:p>
        </p:txBody>
      </p:sp>
      <p:sp>
        <p:nvSpPr>
          <p:cNvPr id="6" name="Shape 3"/>
          <p:cNvSpPr/>
          <p:nvPr/>
        </p:nvSpPr>
        <p:spPr>
          <a:xfrm>
            <a:off x="7418527" y="3154680"/>
            <a:ext cx="1554480" cy="420624"/>
          </a:xfrm>
          <a:prstGeom prst="roundRect">
            <a:avLst>
              <a:gd name="adj" fmla="val 15217"/>
            </a:avLst>
          </a:prstGeom>
          <a:solidFill>
            <a:srgbClr val="D98A21"/>
          </a:solidFill>
          <a:ln/>
        </p:spPr>
      </p:sp>
      <p:sp>
        <p:nvSpPr>
          <p:cNvPr id="7" name="Text 4"/>
          <p:cNvSpPr/>
          <p:nvPr/>
        </p:nvSpPr>
        <p:spPr>
          <a:xfrm>
            <a:off x="7418527" y="3154680"/>
            <a:ext cx="1554480" cy="420624"/>
          </a:xfrm>
          <a:prstGeom prst="rect">
            <a:avLst/>
          </a:prstGeom>
          <a:noFill/>
          <a:ln/>
        </p:spPr>
        <p:txBody>
          <a:bodyPr wrap="square" lIns="0" tIns="0" rIns="0" bIns="0" rtlCol="0" anchor="ctr"/>
          <a:lstStyle/>
          <a:p>
            <a:pPr algn="ctr" indent="0" marL="0">
              <a:buNone/>
            </a:pPr>
            <a:r>
              <a:rPr lang="en-US" sz="1500" b="1" dirty="0">
                <a:solidFill>
                  <a:srgbClr val="0E1D28"/>
                </a:solidFill>
                <a:latin typeface="Courier New" pitchFamily="34" charset="0"/>
                <a:ea typeface="Courier New" pitchFamily="34" charset="-122"/>
                <a:cs typeface="Courier New" pitchFamily="34" charset="-120"/>
              </a:rPr>
              <a:t>C3.2.1</a:t>
            </a:r>
            <a:endParaRPr lang="en-US" sz="1500" dirty="0"/>
          </a:p>
        </p:txBody>
      </p:sp>
      <p:sp>
        <p:nvSpPr>
          <p:cNvPr id="8" name="Shape 5"/>
          <p:cNvSpPr/>
          <p:nvPr/>
        </p:nvSpPr>
        <p:spPr>
          <a:xfrm>
            <a:off x="9064447" y="3154680"/>
            <a:ext cx="1280160" cy="420624"/>
          </a:xfrm>
          <a:prstGeom prst="roundRect">
            <a:avLst>
              <a:gd name="adj" fmla="val 15217"/>
            </a:avLst>
          </a:prstGeom>
          <a:solidFill>
            <a:srgbClr val="AE3F2C"/>
          </a:solidFill>
          <a:ln/>
        </p:spPr>
      </p:sp>
      <p:sp>
        <p:nvSpPr>
          <p:cNvPr id="9" name="Text 6"/>
          <p:cNvSpPr/>
          <p:nvPr/>
        </p:nvSpPr>
        <p:spPr>
          <a:xfrm>
            <a:off x="9064447" y="3154680"/>
            <a:ext cx="1280160"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ÉLIM.</a:t>
            </a:r>
            <a:endParaRPr lang="en-US" sz="1100" dirty="0"/>
          </a:p>
        </p:txBody>
      </p:sp>
      <p:sp>
        <p:nvSpPr>
          <p:cNvPr id="10" name="Shape 7"/>
          <p:cNvSpPr/>
          <p:nvPr/>
        </p:nvSpPr>
        <p:spPr>
          <a:xfrm>
            <a:off x="10436047" y="3154680"/>
            <a:ext cx="1188720" cy="420624"/>
          </a:xfrm>
          <a:prstGeom prst="roundRect">
            <a:avLst>
              <a:gd name="adj" fmla="val 15217"/>
            </a:avLst>
          </a:prstGeom>
          <a:solidFill>
            <a:srgbClr val="1F5468"/>
          </a:solidFill>
          <a:ln w="12700">
            <a:solidFill>
              <a:srgbClr val="3E7A93"/>
            </a:solidFill>
            <a:prstDash val="solid"/>
          </a:ln>
        </p:spPr>
      </p:sp>
      <p:sp>
        <p:nvSpPr>
          <p:cNvPr id="11" name="Text 8"/>
          <p:cNvSpPr/>
          <p:nvPr/>
        </p:nvSpPr>
        <p:spPr>
          <a:xfrm>
            <a:off x="10436047" y="3154680"/>
            <a:ext cx="118872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C3.2.2</a:t>
            </a:r>
            <a:endParaRPr lang="en-US" sz="1200" dirty="0"/>
          </a:p>
        </p:txBody>
      </p:sp>
      <p:sp>
        <p:nvSpPr>
          <p:cNvPr id="12" name="Text 9"/>
          <p:cNvSpPr/>
          <p:nvPr/>
        </p:nvSpPr>
        <p:spPr>
          <a:xfrm>
            <a:off x="10984687" y="6419088"/>
            <a:ext cx="640080" cy="256032"/>
          </a:xfrm>
          <a:prstGeom prst="rect">
            <a:avLst/>
          </a:prstGeom>
          <a:noFill/>
          <a:ln/>
        </p:spPr>
        <p:txBody>
          <a:bodyPr wrap="square" lIns="0" tIns="0" rIns="0" bIns="0" rtlCol="0" anchor="ctr"/>
          <a:lstStyle/>
          <a:p>
            <a:pPr algn="r" indent="0" marL="0">
              <a:buNone/>
            </a:pPr>
            <a:r>
              <a:rPr lang="en-US" sz="1000" dirty="0">
                <a:solidFill>
                  <a:srgbClr val="5D7686"/>
                </a:solidFill>
                <a:latin typeface="Courier New" pitchFamily="34" charset="0"/>
                <a:ea typeface="Courier New" pitchFamily="34" charset="-122"/>
                <a:cs typeface="Courier New"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D28"/>
        </a:solidFill>
      </p:bgPr>
    </p:bg>
    <p:spTree>
      <p:nvGrpSpPr>
        <p:cNvPr id="1" name=""/>
        <p:cNvGrpSpPr/>
        <p:nvPr/>
      </p:nvGrpSpPr>
      <p:grpSpPr>
        <a:xfrm>
          <a:off x="0" y="0"/>
          <a:ext cx="0" cy="0"/>
          <a:chOff x="0" y="0"/>
          <a:chExt cx="0" cy="0"/>
        </a:xfrm>
      </p:grpSpPr>
      <p:sp>
        <p:nvSpPr>
          <p:cNvPr id="3" name="Text 0"/>
          <p:cNvSpPr/>
          <p:nvPr/>
        </p:nvSpPr>
        <p:spPr>
          <a:xfrm>
            <a:off x="566928" y="384048"/>
            <a:ext cx="5486400" cy="219456"/>
          </a:xfrm>
          <a:prstGeom prst="rect">
            <a:avLst/>
          </a:prstGeom>
          <a:noFill/>
          <a:ln/>
        </p:spPr>
        <p:txBody>
          <a:bodyPr wrap="square" lIns="0" tIns="0" rIns="0" bIns="0" rtlCol="0" anchor="ctr"/>
          <a:lstStyle/>
          <a:p>
            <a:pPr indent="0" marL="0">
              <a:buNone/>
            </a:pPr>
            <a:r>
              <a:rPr lang="en-US" sz="1050" b="1" spc="160" kern="0" dirty="0">
                <a:solidFill>
                  <a:srgbClr val="F0AE44"/>
                </a:solidFill>
                <a:latin typeface="Courier New" pitchFamily="34" charset="0"/>
                <a:ea typeface="Courier New" pitchFamily="34" charset="-122"/>
                <a:cs typeface="Courier New" pitchFamily="34" charset="-120"/>
              </a:rPr>
              <a:t>PARTIE 2 · PILOTER</a:t>
            </a:r>
            <a:endParaRPr lang="en-US" sz="1050" dirty="0"/>
          </a:p>
        </p:txBody>
      </p:sp>
      <p:sp>
        <p:nvSpPr>
          <p:cNvPr id="4" name="Text 1"/>
          <p:cNvSpPr/>
          <p:nvPr/>
        </p:nvSpPr>
        <p:spPr>
          <a:xfrm>
            <a:off x="566928" y="621792"/>
            <a:ext cx="8625115" cy="548640"/>
          </a:xfrm>
          <a:prstGeom prst="rect">
            <a:avLst/>
          </a:prstGeom>
          <a:noFill/>
          <a:ln/>
        </p:spPr>
        <p:txBody>
          <a:bodyPr wrap="square" lIns="0" tIns="0" rIns="0" bIns="0" rtlCol="0" anchor="ctr"/>
          <a:lstStyle/>
          <a:p>
            <a:pPr indent="0" marL="0">
              <a:buNone/>
            </a:pPr>
            <a:r>
              <a:rPr lang="en-US" sz="2900" b="1" dirty="0">
                <a:solidFill>
                  <a:srgbClr val="FFFFFF"/>
                </a:solidFill>
                <a:latin typeface="Cambria" pitchFamily="34" charset="0"/>
                <a:ea typeface="Cambria" pitchFamily="34" charset="-122"/>
                <a:cs typeface="Cambria" pitchFamily="34" charset="-120"/>
              </a:rPr>
              <a:t>L'outil de suivi</a:t>
            </a:r>
            <a:endParaRPr lang="en-US" sz="2900" dirty="0"/>
          </a:p>
        </p:txBody>
      </p:sp>
      <p:sp>
        <p:nvSpPr>
          <p:cNvPr id="5" name="Shape 2"/>
          <p:cNvSpPr/>
          <p:nvPr/>
        </p:nvSpPr>
        <p:spPr>
          <a:xfrm>
            <a:off x="9475927" y="384048"/>
            <a:ext cx="960120" cy="310896"/>
          </a:xfrm>
          <a:prstGeom prst="roundRect">
            <a:avLst>
              <a:gd name="adj" fmla="val 17647"/>
            </a:avLst>
          </a:prstGeom>
          <a:solidFill>
            <a:srgbClr val="1F5468"/>
          </a:solidFill>
          <a:ln/>
        </p:spPr>
      </p:sp>
      <p:sp>
        <p:nvSpPr>
          <p:cNvPr id="6" name="Text 3"/>
          <p:cNvSpPr/>
          <p:nvPr/>
        </p:nvSpPr>
        <p:spPr>
          <a:xfrm>
            <a:off x="9475927" y="384048"/>
            <a:ext cx="96012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RÉEL</a:t>
            </a:r>
            <a:endParaRPr lang="en-US" sz="1000" dirty="0"/>
          </a:p>
        </p:txBody>
      </p:sp>
      <p:sp>
        <p:nvSpPr>
          <p:cNvPr id="7" name="Shape 4"/>
          <p:cNvSpPr/>
          <p:nvPr/>
        </p:nvSpPr>
        <p:spPr>
          <a:xfrm>
            <a:off x="10545775" y="384048"/>
            <a:ext cx="1078992" cy="310896"/>
          </a:xfrm>
          <a:prstGeom prst="roundRect">
            <a:avLst>
              <a:gd name="adj" fmla="val 17647"/>
            </a:avLst>
          </a:prstGeom>
          <a:solidFill>
            <a:srgbClr val="AE3F2C"/>
          </a:solidFill>
          <a:ln/>
        </p:spPr>
      </p:sp>
      <p:sp>
        <p:nvSpPr>
          <p:cNvPr id="8" name="Text 5"/>
          <p:cNvSpPr/>
          <p:nvPr/>
        </p:nvSpPr>
        <p:spPr>
          <a:xfrm>
            <a:off x="10545775" y="384048"/>
            <a:ext cx="1078992"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C3.2.1</a:t>
            </a:r>
            <a:endParaRPr lang="en-US" sz="1000" dirty="0"/>
          </a:p>
        </p:txBody>
      </p:sp>
      <p:sp>
        <p:nvSpPr>
          <p:cNvPr id="9" name="Shape 6"/>
          <p:cNvSpPr/>
          <p:nvPr/>
        </p:nvSpPr>
        <p:spPr>
          <a:xfrm>
            <a:off x="566928" y="1298448"/>
            <a:ext cx="2450592" cy="493776"/>
          </a:xfrm>
          <a:prstGeom prst="roundRect">
            <a:avLst>
              <a:gd name="adj" fmla="val 11111"/>
            </a:avLst>
          </a:prstGeom>
          <a:solidFill>
            <a:srgbClr val="162936"/>
          </a:solidFill>
          <a:ln w="12700">
            <a:solidFill>
              <a:srgbClr val="2E5468"/>
            </a:solidFill>
            <a:prstDash val="solid"/>
          </a:ln>
        </p:spPr>
      </p:sp>
      <p:sp>
        <p:nvSpPr>
          <p:cNvPr id="10" name="Text 7"/>
          <p:cNvSpPr/>
          <p:nvPr/>
        </p:nvSpPr>
        <p:spPr>
          <a:xfrm>
            <a:off x="566928" y="1298448"/>
            <a:ext cx="2450592" cy="49377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Ticket</a:t>
            </a:r>
            <a:endParaRPr lang="en-US" sz="1500" dirty="0"/>
          </a:p>
        </p:txBody>
      </p:sp>
      <p:sp>
        <p:nvSpPr>
          <p:cNvPr id="11" name="Shape 8"/>
          <p:cNvSpPr/>
          <p:nvPr/>
        </p:nvSpPr>
        <p:spPr>
          <a:xfrm>
            <a:off x="3108960" y="1463040"/>
            <a:ext cx="228600" cy="164592"/>
          </a:xfrm>
          <a:prstGeom prst="rightArrow">
            <a:avLst/>
          </a:prstGeom>
          <a:solidFill>
            <a:srgbClr val="F0AE44"/>
          </a:solidFill>
          <a:ln w="12700">
            <a:solidFill>
              <a:srgbClr val="F0AE44"/>
            </a:solidFill>
            <a:prstDash val="solid"/>
          </a:ln>
        </p:spPr>
      </p:sp>
      <p:sp>
        <p:nvSpPr>
          <p:cNvPr id="12" name="Shape 9"/>
          <p:cNvSpPr/>
          <p:nvPr/>
        </p:nvSpPr>
        <p:spPr>
          <a:xfrm>
            <a:off x="3429000" y="1298448"/>
            <a:ext cx="2450592" cy="493776"/>
          </a:xfrm>
          <a:prstGeom prst="roundRect">
            <a:avLst>
              <a:gd name="adj" fmla="val 11111"/>
            </a:avLst>
          </a:prstGeom>
          <a:solidFill>
            <a:srgbClr val="162936"/>
          </a:solidFill>
          <a:ln w="12700">
            <a:solidFill>
              <a:srgbClr val="2E5468"/>
            </a:solidFill>
            <a:prstDash val="solid"/>
          </a:ln>
        </p:spPr>
      </p:sp>
      <p:sp>
        <p:nvSpPr>
          <p:cNvPr id="13" name="Text 10"/>
          <p:cNvSpPr/>
          <p:nvPr/>
        </p:nvSpPr>
        <p:spPr>
          <a:xfrm>
            <a:off x="3429000" y="1298448"/>
            <a:ext cx="2450592" cy="49377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Branche</a:t>
            </a:r>
            <a:endParaRPr lang="en-US" sz="1500" dirty="0"/>
          </a:p>
        </p:txBody>
      </p:sp>
      <p:sp>
        <p:nvSpPr>
          <p:cNvPr id="14" name="Shape 11"/>
          <p:cNvSpPr/>
          <p:nvPr/>
        </p:nvSpPr>
        <p:spPr>
          <a:xfrm>
            <a:off x="5971032" y="1463040"/>
            <a:ext cx="228600" cy="164592"/>
          </a:xfrm>
          <a:prstGeom prst="rightArrow">
            <a:avLst/>
          </a:prstGeom>
          <a:solidFill>
            <a:srgbClr val="F0AE44"/>
          </a:solidFill>
          <a:ln w="12700">
            <a:solidFill>
              <a:srgbClr val="F0AE44"/>
            </a:solidFill>
            <a:prstDash val="solid"/>
          </a:ln>
        </p:spPr>
      </p:sp>
      <p:sp>
        <p:nvSpPr>
          <p:cNvPr id="15" name="Shape 12"/>
          <p:cNvSpPr/>
          <p:nvPr/>
        </p:nvSpPr>
        <p:spPr>
          <a:xfrm>
            <a:off x="6291072" y="1298448"/>
            <a:ext cx="2450592" cy="493776"/>
          </a:xfrm>
          <a:prstGeom prst="roundRect">
            <a:avLst>
              <a:gd name="adj" fmla="val 11111"/>
            </a:avLst>
          </a:prstGeom>
          <a:solidFill>
            <a:srgbClr val="162936"/>
          </a:solidFill>
          <a:ln w="12700">
            <a:solidFill>
              <a:srgbClr val="2E5468"/>
            </a:solidFill>
            <a:prstDash val="solid"/>
          </a:ln>
        </p:spPr>
      </p:sp>
      <p:sp>
        <p:nvSpPr>
          <p:cNvPr id="16" name="Text 13"/>
          <p:cNvSpPr/>
          <p:nvPr/>
        </p:nvSpPr>
        <p:spPr>
          <a:xfrm>
            <a:off x="6291072" y="1298448"/>
            <a:ext cx="2450592" cy="49377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Pull Request</a:t>
            </a:r>
            <a:endParaRPr lang="en-US" sz="1500" dirty="0"/>
          </a:p>
        </p:txBody>
      </p:sp>
      <p:sp>
        <p:nvSpPr>
          <p:cNvPr id="17" name="Shape 14"/>
          <p:cNvSpPr/>
          <p:nvPr/>
        </p:nvSpPr>
        <p:spPr>
          <a:xfrm>
            <a:off x="8833104" y="1463040"/>
            <a:ext cx="228600" cy="164592"/>
          </a:xfrm>
          <a:prstGeom prst="rightArrow">
            <a:avLst/>
          </a:prstGeom>
          <a:solidFill>
            <a:srgbClr val="F0AE44"/>
          </a:solidFill>
          <a:ln w="12700">
            <a:solidFill>
              <a:srgbClr val="F0AE44"/>
            </a:solidFill>
            <a:prstDash val="solid"/>
          </a:ln>
        </p:spPr>
      </p:sp>
      <p:sp>
        <p:nvSpPr>
          <p:cNvPr id="18" name="Shape 15"/>
          <p:cNvSpPr/>
          <p:nvPr/>
        </p:nvSpPr>
        <p:spPr>
          <a:xfrm>
            <a:off x="9153144" y="1298448"/>
            <a:ext cx="2450592" cy="493776"/>
          </a:xfrm>
          <a:prstGeom prst="roundRect">
            <a:avLst>
              <a:gd name="adj" fmla="val 11111"/>
            </a:avLst>
          </a:prstGeom>
          <a:solidFill>
            <a:srgbClr val="162936"/>
          </a:solidFill>
          <a:ln w="12700">
            <a:solidFill>
              <a:srgbClr val="2E5468"/>
            </a:solidFill>
            <a:prstDash val="solid"/>
          </a:ln>
        </p:spPr>
      </p:sp>
      <p:sp>
        <p:nvSpPr>
          <p:cNvPr id="19" name="Text 16"/>
          <p:cNvSpPr/>
          <p:nvPr/>
        </p:nvSpPr>
        <p:spPr>
          <a:xfrm>
            <a:off x="9153144" y="1298448"/>
            <a:ext cx="2450592" cy="49377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Version déployée</a:t>
            </a:r>
            <a:endParaRPr lang="en-US" sz="1500" dirty="0"/>
          </a:p>
        </p:txBody>
      </p:sp>
      <p:sp>
        <p:nvSpPr>
          <p:cNvPr id="20" name="Text 17"/>
          <p:cNvSpPr/>
          <p:nvPr/>
        </p:nvSpPr>
        <p:spPr>
          <a:xfrm>
            <a:off x="566928" y="1920240"/>
            <a:ext cx="11057839" cy="274320"/>
          </a:xfrm>
          <a:prstGeom prst="rect">
            <a:avLst/>
          </a:prstGeom>
          <a:noFill/>
          <a:ln/>
        </p:spPr>
        <p:txBody>
          <a:bodyPr wrap="square" lIns="0" tIns="0" rIns="0" bIns="0" rtlCol="0" anchor="ctr"/>
          <a:lstStyle/>
          <a:p>
            <a:pPr indent="0" marL="0">
              <a:buNone/>
            </a:pPr>
            <a:r>
              <a:rPr lang="en-US" sz="1300" dirty="0">
                <a:solidFill>
                  <a:srgbClr val="A9BDC9"/>
                </a:solidFill>
                <a:latin typeface="Calibri" pitchFamily="34" charset="0"/>
                <a:ea typeface="Calibri" pitchFamily="34" charset="-122"/>
                <a:cs typeface="Calibri" pitchFamily="34" charset="-120"/>
              </a:rPr>
              <a:t>Toute exigence qui va jusqu'en production a franchi ces quatre maillons, dans cet ordre. Chacun laisse une trace horodatée, et aucun ne peut être sauté.</a:t>
            </a:r>
            <a:endParaRPr lang="en-US" sz="1300" dirty="0"/>
          </a:p>
        </p:txBody>
      </p:sp>
      <p:sp>
        <p:nvSpPr>
          <p:cNvPr id="21" name="Text 18"/>
          <p:cNvSpPr/>
          <p:nvPr/>
        </p:nvSpPr>
        <p:spPr>
          <a:xfrm>
            <a:off x="566928" y="2340864"/>
            <a:ext cx="2697480" cy="201168"/>
          </a:xfrm>
          <a:prstGeom prst="rect">
            <a:avLst/>
          </a:prstGeom>
          <a:noFill/>
          <a:ln/>
        </p:spPr>
        <p:txBody>
          <a:bodyPr wrap="square" lIns="0" tIns="0" rIns="0" bIns="0" rtlCol="0" anchor="ctr"/>
          <a:lstStyle/>
          <a:p>
            <a:pPr indent="0" marL="0">
              <a:buNone/>
            </a:pPr>
            <a:r>
              <a:rPr lang="en-US" sz="900" b="1" spc="110" kern="0" dirty="0">
                <a:solidFill>
                  <a:srgbClr val="F0AE44"/>
                </a:solidFill>
                <a:latin typeface="Courier New" pitchFamily="34" charset="0"/>
                <a:ea typeface="Courier New" pitchFamily="34" charset="-122"/>
                <a:cs typeface="Courier New" pitchFamily="34" charset="-120"/>
              </a:rPr>
              <a:t>LES PULL REQUESTS</a:t>
            </a:r>
            <a:endParaRPr lang="en-US" sz="900" dirty="0"/>
          </a:p>
        </p:txBody>
      </p:sp>
      <p:sp>
        <p:nvSpPr>
          <p:cNvPr id="22" name="Text 19"/>
          <p:cNvSpPr/>
          <p:nvPr/>
        </p:nvSpPr>
        <p:spPr>
          <a:xfrm>
            <a:off x="3264408" y="2267712"/>
            <a:ext cx="822960" cy="274320"/>
          </a:xfrm>
          <a:prstGeom prst="rect">
            <a:avLst/>
          </a:prstGeom>
          <a:noFill/>
          <a:ln/>
        </p:spPr>
        <p:txBody>
          <a:bodyPr wrap="square" lIns="0" tIns="0" rIns="0" bIns="0" rtlCol="0" anchor="ctr"/>
          <a:lstStyle/>
          <a:p>
            <a:pPr algn="r" indent="0" marL="0">
              <a:buNone/>
            </a:pPr>
            <a:r>
              <a:rPr lang="en-US" sz="1700" b="1" dirty="0">
                <a:solidFill>
                  <a:srgbClr val="FFFFFF"/>
                </a:solidFill>
                <a:latin typeface="Cambria" pitchFamily="34" charset="0"/>
                <a:ea typeface="Cambria" pitchFamily="34" charset="-122"/>
                <a:cs typeface="Cambria" pitchFamily="34" charset="-120"/>
              </a:rPr>
              <a:t>55</a:t>
            </a:r>
            <a:endParaRPr lang="en-US" sz="1700" dirty="0"/>
          </a:p>
        </p:txBody>
      </p:sp>
      <p:sp>
        <p:nvSpPr>
          <p:cNvPr id="23" name="Shape 20"/>
          <p:cNvSpPr/>
          <p:nvPr/>
        </p:nvSpPr>
        <p:spPr>
          <a:xfrm>
            <a:off x="521208" y="2551176"/>
            <a:ext cx="3611880" cy="1577418"/>
          </a:xfrm>
          <a:prstGeom prst="rect">
            <a:avLst/>
          </a:prstGeom>
          <a:solidFill>
            <a:srgbClr val="E6EDF1"/>
          </a:solidFill>
          <a:ln w="9525">
            <a:solidFill>
              <a:srgbClr val="D5DFE5"/>
            </a:solidFill>
            <a:prstDash val="solid"/>
          </a:ln>
          <a:effectLst>
            <a:outerShdw sx="100000" sy="100000" kx="0" ky="0" algn="bl" rotWithShape="0" blurRad="177800" dist="38100" dir="5400000">
              <a:srgbClr val="0E1D28">
                <a:alpha val="10000"/>
              </a:srgbClr>
            </a:outerShdw>
          </a:effectLst>
        </p:spPr>
      </p:sp>
      <p:pic>
        <p:nvPicPr>
          <p:cNvPr id="24" name="Image 0" descr="/home/claude/shots/G-prs.png">    </p:cNvPr>
          <p:cNvPicPr>
            <a:picLocks noChangeAspect="1"/>
          </p:cNvPicPr>
          <p:nvPr/>
        </p:nvPicPr>
        <p:blipFill>
          <a:blip r:embed="rId1"/>
          <a:stretch>
            <a:fillRect/>
          </a:stretch>
        </p:blipFill>
        <p:spPr>
          <a:xfrm>
            <a:off x="566928" y="2596896"/>
            <a:ext cx="3520440" cy="1485978"/>
          </a:xfrm>
          <a:prstGeom prst="rect">
            <a:avLst/>
          </a:prstGeom>
        </p:spPr>
      </p:pic>
      <p:sp>
        <p:nvSpPr>
          <p:cNvPr id="25" name="Text 21"/>
          <p:cNvSpPr/>
          <p:nvPr/>
        </p:nvSpPr>
        <p:spPr>
          <a:xfrm>
            <a:off x="566928" y="4315968"/>
            <a:ext cx="3520440" cy="960120"/>
          </a:xfrm>
          <a:prstGeom prst="rect">
            <a:avLst/>
          </a:prstGeom>
          <a:noFill/>
          <a:ln/>
        </p:spPr>
        <p:txBody>
          <a:bodyPr wrap="square" lIns="0" tIns="0" rIns="0" bIns="0" rtlCol="0" anchor="t"/>
          <a:lstStyle/>
          <a:p>
            <a:pPr indent="0" marL="0">
              <a:buNone/>
            </a:pPr>
            <a:r>
              <a:rPr lang="en-US" sz="1150" dirty="0">
                <a:solidFill>
                  <a:srgbClr val="C6D6DF"/>
                </a:solidFill>
                <a:latin typeface="Calibri" pitchFamily="34" charset="0"/>
                <a:ea typeface="Calibri" pitchFamily="34" charset="-122"/>
                <a:cs typeface="Calibri" pitchFamily="34" charset="-120"/>
              </a:rPr>
              <a:t>Chaque branche porte le numéro de son ticket : feature/SH-15, fix/SH-50.</a:t>
            </a:r>
            <a:endParaRPr lang="en-US" sz="1150" dirty="0"/>
          </a:p>
        </p:txBody>
      </p:sp>
      <p:sp>
        <p:nvSpPr>
          <p:cNvPr id="26" name="Text 22"/>
          <p:cNvSpPr/>
          <p:nvPr/>
        </p:nvSpPr>
        <p:spPr>
          <a:xfrm>
            <a:off x="4334256" y="2340864"/>
            <a:ext cx="2697480" cy="201168"/>
          </a:xfrm>
          <a:prstGeom prst="rect">
            <a:avLst/>
          </a:prstGeom>
          <a:noFill/>
          <a:ln/>
        </p:spPr>
        <p:txBody>
          <a:bodyPr wrap="square" lIns="0" tIns="0" rIns="0" bIns="0" rtlCol="0" anchor="ctr"/>
          <a:lstStyle/>
          <a:p>
            <a:pPr indent="0" marL="0">
              <a:buNone/>
            </a:pPr>
            <a:r>
              <a:rPr lang="en-US" sz="900" b="1" spc="110" kern="0" dirty="0">
                <a:solidFill>
                  <a:srgbClr val="F0AE44"/>
                </a:solidFill>
                <a:latin typeface="Courier New" pitchFamily="34" charset="0"/>
                <a:ea typeface="Courier New" pitchFamily="34" charset="-122"/>
                <a:cs typeface="Courier New" pitchFamily="34" charset="-120"/>
              </a:rPr>
              <a:t>L'INTÉGRATION CONTINUE</a:t>
            </a:r>
            <a:endParaRPr lang="en-US" sz="900" dirty="0"/>
          </a:p>
        </p:txBody>
      </p:sp>
      <p:sp>
        <p:nvSpPr>
          <p:cNvPr id="27" name="Text 23"/>
          <p:cNvSpPr/>
          <p:nvPr/>
        </p:nvSpPr>
        <p:spPr>
          <a:xfrm>
            <a:off x="7031736" y="2267712"/>
            <a:ext cx="822960" cy="274320"/>
          </a:xfrm>
          <a:prstGeom prst="rect">
            <a:avLst/>
          </a:prstGeom>
          <a:noFill/>
          <a:ln/>
        </p:spPr>
        <p:txBody>
          <a:bodyPr wrap="square" lIns="0" tIns="0" rIns="0" bIns="0" rtlCol="0" anchor="ctr"/>
          <a:lstStyle/>
          <a:p>
            <a:pPr algn="r" indent="0" marL="0">
              <a:buNone/>
            </a:pPr>
            <a:r>
              <a:rPr lang="en-US" sz="1700" b="1" dirty="0">
                <a:solidFill>
                  <a:srgbClr val="FFFFFF"/>
                </a:solidFill>
                <a:latin typeface="Cambria" pitchFamily="34" charset="0"/>
                <a:ea typeface="Cambria" pitchFamily="34" charset="-122"/>
                <a:cs typeface="Cambria" pitchFamily="34" charset="-120"/>
              </a:rPr>
              <a:t>274</a:t>
            </a:r>
            <a:endParaRPr lang="en-US" sz="1700" dirty="0"/>
          </a:p>
        </p:txBody>
      </p:sp>
      <p:sp>
        <p:nvSpPr>
          <p:cNvPr id="28" name="Shape 24"/>
          <p:cNvSpPr/>
          <p:nvPr/>
        </p:nvSpPr>
        <p:spPr>
          <a:xfrm>
            <a:off x="4288536" y="2551176"/>
            <a:ext cx="3611880" cy="1567208"/>
          </a:xfrm>
          <a:prstGeom prst="rect">
            <a:avLst/>
          </a:prstGeom>
          <a:solidFill>
            <a:srgbClr val="E6EDF1"/>
          </a:solidFill>
          <a:ln w="9525">
            <a:solidFill>
              <a:srgbClr val="D5DFE5"/>
            </a:solidFill>
            <a:prstDash val="solid"/>
          </a:ln>
          <a:effectLst>
            <a:outerShdw sx="100000" sy="100000" kx="0" ky="0" algn="bl" rotWithShape="0" blurRad="177800" dist="38100" dir="5400000">
              <a:srgbClr val="0E1D28">
                <a:alpha val="10000"/>
              </a:srgbClr>
            </a:outerShdw>
          </a:effectLst>
        </p:spPr>
      </p:sp>
      <p:pic>
        <p:nvPicPr>
          <p:cNvPr id="29" name="Image 1" descr="/home/claude/shots/H-actions.png">    </p:cNvPr>
          <p:cNvPicPr>
            <a:picLocks noChangeAspect="1"/>
          </p:cNvPicPr>
          <p:nvPr/>
        </p:nvPicPr>
        <p:blipFill>
          <a:blip r:embed="rId2"/>
          <a:stretch>
            <a:fillRect/>
          </a:stretch>
        </p:blipFill>
        <p:spPr>
          <a:xfrm>
            <a:off x="4334256" y="2596896"/>
            <a:ext cx="3520440" cy="1475768"/>
          </a:xfrm>
          <a:prstGeom prst="rect">
            <a:avLst/>
          </a:prstGeom>
        </p:spPr>
      </p:pic>
      <p:sp>
        <p:nvSpPr>
          <p:cNvPr id="30" name="Text 25"/>
          <p:cNvSpPr/>
          <p:nvPr/>
        </p:nvSpPr>
        <p:spPr>
          <a:xfrm>
            <a:off x="4334256" y="4315968"/>
            <a:ext cx="3520440" cy="960120"/>
          </a:xfrm>
          <a:prstGeom prst="rect">
            <a:avLst/>
          </a:prstGeom>
          <a:noFill/>
          <a:ln/>
        </p:spPr>
        <p:txBody>
          <a:bodyPr wrap="square" lIns="0" tIns="0" rIns="0" bIns="0" rtlCol="0" anchor="t"/>
          <a:lstStyle/>
          <a:p>
            <a:pPr indent="0" marL="0">
              <a:buNone/>
            </a:pPr>
            <a:r>
              <a:rPr lang="en-US" sz="1150" dirty="0">
                <a:solidFill>
                  <a:srgbClr val="C6D6DF"/>
                </a:solidFill>
                <a:latin typeface="Calibri" pitchFamily="34" charset="0"/>
                <a:ea typeface="Calibri" pitchFamily="34" charset="-122"/>
                <a:cs typeface="Calibri" pitchFamily="34" charset="-120"/>
              </a:rPr>
              <a:t>6 pipelines. Lint, tests, audit de sécurité et build tournent à chaque poussée ; un échec interdit la fusion.</a:t>
            </a:r>
            <a:endParaRPr lang="en-US" sz="1150" dirty="0"/>
          </a:p>
        </p:txBody>
      </p:sp>
      <p:sp>
        <p:nvSpPr>
          <p:cNvPr id="31" name="Text 26"/>
          <p:cNvSpPr/>
          <p:nvPr/>
        </p:nvSpPr>
        <p:spPr>
          <a:xfrm>
            <a:off x="8101584" y="2340864"/>
            <a:ext cx="2697480" cy="201168"/>
          </a:xfrm>
          <a:prstGeom prst="rect">
            <a:avLst/>
          </a:prstGeom>
          <a:noFill/>
          <a:ln/>
        </p:spPr>
        <p:txBody>
          <a:bodyPr wrap="square" lIns="0" tIns="0" rIns="0" bIns="0" rtlCol="0" anchor="ctr"/>
          <a:lstStyle/>
          <a:p>
            <a:pPr indent="0" marL="0">
              <a:buNone/>
            </a:pPr>
            <a:r>
              <a:rPr lang="en-US" sz="900" b="1" spc="110" kern="0" dirty="0">
                <a:solidFill>
                  <a:srgbClr val="F0AE44"/>
                </a:solidFill>
                <a:latin typeface="Courier New" pitchFamily="34" charset="0"/>
                <a:ea typeface="Courier New" pitchFamily="34" charset="-122"/>
                <a:cs typeface="Courier New" pitchFamily="34" charset="-120"/>
              </a:rPr>
              <a:t>LE JOURNAL DES VERSIONS</a:t>
            </a:r>
            <a:endParaRPr lang="en-US" sz="900" dirty="0"/>
          </a:p>
        </p:txBody>
      </p:sp>
      <p:sp>
        <p:nvSpPr>
          <p:cNvPr id="32" name="Text 27"/>
          <p:cNvSpPr/>
          <p:nvPr/>
        </p:nvSpPr>
        <p:spPr>
          <a:xfrm>
            <a:off x="10799064" y="2267712"/>
            <a:ext cx="822960" cy="274320"/>
          </a:xfrm>
          <a:prstGeom prst="rect">
            <a:avLst/>
          </a:prstGeom>
          <a:noFill/>
          <a:ln/>
        </p:spPr>
        <p:txBody>
          <a:bodyPr wrap="square" lIns="0" tIns="0" rIns="0" bIns="0" rtlCol="0" anchor="ctr"/>
          <a:lstStyle/>
          <a:p>
            <a:pPr algn="r" indent="0" marL="0">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33" name="Shape 28"/>
          <p:cNvSpPr/>
          <p:nvPr/>
        </p:nvSpPr>
        <p:spPr>
          <a:xfrm>
            <a:off x="8055864" y="2551176"/>
            <a:ext cx="3611880" cy="1576362"/>
          </a:xfrm>
          <a:prstGeom prst="rect">
            <a:avLst/>
          </a:prstGeom>
          <a:solidFill>
            <a:srgbClr val="E6EDF1"/>
          </a:solidFill>
          <a:ln w="9525">
            <a:solidFill>
              <a:srgbClr val="D5DFE5"/>
            </a:solidFill>
            <a:prstDash val="solid"/>
          </a:ln>
          <a:effectLst>
            <a:outerShdw sx="100000" sy="100000" kx="0" ky="0" algn="bl" rotWithShape="0" blurRad="177800" dist="38100" dir="5400000">
              <a:srgbClr val="0E1D28">
                <a:alpha val="10000"/>
              </a:srgbClr>
            </a:outerShdw>
          </a:effectLst>
        </p:spPr>
      </p:sp>
      <p:pic>
        <p:nvPicPr>
          <p:cNvPr id="34" name="Image 2" descr="/home/claude/shots/I-changelog.png">    </p:cNvPr>
          <p:cNvPicPr>
            <a:picLocks noChangeAspect="1"/>
          </p:cNvPicPr>
          <p:nvPr/>
        </p:nvPicPr>
        <p:blipFill>
          <a:blip r:embed="rId3"/>
          <a:stretch>
            <a:fillRect/>
          </a:stretch>
        </p:blipFill>
        <p:spPr>
          <a:xfrm>
            <a:off x="8101584" y="2596896"/>
            <a:ext cx="3520440" cy="1484922"/>
          </a:xfrm>
          <a:prstGeom prst="rect">
            <a:avLst/>
          </a:prstGeom>
        </p:spPr>
      </p:pic>
      <p:sp>
        <p:nvSpPr>
          <p:cNvPr id="35" name="Text 29"/>
          <p:cNvSpPr/>
          <p:nvPr/>
        </p:nvSpPr>
        <p:spPr>
          <a:xfrm>
            <a:off x="8101584" y="4315968"/>
            <a:ext cx="3520440" cy="960120"/>
          </a:xfrm>
          <a:prstGeom prst="rect">
            <a:avLst/>
          </a:prstGeom>
          <a:noFill/>
          <a:ln/>
        </p:spPr>
        <p:txBody>
          <a:bodyPr wrap="square" lIns="0" tIns="0" rIns="0" bIns="0" rtlCol="0" anchor="t"/>
          <a:lstStyle/>
          <a:p>
            <a:pPr indent="0" marL="0">
              <a:buNone/>
            </a:pPr>
            <a:r>
              <a:rPr lang="en-US" sz="1150" dirty="0">
                <a:solidFill>
                  <a:srgbClr val="C6D6DF"/>
                </a:solidFill>
                <a:latin typeface="Calibri" pitchFamily="34" charset="0"/>
                <a:ea typeface="Calibri" pitchFamily="34" charset="-122"/>
                <a:cs typeface="Calibri" pitchFamily="34" charset="-120"/>
              </a:rPr>
              <a:t>Version, tag, commit, image, environnement — la table qui rend le retour arrière possible en moins de cinq minutes.</a:t>
            </a:r>
            <a:endParaRPr lang="en-US" sz="1150" dirty="0"/>
          </a:p>
        </p:txBody>
      </p:sp>
      <p:sp>
        <p:nvSpPr>
          <p:cNvPr id="36" name="Shape 30"/>
          <p:cNvSpPr/>
          <p:nvPr/>
        </p:nvSpPr>
        <p:spPr>
          <a:xfrm>
            <a:off x="566928" y="5413248"/>
            <a:ext cx="11057839" cy="804672"/>
          </a:xfrm>
          <a:prstGeom prst="roundRect">
            <a:avLst>
              <a:gd name="adj" fmla="val 5682"/>
            </a:avLst>
          </a:prstGeom>
          <a:solidFill>
            <a:srgbClr val="162936"/>
          </a:solidFill>
          <a:ln w="9525">
            <a:solidFill>
              <a:srgbClr val="24404F"/>
            </a:solidFill>
            <a:prstDash val="solid"/>
          </a:ln>
        </p:spPr>
      </p:sp>
      <p:sp>
        <p:nvSpPr>
          <p:cNvPr id="37" name="Text 31"/>
          <p:cNvSpPr/>
          <p:nvPr/>
        </p:nvSpPr>
        <p:spPr>
          <a:xfrm>
            <a:off x="841248" y="5413248"/>
            <a:ext cx="10509199" cy="80467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Pourquoi cet outillage épouse Scrum. </a:t>
            </a:r>
            <a:pPr indent="0" marL="0">
              <a:buNone/>
            </a:pPr>
            <a:r>
              <a:rPr lang="en-US" sz="1200" dirty="0">
                <a:solidFill>
                  <a:srgbClr val="A9BDC9"/>
                </a:solidFill>
                <a:latin typeface="Calibri" pitchFamily="34" charset="0"/>
                <a:ea typeface="Calibri" pitchFamily="34" charset="-122"/>
                <a:cs typeface="Calibri" pitchFamily="34" charset="-120"/>
              </a:rPr>
              <a:t>Le ticket porte le contrat fonctionnel, écrit avant le code. La branche porte l'unité de travail du sprint. La Pull Request porte le point de contrôle qualité. La version porte la livraison.</a:t>
            </a:r>
            <a:endParaRPr lang="en-US" sz="1200" dirty="0"/>
          </a:p>
        </p:txBody>
      </p:sp>
      <p:sp>
        <p:nvSpPr>
          <p:cNvPr id="38" name="Text 32"/>
          <p:cNvSpPr/>
          <p:nvPr/>
        </p:nvSpPr>
        <p:spPr>
          <a:xfrm>
            <a:off x="10984687" y="6419088"/>
            <a:ext cx="640080" cy="256032"/>
          </a:xfrm>
          <a:prstGeom prst="rect">
            <a:avLst/>
          </a:prstGeom>
          <a:noFill/>
          <a:ln/>
        </p:spPr>
        <p:txBody>
          <a:bodyPr wrap="square" lIns="0" tIns="0" rIns="0" bIns="0" rtlCol="0" anchor="ctr"/>
          <a:lstStyle/>
          <a:p>
            <a:pPr algn="r" indent="0" marL="0">
              <a:buNone/>
            </a:pPr>
            <a:r>
              <a:rPr lang="en-US" sz="1000" dirty="0">
                <a:solidFill>
                  <a:srgbClr val="5D7686"/>
                </a:solidFill>
                <a:latin typeface="Courier New" pitchFamily="34" charset="0"/>
                <a:ea typeface="Courier New" pitchFamily="34" charset="-122"/>
                <a:cs typeface="Courier New"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66928" y="384048"/>
            <a:ext cx="7740487" cy="219456"/>
          </a:xfrm>
          <a:prstGeom prst="rect">
            <a:avLst/>
          </a:prstGeom>
          <a:noFill/>
          <a:ln/>
        </p:spPr>
        <p:txBody>
          <a:bodyPr wrap="square" lIns="0" tIns="0" rIns="0" bIns="0" rtlCol="0" anchor="ctr"/>
          <a:lstStyle/>
          <a:p>
            <a:pPr indent="0" marL="0">
              <a:buNone/>
            </a:pPr>
            <a:r>
              <a:rPr lang="en-US" sz="1050" b="1" spc="160" kern="0" dirty="0">
                <a:solidFill>
                  <a:srgbClr val="1F5468"/>
                </a:solidFill>
                <a:latin typeface="Courier New" pitchFamily="34" charset="0"/>
                <a:ea typeface="Courier New" pitchFamily="34" charset="-122"/>
                <a:cs typeface="Courier New" pitchFamily="34" charset="-120"/>
              </a:rPr>
              <a:t>PARTIE 2 · PILOTER</a:t>
            </a:r>
            <a:endParaRPr lang="en-US" sz="1050" dirty="0"/>
          </a:p>
        </p:txBody>
      </p:sp>
      <p:sp>
        <p:nvSpPr>
          <p:cNvPr id="4" name="Text 1"/>
          <p:cNvSpPr/>
          <p:nvPr/>
        </p:nvSpPr>
        <p:spPr>
          <a:xfrm>
            <a:off x="566928" y="621792"/>
            <a:ext cx="8403958" cy="731520"/>
          </a:xfrm>
          <a:prstGeom prst="rect">
            <a:avLst/>
          </a:prstGeom>
          <a:noFill/>
          <a:ln/>
        </p:spPr>
        <p:txBody>
          <a:bodyPr wrap="square" lIns="0" tIns="0" rIns="0" bIns="0" rtlCol="0" anchor="t"/>
          <a:lstStyle/>
          <a:p>
            <a:pPr indent="0" marL="0">
              <a:buNone/>
            </a:pPr>
            <a:r>
              <a:rPr lang="en-US" sz="2900" b="1" dirty="0">
                <a:solidFill>
                  <a:srgbClr val="0E1D28"/>
                </a:solidFill>
                <a:latin typeface="Cambria" pitchFamily="34" charset="0"/>
                <a:ea typeface="Cambria" pitchFamily="34" charset="-122"/>
                <a:cs typeface="Cambria" pitchFamily="34" charset="-120"/>
              </a:rPr>
              <a:t>Des indicateurs mesurables et quantifiables</a:t>
            </a:r>
            <a:endParaRPr lang="en-US" sz="2900" dirty="0"/>
          </a:p>
        </p:txBody>
      </p:sp>
      <p:sp>
        <p:nvSpPr>
          <p:cNvPr id="5" name="Shape 2"/>
          <p:cNvSpPr/>
          <p:nvPr/>
        </p:nvSpPr>
        <p:spPr>
          <a:xfrm>
            <a:off x="10573207" y="384048"/>
            <a:ext cx="1051560" cy="310896"/>
          </a:xfrm>
          <a:prstGeom prst="roundRect">
            <a:avLst>
              <a:gd name="adj" fmla="val 17647"/>
            </a:avLst>
          </a:prstGeom>
          <a:solidFill>
            <a:srgbClr val="AE3F2C"/>
          </a:solidFill>
          <a:ln w="9525">
            <a:solidFill>
              <a:srgbClr val="AE3F2C"/>
            </a:solidFill>
            <a:prstDash val="solid"/>
          </a:ln>
        </p:spPr>
      </p:sp>
      <p:sp>
        <p:nvSpPr>
          <p:cNvPr id="6" name="Text 3"/>
          <p:cNvSpPr/>
          <p:nvPr/>
        </p:nvSpPr>
        <p:spPr>
          <a:xfrm>
            <a:off x="10573207" y="384048"/>
            <a:ext cx="105156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C3.2.1</a:t>
            </a:r>
            <a:endParaRPr lang="en-US" sz="1000" dirty="0"/>
          </a:p>
        </p:txBody>
      </p:sp>
      <p:sp>
        <p:nvSpPr>
          <p:cNvPr id="7" name="Shape 4"/>
          <p:cNvSpPr/>
          <p:nvPr/>
        </p:nvSpPr>
        <p:spPr>
          <a:xfrm>
            <a:off x="9549079" y="384048"/>
            <a:ext cx="914400" cy="310896"/>
          </a:xfrm>
          <a:prstGeom prst="roundRect">
            <a:avLst>
              <a:gd name="adj" fmla="val 17647"/>
            </a:avLst>
          </a:prstGeom>
          <a:solidFill>
            <a:srgbClr val="E6EDF1"/>
          </a:solidFill>
          <a:ln w="9525">
            <a:solidFill>
              <a:srgbClr val="D5DFE5"/>
            </a:solidFill>
            <a:prstDash val="solid"/>
          </a:ln>
        </p:spPr>
      </p:sp>
      <p:sp>
        <p:nvSpPr>
          <p:cNvPr id="8" name="Text 5"/>
          <p:cNvSpPr/>
          <p:nvPr/>
        </p:nvSpPr>
        <p:spPr>
          <a:xfrm>
            <a:off x="9549079" y="384048"/>
            <a:ext cx="914400" cy="310896"/>
          </a:xfrm>
          <a:prstGeom prst="rect">
            <a:avLst/>
          </a:prstGeom>
          <a:noFill/>
          <a:ln/>
        </p:spPr>
        <p:txBody>
          <a:bodyPr wrap="square" lIns="0" tIns="0" rIns="0" bIns="0" rtlCol="0" anchor="ctr"/>
          <a:lstStyle/>
          <a:p>
            <a:pPr algn="ctr" indent="0" marL="0">
              <a:buNone/>
            </a:pPr>
            <a:r>
              <a:rPr lang="en-US" sz="1000" b="1" dirty="0">
                <a:solidFill>
                  <a:srgbClr val="1F5468"/>
                </a:solidFill>
                <a:latin typeface="Courier New" pitchFamily="34" charset="0"/>
                <a:ea typeface="Courier New" pitchFamily="34" charset="-122"/>
                <a:cs typeface="Courier New" pitchFamily="34" charset="-120"/>
              </a:rPr>
              <a:t>RÉEL</a:t>
            </a:r>
            <a:endParaRPr lang="en-US" sz="1000" dirty="0"/>
          </a:p>
        </p:txBody>
      </p:sp>
      <p:sp>
        <p:nvSpPr>
          <p:cNvPr id="9" name="Text 6"/>
          <p:cNvSpPr/>
          <p:nvPr/>
        </p:nvSpPr>
        <p:spPr>
          <a:xfrm>
            <a:off x="566928" y="1645920"/>
            <a:ext cx="11057839" cy="506943"/>
          </a:xfrm>
          <a:prstGeom prst="rect">
            <a:avLst/>
          </a:prstGeom>
          <a:noFill/>
          <a:ln/>
        </p:spPr>
        <p:txBody>
          <a:bodyPr wrap="square" lIns="0" tIns="0" rIns="0" bIns="0" rtlCol="0" anchor="t"/>
          <a:lstStyle/>
          <a:p>
            <a:pPr indent="0" marL="0">
              <a:buNone/>
            </a:pPr>
            <a:r>
              <a:rPr lang="en-US" sz="1350" b="1" dirty="0">
                <a:solidFill>
                  <a:srgbClr val="0E1D28"/>
                </a:solidFill>
                <a:latin typeface="Calibri" pitchFamily="34" charset="0"/>
                <a:ea typeface="Calibri" pitchFamily="34" charset="-122"/>
                <a:cs typeface="Calibri" pitchFamily="34" charset="-120"/>
              </a:rPr>
              <a:t>Chaque axe porte un seuil exigé et une valeur constatée. </a:t>
            </a:r>
            <a:pPr indent="0" marL="0">
              <a:buNone/>
            </a:pPr>
            <a:r>
              <a:rPr lang="en-US" sz="1350" dirty="0">
                <a:solidFill>
                  <a:srgbClr val="17303F"/>
                </a:solidFill>
                <a:latin typeface="Calibri" pitchFamily="34" charset="0"/>
                <a:ea typeface="Calibri" pitchFamily="34" charset="-122"/>
                <a:cs typeface="Calibri" pitchFamily="34" charset="-120"/>
              </a:rPr>
              <a:t>Et ces seuils ne sont pas déclaratifs : ils sont bloquants en intégration — un seuil non atteint rend la fusion techniquement impossible.</a:t>
            </a:r>
            <a:endParaRPr lang="en-US" sz="13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66928" y="2321844"/>
          <a:ext cx="11057839" cy="914400"/>
        </p:xfrm>
        <a:graphic>
          <a:graphicData uri="http://schemas.openxmlformats.org/drawingml/2006/table">
            <a:tbl>
              <a:tblPr/>
              <a:tblGrid>
                <a:gridCol w="1280160"/>
                <a:gridCol w="3291840"/>
                <a:gridCol w="1280160"/>
                <a:gridCol w="3291840"/>
                <a:gridCol w="1911096"/>
              </a:tblGrid>
              <a:tr h="410383">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Axe</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0E1D28"/>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Indicateur</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0E1D28"/>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Seuil exigé</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0E1D28"/>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Mesuré sur le projet</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0E1D28"/>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Contrôle</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0E1D28"/>
                    </a:solidFill>
                  </a:tcPr>
                </a:tc>
              </a:tr>
              <a:tr h="410383">
                <a:tc>
                  <a:txBody>
                    <a:bodyPr/>
                    <a:lstStyle/>
                    <a:p>
                      <a:pPr indent="0" marL="0">
                        <a:buNone/>
                      </a:pPr>
                      <a:r>
                        <a:rPr lang="en-US" sz="1200" dirty="0">
                          <a:solidFill>
                            <a:srgbClr val="17303F"/>
                          </a:solidFill>
                          <a:latin typeface="Calibri" pitchFamily="34" charset="0"/>
                          <a:ea typeface="Calibri" pitchFamily="34" charset="-122"/>
                          <a:cs typeface="Calibri" pitchFamily="34" charset="-120"/>
                        </a:rPr>
                        <a:t>Avancement</a:t>
                      </a:r>
                      <a:endParaRPr lang="en-US" sz="120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200" dirty="0">
                          <a:solidFill>
                            <a:srgbClr val="17303F"/>
                          </a:solidFill>
                          <a:latin typeface="Calibri" pitchFamily="34" charset="0"/>
                          <a:ea typeface="Calibri" pitchFamily="34" charset="-122"/>
                          <a:cs typeface="Calibri" pitchFamily="34" charset="-120"/>
                        </a:rPr>
                        <a:t>Tickets terminés sur tickets ouverts par lot</a:t>
                      </a:r>
                      <a:endParaRPr lang="en-US" sz="120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200" dirty="0">
                          <a:solidFill>
                            <a:srgbClr val="17303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200" dirty="0">
                          <a:solidFill>
                            <a:srgbClr val="17303F"/>
                          </a:solidFill>
                          <a:latin typeface="Calibri" pitchFamily="34" charset="0"/>
                          <a:ea typeface="Calibri" pitchFamily="34" charset="-122"/>
                          <a:cs typeface="Calibri" pitchFamily="34" charset="-120"/>
                        </a:rPr>
                        <a:t>39 terminés sur 66 · EP02 et EP05 clos</a:t>
                      </a:r>
                      <a:endParaRPr lang="en-US" sz="120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200" dirty="0">
                          <a:solidFill>
                            <a:srgbClr val="17303F"/>
                          </a:solidFill>
                          <a:latin typeface="Calibri" pitchFamily="34" charset="0"/>
                          <a:ea typeface="Calibri" pitchFamily="34" charset="-122"/>
                          <a:cs typeface="Calibri" pitchFamily="34" charset="-120"/>
                        </a:rPr>
                        <a:t>Continu</a:t>
                      </a:r>
                      <a:endParaRPr lang="en-US" sz="120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r>
              <a:tr h="410383">
                <a:tc>
                  <a:txBody>
                    <a:bodyPr/>
                    <a:lstStyle/>
                    <a:p>
                      <a:pPr indent="0" marL="0">
                        <a:buNone/>
                      </a:pPr>
                      <a:r>
                        <a:rPr lang="en-US" sz="1200" dirty="0">
                          <a:solidFill>
                            <a:srgbClr val="17303F"/>
                          </a:solidFill>
                          <a:latin typeface="Calibri" pitchFamily="34" charset="0"/>
                          <a:ea typeface="Calibri" pitchFamily="34" charset="-122"/>
                          <a:cs typeface="Calibri" pitchFamily="34" charset="-120"/>
                        </a:rPr>
                        <a:t>Délais</a:t>
                      </a:r>
                      <a:endParaRPr lang="en-US" sz="120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200" dirty="0">
                          <a:solidFill>
                            <a:srgbClr val="17303F"/>
                          </a:solidFill>
                          <a:latin typeface="Calibri" pitchFamily="34" charset="0"/>
                          <a:ea typeface="Calibri" pitchFamily="34" charset="-122"/>
                          <a:cs typeface="Calibri" pitchFamily="34" charset="-120"/>
                        </a:rPr>
                        <a:t>Écart au jalon, en jours</a:t>
                      </a:r>
                      <a:endParaRPr lang="en-US" sz="120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200" dirty="0">
                          <a:solidFill>
                            <a:srgbClr val="17303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200" dirty="0">
                          <a:solidFill>
                            <a:srgbClr val="17303F"/>
                          </a:solidFill>
                          <a:latin typeface="Calibri" pitchFamily="34" charset="0"/>
                          <a:ea typeface="Calibri" pitchFamily="34" charset="-122"/>
                          <a:cs typeface="Calibri" pitchFamily="34" charset="-120"/>
                        </a:rPr>
                        <a:t>Mise en production tenue au 23/07/2026</a:t>
                      </a:r>
                      <a:endParaRPr lang="en-US" sz="120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200" dirty="0">
                          <a:solidFill>
                            <a:srgbClr val="17303F"/>
                          </a:solidFill>
                          <a:latin typeface="Calibri" pitchFamily="34" charset="0"/>
                          <a:ea typeface="Calibri" pitchFamily="34" charset="-122"/>
                          <a:cs typeface="Calibri" pitchFamily="34" charset="-120"/>
                        </a:rPr>
                        <a:t>Par jalon</a:t>
                      </a:r>
                      <a:endParaRPr lang="en-US" sz="120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r>
              <a:tr h="410383">
                <a:tc>
                  <a:txBody>
                    <a:bodyPr/>
                    <a:lstStyle/>
                    <a:p>
                      <a:pPr indent="0" marL="0">
                        <a:buNone/>
                      </a:pPr>
                      <a:r>
                        <a:rPr lang="en-US" sz="1200" dirty="0">
                          <a:solidFill>
                            <a:srgbClr val="17303F"/>
                          </a:solidFill>
                          <a:latin typeface="Calibri" pitchFamily="34" charset="0"/>
                          <a:ea typeface="Calibri" pitchFamily="34" charset="-122"/>
                          <a:cs typeface="Calibri" pitchFamily="34" charset="-120"/>
                        </a:rPr>
                        <a:t>Coûts</a:t>
                      </a:r>
                      <a:endParaRPr lang="en-US" sz="120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200" dirty="0">
                          <a:solidFill>
                            <a:srgbClr val="17303F"/>
                          </a:solidFill>
                          <a:latin typeface="Calibri" pitchFamily="34" charset="0"/>
                          <a:ea typeface="Calibri" pitchFamily="34" charset="-122"/>
                          <a:cs typeface="Calibri" pitchFamily="34" charset="-120"/>
                        </a:rPr>
                        <a:t>Jours-homme consommés sur estimés</a:t>
                      </a:r>
                      <a:endParaRPr lang="en-US" sz="120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200" dirty="0">
                          <a:solidFill>
                            <a:srgbClr val="17303F"/>
                          </a:solidFill>
                          <a:latin typeface="Calibri" pitchFamily="34" charset="0"/>
                          <a:ea typeface="Calibri" pitchFamily="34" charset="-122"/>
                          <a:cs typeface="Calibri" pitchFamily="34" charset="-120"/>
                        </a:rPr>
                        <a:t>≤ 110 %</a:t>
                      </a:r>
                      <a:endParaRPr lang="en-US" sz="120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200" dirty="0">
                          <a:solidFill>
                            <a:srgbClr val="17303F"/>
                          </a:solidFill>
                          <a:latin typeface="Calibri" pitchFamily="34" charset="0"/>
                          <a:ea typeface="Calibri" pitchFamily="34" charset="-122"/>
                          <a:cs typeface="Calibri" pitchFamily="34" charset="-120"/>
                        </a:rPr>
                        <a:t>SH-14 : 5 points estimés, 8 à 13 réels</a:t>
                      </a:r>
                      <a:endParaRPr lang="en-US" sz="120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200" dirty="0">
                          <a:solidFill>
                            <a:srgbClr val="17303F"/>
                          </a:solidFill>
                          <a:latin typeface="Calibri" pitchFamily="34" charset="0"/>
                          <a:ea typeface="Calibri" pitchFamily="34" charset="-122"/>
                          <a:cs typeface="Calibri" pitchFamily="34" charset="-120"/>
                        </a:rPr>
                        <a:t>Par sprint</a:t>
                      </a:r>
                      <a:endParaRPr lang="en-US" sz="120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r>
              <a:tr h="410383">
                <a:tc>
                  <a:txBody>
                    <a:bodyPr/>
                    <a:lstStyle/>
                    <a:p>
                      <a:pPr indent="0" marL="0">
                        <a:buNone/>
                      </a:pPr>
                      <a:r>
                        <a:rPr lang="en-US" sz="1200" dirty="0">
                          <a:solidFill>
                            <a:srgbClr val="17303F"/>
                          </a:solidFill>
                          <a:latin typeface="Calibri" pitchFamily="34" charset="0"/>
                          <a:ea typeface="Calibri" pitchFamily="34" charset="-122"/>
                          <a:cs typeface="Calibri" pitchFamily="34" charset="-120"/>
                        </a:rPr>
                        <a:t>Qualité</a:t>
                      </a:r>
                      <a:endParaRPr lang="en-US" sz="120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200" dirty="0">
                          <a:solidFill>
                            <a:srgbClr val="17303F"/>
                          </a:solidFill>
                          <a:latin typeface="Calibri" pitchFamily="34" charset="0"/>
                          <a:ea typeface="Calibri" pitchFamily="34" charset="-122"/>
                          <a:cs typeface="Calibri" pitchFamily="34" charset="-120"/>
                        </a:rPr>
                        <a:t>Couverture des tests unitaires</a:t>
                      </a:r>
                      <a:endParaRPr lang="en-US" sz="120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200" dirty="0">
                          <a:solidFill>
                            <a:srgbClr val="17303F"/>
                          </a:solidFill>
                          <a:latin typeface="Calibri" pitchFamily="34" charset="0"/>
                          <a:ea typeface="Calibri" pitchFamily="34" charset="-122"/>
                          <a:cs typeface="Calibri" pitchFamily="34" charset="-120"/>
                        </a:rPr>
                        <a:t>≥ 80 %</a:t>
                      </a:r>
                      <a:endParaRPr lang="en-US" sz="120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200" dirty="0">
                          <a:solidFill>
                            <a:srgbClr val="17303F"/>
                          </a:solidFill>
                          <a:latin typeface="Calibri" pitchFamily="34" charset="0"/>
                          <a:ea typeface="Calibri" pitchFamily="34" charset="-122"/>
                          <a:cs typeface="Calibri" pitchFamily="34" charset="-120"/>
                        </a:rPr>
                        <a:t>87 % sur le monolithe</a:t>
                      </a:r>
                      <a:endParaRPr lang="en-US" sz="120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200" dirty="0">
                          <a:solidFill>
                            <a:srgbClr val="17303F"/>
                          </a:solidFill>
                          <a:latin typeface="Calibri" pitchFamily="34" charset="0"/>
                          <a:ea typeface="Calibri" pitchFamily="34" charset="-122"/>
                          <a:cs typeface="Calibri" pitchFamily="34" charset="-120"/>
                        </a:rPr>
                        <a:t>Chaque commit</a:t>
                      </a:r>
                      <a:endParaRPr lang="en-US" sz="120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r>
              <a:tr h="410383">
                <a:tc>
                  <a:txBody>
                    <a:bodyPr/>
                    <a:lstStyle/>
                    <a:p>
                      <a:pPr indent="0" marL="0">
                        <a:buNone/>
                      </a:pPr>
                      <a:r>
                        <a:rPr lang="en-US" sz="1200" dirty="0">
                          <a:solidFill>
                            <a:srgbClr val="17303F"/>
                          </a:solidFill>
                          <a:latin typeface="Calibri" pitchFamily="34" charset="0"/>
                          <a:ea typeface="Calibri" pitchFamily="34" charset="-122"/>
                          <a:cs typeface="Calibri" pitchFamily="34" charset="-120"/>
                        </a:rPr>
                        <a:t>Qualité</a:t>
                      </a:r>
                      <a:endParaRPr lang="en-US" sz="120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200" dirty="0">
                          <a:solidFill>
                            <a:srgbClr val="17303F"/>
                          </a:solidFill>
                          <a:latin typeface="Calibri" pitchFamily="34" charset="0"/>
                          <a:ea typeface="Calibri" pitchFamily="34" charset="-122"/>
                          <a:cs typeface="Calibri" pitchFamily="34" charset="-120"/>
                        </a:rPr>
                        <a:t>Vulnérabilités de dépendances</a:t>
                      </a:r>
                      <a:endParaRPr lang="en-US" sz="120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200" dirty="0">
                          <a:solidFill>
                            <a:srgbClr val="17303F"/>
                          </a:solidFill>
                          <a:latin typeface="Calibri" pitchFamily="34" charset="0"/>
                          <a:ea typeface="Calibri" pitchFamily="34" charset="-122"/>
                          <a:cs typeface="Calibri" pitchFamily="34" charset="-120"/>
                        </a:rPr>
                        <a:t>0 critique</a:t>
                      </a:r>
                      <a:endParaRPr lang="en-US" sz="120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200" dirty="0">
                          <a:solidFill>
                            <a:srgbClr val="17303F"/>
                          </a:solidFill>
                          <a:latin typeface="Calibri" pitchFamily="34" charset="0"/>
                          <a:ea typeface="Calibri" pitchFamily="34" charset="-122"/>
                          <a:cs typeface="Calibri" pitchFamily="34" charset="-120"/>
                        </a:rPr>
                        <a:t>9 vulnérabilités résorbées (SH-47)</a:t>
                      </a:r>
                      <a:endParaRPr lang="en-US" sz="120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200" dirty="0">
                          <a:solidFill>
                            <a:srgbClr val="17303F"/>
                          </a:solidFill>
                          <a:latin typeface="Calibri" pitchFamily="34" charset="0"/>
                          <a:ea typeface="Calibri" pitchFamily="34" charset="-122"/>
                          <a:cs typeface="Calibri" pitchFamily="34" charset="-120"/>
                        </a:rPr>
                        <a:t>Chaque commit</a:t>
                      </a:r>
                      <a:endParaRPr lang="en-US" sz="120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r>
              <a:tr h="410383">
                <a:tc>
                  <a:txBody>
                    <a:bodyPr/>
                    <a:lstStyle/>
                    <a:p>
                      <a:pPr indent="0" marL="0">
                        <a:buNone/>
                      </a:pPr>
                      <a:r>
                        <a:rPr lang="en-US" sz="1200" dirty="0">
                          <a:solidFill>
                            <a:srgbClr val="17303F"/>
                          </a:solidFill>
                          <a:latin typeface="Calibri" pitchFamily="34" charset="0"/>
                          <a:ea typeface="Calibri" pitchFamily="34" charset="-122"/>
                          <a:cs typeface="Calibri" pitchFamily="34" charset="-120"/>
                        </a:rPr>
                        <a:t>Qualité</a:t>
                      </a:r>
                      <a:endParaRPr lang="en-US" sz="120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200" dirty="0">
                          <a:solidFill>
                            <a:srgbClr val="17303F"/>
                          </a:solidFill>
                          <a:latin typeface="Calibri" pitchFamily="34" charset="0"/>
                          <a:ea typeface="Calibri" pitchFamily="34" charset="-122"/>
                          <a:cs typeface="Calibri" pitchFamily="34" charset="-120"/>
                        </a:rPr>
                        <a:t>Score d'accessibilité</a:t>
                      </a:r>
                      <a:endParaRPr lang="en-US" sz="120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200" dirty="0">
                          <a:solidFill>
                            <a:srgbClr val="17303F"/>
                          </a:solidFill>
                          <a:latin typeface="Calibri" pitchFamily="34" charset="0"/>
                          <a:ea typeface="Calibri" pitchFamily="34" charset="-122"/>
                          <a:cs typeface="Calibri" pitchFamily="34" charset="-120"/>
                        </a:rPr>
                        <a:t>≥ 90 / 100</a:t>
                      </a:r>
                      <a:endParaRPr lang="en-US" sz="120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200" dirty="0">
                          <a:solidFill>
                            <a:srgbClr val="17303F"/>
                          </a:solidFill>
                          <a:latin typeface="Calibri" pitchFamily="34" charset="0"/>
                          <a:ea typeface="Calibri" pitchFamily="34" charset="-122"/>
                          <a:cs typeface="Calibri" pitchFamily="34" charset="-120"/>
                        </a:rPr>
                        <a:t>100 / 100 sur les pages publiques</a:t>
                      </a:r>
                      <a:endParaRPr lang="en-US" sz="120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200" dirty="0">
                          <a:solidFill>
                            <a:srgbClr val="17303F"/>
                          </a:solidFill>
                          <a:latin typeface="Calibri" pitchFamily="34" charset="0"/>
                          <a:ea typeface="Calibri" pitchFamily="34" charset="-122"/>
                          <a:cs typeface="Calibri" pitchFamily="34" charset="-120"/>
                        </a:rPr>
                        <a:t>Chaque build</a:t>
                      </a:r>
                      <a:endParaRPr lang="en-US" sz="120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r>
              <a:tr h="410383">
                <a:tc>
                  <a:txBody>
                    <a:bodyPr/>
                    <a:lstStyle/>
                    <a:p>
                      <a:pPr indent="0" marL="0">
                        <a:buNone/>
                      </a:pPr>
                      <a:r>
                        <a:rPr lang="en-US" sz="1200" dirty="0">
                          <a:solidFill>
                            <a:srgbClr val="17303F"/>
                          </a:solidFill>
                          <a:latin typeface="Calibri" pitchFamily="34" charset="0"/>
                          <a:ea typeface="Calibri" pitchFamily="34" charset="-122"/>
                          <a:cs typeface="Calibri" pitchFamily="34" charset="-120"/>
                        </a:rPr>
                        <a:t>Performance</a:t>
                      </a:r>
                      <a:endParaRPr lang="en-US" sz="120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200" dirty="0">
                          <a:solidFill>
                            <a:srgbClr val="17303F"/>
                          </a:solidFill>
                          <a:latin typeface="Calibri" pitchFamily="34" charset="0"/>
                          <a:ea typeface="Calibri" pitchFamily="34" charset="-122"/>
                          <a:cs typeface="Calibri" pitchFamily="34" charset="-120"/>
                        </a:rPr>
                        <a:t>Temps de réponse de l'API, p95</a:t>
                      </a:r>
                      <a:endParaRPr lang="en-US" sz="120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200" dirty="0">
                          <a:solidFill>
                            <a:srgbClr val="17303F"/>
                          </a:solidFill>
                          <a:latin typeface="Calibri" pitchFamily="34" charset="0"/>
                          <a:ea typeface="Calibri" pitchFamily="34" charset="-122"/>
                          <a:cs typeface="Calibri" pitchFamily="34" charset="-120"/>
                        </a:rPr>
                        <a:t>&lt; 200 ms</a:t>
                      </a:r>
                      <a:endParaRPr lang="en-US" sz="120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200" dirty="0">
                          <a:solidFill>
                            <a:srgbClr val="17303F"/>
                          </a:solidFill>
                          <a:latin typeface="Calibri" pitchFamily="34" charset="0"/>
                          <a:ea typeface="Calibri" pitchFamily="34" charset="-122"/>
                          <a:cs typeface="Calibri" pitchFamily="34" charset="-120"/>
                        </a:rPr>
                        <a:t>Vérifié sur 1 000 profils</a:t>
                      </a:r>
                      <a:endParaRPr lang="en-US" sz="120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200" dirty="0">
                          <a:solidFill>
                            <a:srgbClr val="17303F"/>
                          </a:solidFill>
                          <a:latin typeface="Calibri" pitchFamily="34" charset="0"/>
                          <a:ea typeface="Calibri" pitchFamily="34" charset="-122"/>
                          <a:cs typeface="Calibri" pitchFamily="34" charset="-120"/>
                        </a:rPr>
                        <a:t>Staging et prod.</a:t>
                      </a:r>
                      <a:endParaRPr lang="en-US" sz="120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r>
              <a:tr h="410383">
                <a:tc>
                  <a:txBody>
                    <a:bodyPr/>
                    <a:lstStyle/>
                    <a:p>
                      <a:pPr indent="0" marL="0">
                        <a:buNone/>
                      </a:pPr>
                      <a:r>
                        <a:rPr lang="en-US" sz="1200" dirty="0">
                          <a:solidFill>
                            <a:srgbClr val="17303F"/>
                          </a:solidFill>
                          <a:latin typeface="Calibri" pitchFamily="34" charset="0"/>
                          <a:ea typeface="Calibri" pitchFamily="34" charset="-122"/>
                          <a:cs typeface="Calibri" pitchFamily="34" charset="-120"/>
                        </a:rPr>
                        <a:t>Exploitation</a:t>
                      </a:r>
                      <a:endParaRPr lang="en-US" sz="120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200" dirty="0">
                          <a:solidFill>
                            <a:srgbClr val="17303F"/>
                          </a:solidFill>
                          <a:latin typeface="Calibri" pitchFamily="34" charset="0"/>
                          <a:ea typeface="Calibri" pitchFamily="34" charset="-122"/>
                          <a:cs typeface="Calibri" pitchFamily="34" charset="-120"/>
                        </a:rPr>
                        <a:t>Délai de détection d'un incident</a:t>
                      </a:r>
                      <a:endParaRPr lang="en-US" sz="120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200" dirty="0">
                          <a:solidFill>
                            <a:srgbClr val="17303F"/>
                          </a:solidFill>
                          <a:latin typeface="Calibri" pitchFamily="34" charset="0"/>
                          <a:ea typeface="Calibri" pitchFamily="34" charset="-122"/>
                          <a:cs typeface="Calibri" pitchFamily="34" charset="-120"/>
                        </a:rPr>
                        <a:t>&lt; 4 min</a:t>
                      </a:r>
                      <a:endParaRPr lang="en-US" sz="120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200" dirty="0">
                          <a:solidFill>
                            <a:srgbClr val="17303F"/>
                          </a:solidFill>
                          <a:latin typeface="Calibri" pitchFamily="34" charset="0"/>
                          <a:ea typeface="Calibri" pitchFamily="34" charset="-122"/>
                          <a:cs typeface="Calibri" pitchFamily="34" charset="-120"/>
                        </a:rPr>
                        <a:t>3 min 04 s mesurées</a:t>
                      </a:r>
                      <a:endParaRPr lang="en-US" sz="120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200" dirty="0">
                          <a:solidFill>
                            <a:srgbClr val="17303F"/>
                          </a:solidFill>
                          <a:latin typeface="Calibri" pitchFamily="34" charset="0"/>
                          <a:ea typeface="Calibri" pitchFamily="34" charset="-122"/>
                          <a:cs typeface="Calibri" pitchFamily="34" charset="-120"/>
                        </a:rPr>
                        <a:t>Production</a:t>
                      </a:r>
                      <a:endParaRPr lang="en-US" sz="120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r>
            </a:tbl>
          </a:graphicData>
        </a:graphic>
      </p:graphicFrame>
      <p:sp>
        <p:nvSpPr>
          <p:cNvPr id="11" name="Text 7"/>
          <p:cNvSpPr/>
          <p:nvPr/>
        </p:nvSpPr>
        <p:spPr>
          <a:xfrm>
            <a:off x="10984687" y="6419088"/>
            <a:ext cx="640080" cy="256032"/>
          </a:xfrm>
          <a:prstGeom prst="rect">
            <a:avLst/>
          </a:prstGeom>
          <a:noFill/>
          <a:ln/>
        </p:spPr>
        <p:txBody>
          <a:bodyPr wrap="square" lIns="0" tIns="0" rIns="0" bIns="0" rtlCol="0" anchor="ctr"/>
          <a:lstStyle/>
          <a:p>
            <a:pPr algn="r" indent="0" marL="0">
              <a:buNone/>
            </a:pPr>
            <a:r>
              <a:rPr lang="en-US" sz="1000" dirty="0">
                <a:solidFill>
                  <a:srgbClr val="9FB2BD"/>
                </a:solidFill>
                <a:latin typeface="Courier New" pitchFamily="34" charset="0"/>
                <a:ea typeface="Courier New" pitchFamily="34" charset="-122"/>
                <a:cs typeface="Courier New"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66928" y="384048"/>
            <a:ext cx="7740487" cy="219456"/>
          </a:xfrm>
          <a:prstGeom prst="rect">
            <a:avLst/>
          </a:prstGeom>
          <a:noFill/>
          <a:ln/>
        </p:spPr>
        <p:txBody>
          <a:bodyPr wrap="square" lIns="0" tIns="0" rIns="0" bIns="0" rtlCol="0" anchor="ctr"/>
          <a:lstStyle/>
          <a:p>
            <a:pPr indent="0" marL="0">
              <a:buNone/>
            </a:pPr>
            <a:r>
              <a:rPr lang="en-US" sz="1050" b="1" spc="160" kern="0" dirty="0">
                <a:solidFill>
                  <a:srgbClr val="1F5468"/>
                </a:solidFill>
                <a:latin typeface="Courier New" pitchFamily="34" charset="0"/>
                <a:ea typeface="Courier New" pitchFamily="34" charset="-122"/>
                <a:cs typeface="Courier New" pitchFamily="34" charset="-120"/>
              </a:rPr>
              <a:t>PARTIE 2 · PILOTER</a:t>
            </a:r>
            <a:endParaRPr lang="en-US" sz="1050" dirty="0"/>
          </a:p>
        </p:txBody>
      </p:sp>
      <p:sp>
        <p:nvSpPr>
          <p:cNvPr id="4" name="Text 1"/>
          <p:cNvSpPr/>
          <p:nvPr/>
        </p:nvSpPr>
        <p:spPr>
          <a:xfrm>
            <a:off x="566928" y="621792"/>
            <a:ext cx="8403958" cy="731520"/>
          </a:xfrm>
          <a:prstGeom prst="rect">
            <a:avLst/>
          </a:prstGeom>
          <a:noFill/>
          <a:ln/>
        </p:spPr>
        <p:txBody>
          <a:bodyPr wrap="square" lIns="0" tIns="0" rIns="0" bIns="0" rtlCol="0" anchor="t"/>
          <a:lstStyle/>
          <a:p>
            <a:pPr indent="0" marL="0">
              <a:buNone/>
            </a:pPr>
            <a:r>
              <a:rPr lang="en-US" sz="2900" b="1" dirty="0">
                <a:solidFill>
                  <a:srgbClr val="0E1D28"/>
                </a:solidFill>
                <a:latin typeface="Cambria" pitchFamily="34" charset="0"/>
                <a:ea typeface="Cambria" pitchFamily="34" charset="-122"/>
                <a:cs typeface="Cambria" pitchFamily="34" charset="-120"/>
              </a:rPr>
              <a:t>Le tableau de bord</a:t>
            </a:r>
            <a:endParaRPr lang="en-US" sz="2900" dirty="0"/>
          </a:p>
        </p:txBody>
      </p:sp>
      <p:sp>
        <p:nvSpPr>
          <p:cNvPr id="5" name="Shape 2"/>
          <p:cNvSpPr/>
          <p:nvPr/>
        </p:nvSpPr>
        <p:spPr>
          <a:xfrm>
            <a:off x="10573207" y="384048"/>
            <a:ext cx="1051560" cy="310896"/>
          </a:xfrm>
          <a:prstGeom prst="roundRect">
            <a:avLst>
              <a:gd name="adj" fmla="val 17647"/>
            </a:avLst>
          </a:prstGeom>
          <a:solidFill>
            <a:srgbClr val="AE3F2C"/>
          </a:solidFill>
          <a:ln w="9525">
            <a:solidFill>
              <a:srgbClr val="AE3F2C"/>
            </a:solidFill>
            <a:prstDash val="solid"/>
          </a:ln>
        </p:spPr>
      </p:sp>
      <p:sp>
        <p:nvSpPr>
          <p:cNvPr id="6" name="Text 3"/>
          <p:cNvSpPr/>
          <p:nvPr/>
        </p:nvSpPr>
        <p:spPr>
          <a:xfrm>
            <a:off x="10573207" y="384048"/>
            <a:ext cx="105156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C3.2.1</a:t>
            </a:r>
            <a:endParaRPr lang="en-US" sz="1000" dirty="0"/>
          </a:p>
        </p:txBody>
      </p:sp>
      <p:sp>
        <p:nvSpPr>
          <p:cNvPr id="7" name="Shape 4"/>
          <p:cNvSpPr/>
          <p:nvPr/>
        </p:nvSpPr>
        <p:spPr>
          <a:xfrm>
            <a:off x="9549079" y="384048"/>
            <a:ext cx="914400" cy="310896"/>
          </a:xfrm>
          <a:prstGeom prst="roundRect">
            <a:avLst>
              <a:gd name="adj" fmla="val 17647"/>
            </a:avLst>
          </a:prstGeom>
          <a:solidFill>
            <a:srgbClr val="E6EDF1"/>
          </a:solidFill>
          <a:ln w="9525">
            <a:solidFill>
              <a:srgbClr val="D5DFE5"/>
            </a:solidFill>
            <a:prstDash val="solid"/>
          </a:ln>
        </p:spPr>
      </p:sp>
      <p:sp>
        <p:nvSpPr>
          <p:cNvPr id="8" name="Text 5"/>
          <p:cNvSpPr/>
          <p:nvPr/>
        </p:nvSpPr>
        <p:spPr>
          <a:xfrm>
            <a:off x="9549079" y="384048"/>
            <a:ext cx="914400" cy="310896"/>
          </a:xfrm>
          <a:prstGeom prst="rect">
            <a:avLst/>
          </a:prstGeom>
          <a:noFill/>
          <a:ln/>
        </p:spPr>
        <p:txBody>
          <a:bodyPr wrap="square" lIns="0" tIns="0" rIns="0" bIns="0" rtlCol="0" anchor="ctr"/>
          <a:lstStyle/>
          <a:p>
            <a:pPr algn="ctr" indent="0" marL="0">
              <a:buNone/>
            </a:pPr>
            <a:r>
              <a:rPr lang="en-US" sz="1000" b="1" dirty="0">
                <a:solidFill>
                  <a:srgbClr val="1F5468"/>
                </a:solidFill>
                <a:latin typeface="Courier New" pitchFamily="34" charset="0"/>
                <a:ea typeface="Courier New" pitchFamily="34" charset="-122"/>
                <a:cs typeface="Courier New" pitchFamily="34" charset="-120"/>
              </a:rPr>
              <a:t>RÉEL</a:t>
            </a:r>
            <a:endParaRPr lang="en-US" sz="1000" dirty="0"/>
          </a:p>
        </p:txBody>
      </p:sp>
      <p:sp>
        <p:nvSpPr>
          <p:cNvPr id="9" name="Text 6"/>
          <p:cNvSpPr/>
          <p:nvPr/>
        </p:nvSpPr>
        <p:spPr>
          <a:xfrm>
            <a:off x="566928" y="1298448"/>
            <a:ext cx="292608" cy="237744"/>
          </a:xfrm>
          <a:prstGeom prst="rect">
            <a:avLst/>
          </a:prstGeom>
          <a:noFill/>
          <a:ln/>
        </p:spPr>
        <p:txBody>
          <a:bodyPr wrap="square" lIns="0" tIns="0" rIns="0" bIns="0" rtlCol="0" anchor="ctr"/>
          <a:lstStyle/>
          <a:p>
            <a:pPr indent="0" marL="0">
              <a:buNone/>
            </a:pPr>
            <a:r>
              <a:rPr lang="en-US" sz="1100" b="1" dirty="0">
                <a:solidFill>
                  <a:srgbClr val="D98A21"/>
                </a:solidFill>
                <a:latin typeface="Courier New" pitchFamily="34" charset="0"/>
                <a:ea typeface="Courier New" pitchFamily="34" charset="-122"/>
                <a:cs typeface="Courier New" pitchFamily="34" charset="-120"/>
              </a:rPr>
              <a:t>1</a:t>
            </a:r>
            <a:endParaRPr lang="en-US" sz="1100" dirty="0"/>
          </a:p>
        </p:txBody>
      </p:sp>
      <p:sp>
        <p:nvSpPr>
          <p:cNvPr id="10" name="Text 7"/>
          <p:cNvSpPr/>
          <p:nvPr/>
        </p:nvSpPr>
        <p:spPr>
          <a:xfrm>
            <a:off x="896112" y="1280160"/>
            <a:ext cx="2011680" cy="256032"/>
          </a:xfrm>
          <a:prstGeom prst="rect">
            <a:avLst/>
          </a:prstGeom>
          <a:noFill/>
          <a:ln/>
        </p:spPr>
        <p:txBody>
          <a:bodyPr wrap="square" lIns="0" tIns="0" rIns="0" bIns="0" rtlCol="0" anchor="ctr"/>
          <a:lstStyle/>
          <a:p>
            <a:pPr indent="0" marL="0">
              <a:buNone/>
            </a:pPr>
            <a:r>
              <a:rPr lang="en-US" sz="1250" b="1" dirty="0">
                <a:solidFill>
                  <a:srgbClr val="0E1D28"/>
                </a:solidFill>
                <a:latin typeface="Calibri" pitchFamily="34" charset="0"/>
                <a:ea typeface="Calibri" pitchFamily="34" charset="-122"/>
                <a:cs typeface="Calibri" pitchFamily="34" charset="-120"/>
              </a:rPr>
              <a:t>Avancement</a:t>
            </a:r>
            <a:endParaRPr lang="en-US" sz="1250" dirty="0"/>
          </a:p>
        </p:txBody>
      </p:sp>
      <p:sp>
        <p:nvSpPr>
          <p:cNvPr id="11" name="Text 8"/>
          <p:cNvSpPr/>
          <p:nvPr/>
        </p:nvSpPr>
        <p:spPr>
          <a:xfrm>
            <a:off x="2304288" y="1316736"/>
            <a:ext cx="2240280" cy="201168"/>
          </a:xfrm>
          <a:prstGeom prst="rect">
            <a:avLst/>
          </a:prstGeom>
          <a:noFill/>
          <a:ln/>
        </p:spPr>
        <p:txBody>
          <a:bodyPr wrap="square" lIns="0" tIns="0" rIns="0" bIns="0" rtlCol="0" anchor="ctr"/>
          <a:lstStyle/>
          <a:p>
            <a:pPr algn="r" indent="0" marL="0">
              <a:buNone/>
            </a:pPr>
            <a:r>
              <a:rPr lang="en-US" sz="800" b="1" spc="100" kern="0" dirty="0">
                <a:solidFill>
                  <a:srgbClr val="1F5468"/>
                </a:solidFill>
                <a:latin typeface="Courier New" pitchFamily="34" charset="0"/>
                <a:ea typeface="Courier New" pitchFamily="34" charset="-122"/>
                <a:cs typeface="Courier New" pitchFamily="34" charset="-120"/>
              </a:rPr>
              <a:t>CHAQUE LOT × CHAQUE STATUT</a:t>
            </a:r>
            <a:endParaRPr lang="en-US" sz="800" dirty="0"/>
          </a:p>
        </p:txBody>
      </p:sp>
      <p:sp>
        <p:nvSpPr>
          <p:cNvPr id="12" name="Text 9"/>
          <p:cNvSpPr/>
          <p:nvPr/>
        </p:nvSpPr>
        <p:spPr>
          <a:xfrm>
            <a:off x="566928" y="1517904"/>
            <a:ext cx="3977640" cy="347472"/>
          </a:xfrm>
          <a:prstGeom prst="rect">
            <a:avLst/>
          </a:prstGeom>
          <a:noFill/>
          <a:ln/>
        </p:spPr>
        <p:txBody>
          <a:bodyPr wrap="square" lIns="0" tIns="0" rIns="0" bIns="0" rtlCol="0" anchor="t"/>
          <a:lstStyle/>
          <a:p>
            <a:pPr indent="0" marL="0">
              <a:buNone/>
            </a:pPr>
            <a:r>
              <a:rPr lang="en-US" sz="1000" dirty="0">
                <a:solidFill>
                  <a:srgbClr val="17303F"/>
                </a:solidFill>
                <a:latin typeface="Calibri" pitchFamily="34" charset="0"/>
                <a:ea typeface="Calibri" pitchFamily="34" charset="-122"/>
                <a:cs typeface="Calibri" pitchFamily="34" charset="-120"/>
              </a:rPr>
              <a:t>EP02 et EP05 clos ; EP04 en retrait, c'est le lot reporté.</a:t>
            </a:r>
            <a:endParaRPr lang="en-US" sz="1000" dirty="0"/>
          </a:p>
          <a:p>
            <a:pPr indent="0" marL="0">
              <a:buNone/>
            </a:pPr>
            <a:r>
              <a:rPr lang="en-US" sz="1000" b="1" dirty="0">
                <a:solidFill>
                  <a:srgbClr val="35704F"/>
                </a:solidFill>
                <a:latin typeface="Calibri" pitchFamily="34" charset="0"/>
                <a:ea typeface="Calibri" pitchFamily="34" charset="-122"/>
                <a:cs typeface="Calibri" pitchFamily="34" charset="-120"/>
              </a:rPr>
              <a:t>39 tickets terminés sur 66.</a:t>
            </a:r>
            <a:endParaRPr lang="en-US" sz="1000" dirty="0"/>
          </a:p>
        </p:txBody>
      </p:sp>
      <p:sp>
        <p:nvSpPr>
          <p:cNvPr id="13" name="Shape 10"/>
          <p:cNvSpPr/>
          <p:nvPr/>
        </p:nvSpPr>
        <p:spPr>
          <a:xfrm>
            <a:off x="813816" y="1874520"/>
            <a:ext cx="3456432" cy="4511559"/>
          </a:xfrm>
          <a:prstGeom prst="rect">
            <a:avLst/>
          </a:prstGeom>
          <a:solidFill>
            <a:srgbClr val="E6EDF1"/>
          </a:solidFill>
          <a:ln w="9525">
            <a:solidFill>
              <a:srgbClr val="D5DFE5"/>
            </a:solidFill>
            <a:prstDash val="solid"/>
          </a:ln>
          <a:effectLst>
            <a:outerShdw sx="100000" sy="100000" kx="0" ky="0" algn="bl" rotWithShape="0" blurRad="177800" dist="38100" dir="5400000">
              <a:srgbClr val="0E1D28">
                <a:alpha val="10000"/>
              </a:srgbClr>
            </a:outerShdw>
          </a:effectLst>
        </p:spPr>
      </p:sp>
      <p:pic>
        <p:nvPicPr>
          <p:cNvPr id="14" name="Image 0" descr="/home/claude/shots/F-dashboard.png">    </p:cNvPr>
          <p:cNvPicPr>
            <a:picLocks noChangeAspect="1"/>
          </p:cNvPicPr>
          <p:nvPr/>
        </p:nvPicPr>
        <p:blipFill>
          <a:blip r:embed="rId1"/>
          <a:stretch>
            <a:fillRect/>
          </a:stretch>
        </p:blipFill>
        <p:spPr>
          <a:xfrm>
            <a:off x="859536" y="1920240"/>
            <a:ext cx="3364992" cy="4420119"/>
          </a:xfrm>
          <a:prstGeom prst="rect">
            <a:avLst/>
          </a:prstGeom>
        </p:spPr>
      </p:pic>
      <p:sp>
        <p:nvSpPr>
          <p:cNvPr id="15" name="Shape 11"/>
          <p:cNvSpPr/>
          <p:nvPr/>
        </p:nvSpPr>
        <p:spPr>
          <a:xfrm>
            <a:off x="4773168" y="1810512"/>
            <a:ext cx="6851599" cy="969264"/>
          </a:xfrm>
          <a:prstGeom prst="roundRect">
            <a:avLst>
              <a:gd name="adj" fmla="val 3302"/>
            </a:avLst>
          </a:prstGeom>
          <a:solidFill>
            <a:srgbClr val="F1F5F7"/>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16" name="Text 12"/>
          <p:cNvSpPr/>
          <p:nvPr/>
        </p:nvSpPr>
        <p:spPr>
          <a:xfrm>
            <a:off x="4974336" y="1929384"/>
            <a:ext cx="292608" cy="237744"/>
          </a:xfrm>
          <a:prstGeom prst="rect">
            <a:avLst/>
          </a:prstGeom>
          <a:noFill/>
          <a:ln/>
        </p:spPr>
        <p:txBody>
          <a:bodyPr wrap="square" lIns="0" tIns="0" rIns="0" bIns="0" rtlCol="0" anchor="ctr"/>
          <a:lstStyle/>
          <a:p>
            <a:pPr indent="0" marL="0">
              <a:buNone/>
            </a:pPr>
            <a:r>
              <a:rPr lang="en-US" sz="1100" b="1" dirty="0">
                <a:solidFill>
                  <a:srgbClr val="D98A21"/>
                </a:solidFill>
                <a:latin typeface="Courier New" pitchFamily="34" charset="0"/>
                <a:ea typeface="Courier New" pitchFamily="34" charset="-122"/>
                <a:cs typeface="Courier New" pitchFamily="34" charset="-120"/>
              </a:rPr>
              <a:t>2</a:t>
            </a:r>
            <a:endParaRPr lang="en-US" sz="1100" dirty="0"/>
          </a:p>
        </p:txBody>
      </p:sp>
      <p:sp>
        <p:nvSpPr>
          <p:cNvPr id="17" name="Text 13"/>
          <p:cNvSpPr/>
          <p:nvPr/>
        </p:nvSpPr>
        <p:spPr>
          <a:xfrm>
            <a:off x="5303520" y="1911096"/>
            <a:ext cx="6120079" cy="256032"/>
          </a:xfrm>
          <a:prstGeom prst="rect">
            <a:avLst/>
          </a:prstGeom>
          <a:noFill/>
          <a:ln/>
        </p:spPr>
        <p:txBody>
          <a:bodyPr wrap="square" lIns="0" tIns="0" rIns="0" bIns="0" rtlCol="0" anchor="ctr"/>
          <a:lstStyle/>
          <a:p>
            <a:pPr indent="0" marL="0">
              <a:buNone/>
            </a:pPr>
            <a:r>
              <a:rPr lang="en-US" sz="1250" b="1" dirty="0">
                <a:solidFill>
                  <a:srgbClr val="0E1D28"/>
                </a:solidFill>
                <a:latin typeface="Calibri" pitchFamily="34" charset="0"/>
                <a:ea typeface="Calibri" pitchFamily="34" charset="-122"/>
                <a:cs typeface="Calibri" pitchFamily="34" charset="-120"/>
              </a:rPr>
              <a:t>Délais</a:t>
            </a:r>
            <a:endParaRPr lang="en-US" sz="1250" dirty="0"/>
          </a:p>
        </p:txBody>
      </p:sp>
      <p:sp>
        <p:nvSpPr>
          <p:cNvPr id="18" name="Text 14"/>
          <p:cNvSpPr/>
          <p:nvPr/>
        </p:nvSpPr>
        <p:spPr>
          <a:xfrm>
            <a:off x="4974336" y="2194560"/>
            <a:ext cx="6449263" cy="438912"/>
          </a:xfrm>
          <a:prstGeom prst="rect">
            <a:avLst/>
          </a:prstGeom>
          <a:noFill/>
          <a:ln/>
        </p:spPr>
        <p:txBody>
          <a:bodyPr wrap="square" lIns="0" tIns="0" rIns="0" bIns="0" rtlCol="0" anchor="t"/>
          <a:lstStyle/>
          <a:p>
            <a:pPr indent="0" marL="0">
              <a:buNone/>
            </a:pPr>
            <a:r>
              <a:rPr lang="en-US" sz="1050" dirty="0">
                <a:solidFill>
                  <a:srgbClr val="17303F"/>
                </a:solidFill>
                <a:latin typeface="Calibri" pitchFamily="34" charset="0"/>
                <a:ea typeface="Calibri" pitchFamily="34" charset="-122"/>
                <a:cs typeface="Calibri" pitchFamily="34" charset="-120"/>
              </a:rPr>
              <a:t>5 jalons J1→J5 · mise en production tenue au 23/07/2026 · 3 versions déployées, une quatrième en cours de développement.</a:t>
            </a:r>
            <a:endParaRPr lang="en-US" sz="1050" dirty="0"/>
          </a:p>
          <a:p>
            <a:pPr indent="0" marL="0">
              <a:buNone/>
            </a:pPr>
            <a:r>
              <a:rPr lang="en-US" sz="1050" b="1" dirty="0">
                <a:solidFill>
                  <a:srgbClr val="35704F"/>
                </a:solidFill>
                <a:latin typeface="Calibri" pitchFamily="34" charset="0"/>
                <a:ea typeface="Calibri" pitchFamily="34" charset="-122"/>
                <a:cs typeface="Calibri" pitchFamily="34" charset="-120"/>
              </a:rPr>
              <a:t>Écart au jalon contractuel : 0 jour.</a:t>
            </a:r>
            <a:endParaRPr lang="en-US" sz="1050" dirty="0"/>
          </a:p>
        </p:txBody>
      </p:sp>
      <p:sp>
        <p:nvSpPr>
          <p:cNvPr id="19" name="Shape 15"/>
          <p:cNvSpPr/>
          <p:nvPr/>
        </p:nvSpPr>
        <p:spPr>
          <a:xfrm>
            <a:off x="4773168" y="2871216"/>
            <a:ext cx="6851599" cy="969264"/>
          </a:xfrm>
          <a:prstGeom prst="roundRect">
            <a:avLst>
              <a:gd name="adj" fmla="val 3302"/>
            </a:avLst>
          </a:prstGeom>
          <a:solidFill>
            <a:srgbClr val="F1F5F7"/>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20" name="Text 16"/>
          <p:cNvSpPr/>
          <p:nvPr/>
        </p:nvSpPr>
        <p:spPr>
          <a:xfrm>
            <a:off x="4974336" y="2990088"/>
            <a:ext cx="292608" cy="237744"/>
          </a:xfrm>
          <a:prstGeom prst="rect">
            <a:avLst/>
          </a:prstGeom>
          <a:noFill/>
          <a:ln/>
        </p:spPr>
        <p:txBody>
          <a:bodyPr wrap="square" lIns="0" tIns="0" rIns="0" bIns="0" rtlCol="0" anchor="ctr"/>
          <a:lstStyle/>
          <a:p>
            <a:pPr indent="0" marL="0">
              <a:buNone/>
            </a:pPr>
            <a:r>
              <a:rPr lang="en-US" sz="1100" b="1" dirty="0">
                <a:solidFill>
                  <a:srgbClr val="D98A21"/>
                </a:solidFill>
                <a:latin typeface="Courier New" pitchFamily="34" charset="0"/>
                <a:ea typeface="Courier New" pitchFamily="34" charset="-122"/>
                <a:cs typeface="Courier New" pitchFamily="34" charset="-120"/>
              </a:rPr>
              <a:t>3</a:t>
            </a:r>
            <a:endParaRPr lang="en-US" sz="1100" dirty="0"/>
          </a:p>
        </p:txBody>
      </p:sp>
      <p:sp>
        <p:nvSpPr>
          <p:cNvPr id="21" name="Text 17"/>
          <p:cNvSpPr/>
          <p:nvPr/>
        </p:nvSpPr>
        <p:spPr>
          <a:xfrm>
            <a:off x="5303520" y="2971800"/>
            <a:ext cx="6120079" cy="256032"/>
          </a:xfrm>
          <a:prstGeom prst="rect">
            <a:avLst/>
          </a:prstGeom>
          <a:noFill/>
          <a:ln/>
        </p:spPr>
        <p:txBody>
          <a:bodyPr wrap="square" lIns="0" tIns="0" rIns="0" bIns="0" rtlCol="0" anchor="ctr"/>
          <a:lstStyle/>
          <a:p>
            <a:pPr indent="0" marL="0">
              <a:buNone/>
            </a:pPr>
            <a:r>
              <a:rPr lang="en-US" sz="1250" b="1" dirty="0">
                <a:solidFill>
                  <a:srgbClr val="0E1D28"/>
                </a:solidFill>
                <a:latin typeface="Calibri" pitchFamily="34" charset="0"/>
                <a:ea typeface="Calibri" pitchFamily="34" charset="-122"/>
                <a:cs typeface="Calibri" pitchFamily="34" charset="-120"/>
              </a:rPr>
              <a:t>Coûts</a:t>
            </a:r>
            <a:endParaRPr lang="en-US" sz="1250" dirty="0"/>
          </a:p>
        </p:txBody>
      </p:sp>
      <p:sp>
        <p:nvSpPr>
          <p:cNvPr id="22" name="Text 18"/>
          <p:cNvSpPr/>
          <p:nvPr/>
        </p:nvSpPr>
        <p:spPr>
          <a:xfrm>
            <a:off x="4974336" y="3255264"/>
            <a:ext cx="6449263" cy="438912"/>
          </a:xfrm>
          <a:prstGeom prst="rect">
            <a:avLst/>
          </a:prstGeom>
          <a:noFill/>
          <a:ln/>
        </p:spPr>
        <p:txBody>
          <a:bodyPr wrap="square" lIns="0" tIns="0" rIns="0" bIns="0" rtlCol="0" anchor="t"/>
          <a:lstStyle/>
          <a:p>
            <a:pPr indent="0" marL="0">
              <a:buNone/>
            </a:pPr>
            <a:r>
              <a:rPr lang="en-US" sz="1050" dirty="0">
                <a:solidFill>
                  <a:srgbClr val="17303F"/>
                </a:solidFill>
                <a:latin typeface="Calibri" pitchFamily="34" charset="0"/>
                <a:ea typeface="Calibri" pitchFamily="34" charset="-122"/>
                <a:cs typeface="Calibri" pitchFamily="34" charset="-120"/>
              </a:rPr>
              <a:t>119 J/H estimés · 77 000 € HT de développement · exploitation cloud 950 €/mois pour 1 000 utilisateurs actifs.</a:t>
            </a:r>
            <a:endParaRPr lang="en-US" sz="1050" dirty="0"/>
          </a:p>
          <a:p>
            <a:pPr indent="0" marL="0">
              <a:buNone/>
            </a:pPr>
            <a:r>
              <a:rPr lang="en-US" sz="1050" b="1" dirty="0">
                <a:solidFill>
                  <a:srgbClr val="AE3F2C"/>
                </a:solidFill>
                <a:latin typeface="Calibri" pitchFamily="34" charset="0"/>
                <a:ea typeface="Calibri" pitchFamily="34" charset="-122"/>
                <a:cs typeface="Calibri" pitchFamily="34" charset="-120"/>
              </a:rPr>
              <a:t>Dérive suivie : SH-14, estimé 5 points, réalisé 8 à 13.</a:t>
            </a:r>
            <a:endParaRPr lang="en-US" sz="1050" dirty="0"/>
          </a:p>
        </p:txBody>
      </p:sp>
      <p:sp>
        <p:nvSpPr>
          <p:cNvPr id="23" name="Shape 19"/>
          <p:cNvSpPr/>
          <p:nvPr/>
        </p:nvSpPr>
        <p:spPr>
          <a:xfrm>
            <a:off x="4773168" y="3931920"/>
            <a:ext cx="6851599" cy="969264"/>
          </a:xfrm>
          <a:prstGeom prst="roundRect">
            <a:avLst>
              <a:gd name="adj" fmla="val 3302"/>
            </a:avLst>
          </a:prstGeom>
          <a:solidFill>
            <a:srgbClr val="F1F5F7"/>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24" name="Text 20"/>
          <p:cNvSpPr/>
          <p:nvPr/>
        </p:nvSpPr>
        <p:spPr>
          <a:xfrm>
            <a:off x="4974336" y="4050792"/>
            <a:ext cx="292608" cy="237744"/>
          </a:xfrm>
          <a:prstGeom prst="rect">
            <a:avLst/>
          </a:prstGeom>
          <a:noFill/>
          <a:ln/>
        </p:spPr>
        <p:txBody>
          <a:bodyPr wrap="square" lIns="0" tIns="0" rIns="0" bIns="0" rtlCol="0" anchor="ctr"/>
          <a:lstStyle/>
          <a:p>
            <a:pPr indent="0" marL="0">
              <a:buNone/>
            </a:pPr>
            <a:r>
              <a:rPr lang="en-US" sz="1100" b="1" dirty="0">
                <a:solidFill>
                  <a:srgbClr val="D98A21"/>
                </a:solidFill>
                <a:latin typeface="Courier New" pitchFamily="34" charset="0"/>
                <a:ea typeface="Courier New" pitchFamily="34" charset="-122"/>
                <a:cs typeface="Courier New" pitchFamily="34" charset="-120"/>
              </a:rPr>
              <a:t>4</a:t>
            </a:r>
            <a:endParaRPr lang="en-US" sz="1100" dirty="0"/>
          </a:p>
        </p:txBody>
      </p:sp>
      <p:sp>
        <p:nvSpPr>
          <p:cNvPr id="25" name="Text 21"/>
          <p:cNvSpPr/>
          <p:nvPr/>
        </p:nvSpPr>
        <p:spPr>
          <a:xfrm>
            <a:off x="5303520" y="4032504"/>
            <a:ext cx="6120079" cy="256032"/>
          </a:xfrm>
          <a:prstGeom prst="rect">
            <a:avLst/>
          </a:prstGeom>
          <a:noFill/>
          <a:ln/>
        </p:spPr>
        <p:txBody>
          <a:bodyPr wrap="square" lIns="0" tIns="0" rIns="0" bIns="0" rtlCol="0" anchor="ctr"/>
          <a:lstStyle/>
          <a:p>
            <a:pPr indent="0" marL="0">
              <a:buNone/>
            </a:pPr>
            <a:r>
              <a:rPr lang="en-US" sz="1250" b="1" dirty="0">
                <a:solidFill>
                  <a:srgbClr val="0E1D28"/>
                </a:solidFill>
                <a:latin typeface="Calibri" pitchFamily="34" charset="0"/>
                <a:ea typeface="Calibri" pitchFamily="34" charset="-122"/>
                <a:cs typeface="Calibri" pitchFamily="34" charset="-120"/>
              </a:rPr>
              <a:t>Risques</a:t>
            </a:r>
            <a:endParaRPr lang="en-US" sz="1250" dirty="0"/>
          </a:p>
        </p:txBody>
      </p:sp>
      <p:sp>
        <p:nvSpPr>
          <p:cNvPr id="26" name="Text 22"/>
          <p:cNvSpPr/>
          <p:nvPr/>
        </p:nvSpPr>
        <p:spPr>
          <a:xfrm>
            <a:off x="4974336" y="4315968"/>
            <a:ext cx="6449263" cy="438912"/>
          </a:xfrm>
          <a:prstGeom prst="rect">
            <a:avLst/>
          </a:prstGeom>
          <a:noFill/>
          <a:ln/>
        </p:spPr>
        <p:txBody>
          <a:bodyPr wrap="square" lIns="0" tIns="0" rIns="0" bIns="0" rtlCol="0" anchor="t"/>
          <a:lstStyle/>
          <a:p>
            <a:pPr indent="0" marL="0">
              <a:buNone/>
            </a:pPr>
            <a:r>
              <a:rPr lang="en-US" sz="1050" dirty="0">
                <a:solidFill>
                  <a:srgbClr val="17303F"/>
                </a:solidFill>
                <a:latin typeface="Calibri" pitchFamily="34" charset="0"/>
                <a:ea typeface="Calibri" pitchFamily="34" charset="-122"/>
                <a:cs typeface="Calibri" pitchFamily="34" charset="-120"/>
              </a:rPr>
              <a:t>10 risques cotés Probabilité × Impact, chacun avec son indicateur de contrôle chiffré.</a:t>
            </a:r>
            <a:endParaRPr lang="en-US" sz="1050" dirty="0"/>
          </a:p>
          <a:p>
            <a:pPr indent="0" marL="0">
              <a:buNone/>
            </a:pPr>
            <a:r>
              <a:rPr lang="en-US" sz="1050" b="1" dirty="0">
                <a:solidFill>
                  <a:srgbClr val="AE3F2C"/>
                </a:solidFill>
                <a:latin typeface="Calibri" pitchFamily="34" charset="0"/>
                <a:ea typeface="Calibri" pitchFamily="34" charset="-122"/>
                <a:cs typeface="Calibri" pitchFamily="34" charset="-120"/>
              </a:rPr>
              <a:t>4 en criticité ≥ 12 · R2, fausses certifications, reste le plus critique à 16.</a:t>
            </a:r>
            <a:endParaRPr lang="en-US" sz="1050" dirty="0"/>
          </a:p>
        </p:txBody>
      </p:sp>
      <p:sp>
        <p:nvSpPr>
          <p:cNvPr id="27" name="Shape 23"/>
          <p:cNvSpPr/>
          <p:nvPr/>
        </p:nvSpPr>
        <p:spPr>
          <a:xfrm>
            <a:off x="4773168" y="4992624"/>
            <a:ext cx="6851599" cy="1335024"/>
          </a:xfrm>
          <a:prstGeom prst="roundRect">
            <a:avLst>
              <a:gd name="adj" fmla="val 2397"/>
            </a:avLst>
          </a:prstGeom>
          <a:solidFill>
            <a:srgbClr val="F1F5F7"/>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28" name="Text 24"/>
          <p:cNvSpPr/>
          <p:nvPr/>
        </p:nvSpPr>
        <p:spPr>
          <a:xfrm>
            <a:off x="4974336" y="5111496"/>
            <a:ext cx="292608" cy="237744"/>
          </a:xfrm>
          <a:prstGeom prst="rect">
            <a:avLst/>
          </a:prstGeom>
          <a:noFill/>
          <a:ln/>
        </p:spPr>
        <p:txBody>
          <a:bodyPr wrap="square" lIns="0" tIns="0" rIns="0" bIns="0" rtlCol="0" anchor="ctr"/>
          <a:lstStyle/>
          <a:p>
            <a:pPr indent="0" marL="0">
              <a:buNone/>
            </a:pPr>
            <a:r>
              <a:rPr lang="en-US" sz="1100" b="1" dirty="0">
                <a:solidFill>
                  <a:srgbClr val="D98A21"/>
                </a:solidFill>
                <a:latin typeface="Courier New" pitchFamily="34" charset="0"/>
                <a:ea typeface="Courier New" pitchFamily="34" charset="-122"/>
                <a:cs typeface="Courier New" pitchFamily="34" charset="-120"/>
              </a:rPr>
              <a:t>5</a:t>
            </a:r>
            <a:endParaRPr lang="en-US" sz="1100" dirty="0"/>
          </a:p>
        </p:txBody>
      </p:sp>
      <p:sp>
        <p:nvSpPr>
          <p:cNvPr id="29" name="Text 25"/>
          <p:cNvSpPr/>
          <p:nvPr/>
        </p:nvSpPr>
        <p:spPr>
          <a:xfrm>
            <a:off x="5303520" y="5093208"/>
            <a:ext cx="6120079" cy="256032"/>
          </a:xfrm>
          <a:prstGeom prst="rect">
            <a:avLst/>
          </a:prstGeom>
          <a:noFill/>
          <a:ln/>
        </p:spPr>
        <p:txBody>
          <a:bodyPr wrap="square" lIns="0" tIns="0" rIns="0" bIns="0" rtlCol="0" anchor="ctr"/>
          <a:lstStyle/>
          <a:p>
            <a:pPr indent="0" marL="0">
              <a:buNone/>
            </a:pPr>
            <a:r>
              <a:rPr lang="en-US" sz="1250" b="1" dirty="0">
                <a:solidFill>
                  <a:srgbClr val="0E1D28"/>
                </a:solidFill>
                <a:latin typeface="Calibri" pitchFamily="34" charset="0"/>
                <a:ea typeface="Calibri" pitchFamily="34" charset="-122"/>
                <a:cs typeface="Calibri" pitchFamily="34" charset="-120"/>
              </a:rPr>
              <a:t>Ressources humaines — charge hebdomadaire réelle</a:t>
            </a:r>
            <a:endParaRPr lang="en-US" sz="1250" dirty="0"/>
          </a:p>
        </p:txBody>
      </p:sp>
      <p:sp>
        <p:nvSpPr>
          <p:cNvPr id="30" name="Shape 26"/>
          <p:cNvSpPr/>
          <p:nvPr/>
        </p:nvSpPr>
        <p:spPr>
          <a:xfrm>
            <a:off x="5047488" y="5833872"/>
            <a:ext cx="384048" cy="18288"/>
          </a:xfrm>
          <a:prstGeom prst="rect">
            <a:avLst/>
          </a:prstGeom>
          <a:solidFill>
            <a:srgbClr val="1F5468"/>
          </a:solidFill>
          <a:ln w="12700">
            <a:solidFill>
              <a:srgbClr val="1F5468"/>
            </a:solidFill>
            <a:prstDash val="solid"/>
          </a:ln>
        </p:spPr>
      </p:sp>
      <p:sp>
        <p:nvSpPr>
          <p:cNvPr id="31" name="Shape 27"/>
          <p:cNvSpPr/>
          <p:nvPr/>
        </p:nvSpPr>
        <p:spPr>
          <a:xfrm>
            <a:off x="5568696" y="5833872"/>
            <a:ext cx="384048" cy="18288"/>
          </a:xfrm>
          <a:prstGeom prst="rect">
            <a:avLst/>
          </a:prstGeom>
          <a:solidFill>
            <a:srgbClr val="1F5468"/>
          </a:solidFill>
          <a:ln w="12700">
            <a:solidFill>
              <a:srgbClr val="1F5468"/>
            </a:solidFill>
            <a:prstDash val="solid"/>
          </a:ln>
        </p:spPr>
      </p:sp>
      <p:sp>
        <p:nvSpPr>
          <p:cNvPr id="32" name="Shape 28"/>
          <p:cNvSpPr/>
          <p:nvPr/>
        </p:nvSpPr>
        <p:spPr>
          <a:xfrm>
            <a:off x="6089904" y="5741902"/>
            <a:ext cx="384048" cy="110258"/>
          </a:xfrm>
          <a:prstGeom prst="rect">
            <a:avLst/>
          </a:prstGeom>
          <a:solidFill>
            <a:srgbClr val="1F5468"/>
          </a:solidFill>
          <a:ln w="12700">
            <a:solidFill>
              <a:srgbClr val="1F5468"/>
            </a:solidFill>
            <a:prstDash val="solid"/>
          </a:ln>
        </p:spPr>
      </p:sp>
      <p:sp>
        <p:nvSpPr>
          <p:cNvPr id="33" name="Shape 29"/>
          <p:cNvSpPr/>
          <p:nvPr/>
        </p:nvSpPr>
        <p:spPr>
          <a:xfrm>
            <a:off x="6611112" y="5690218"/>
            <a:ext cx="384048" cy="161942"/>
          </a:xfrm>
          <a:prstGeom prst="rect">
            <a:avLst/>
          </a:prstGeom>
          <a:solidFill>
            <a:srgbClr val="1F5468"/>
          </a:solidFill>
          <a:ln w="12700">
            <a:solidFill>
              <a:srgbClr val="1F5468"/>
            </a:solidFill>
            <a:prstDash val="solid"/>
          </a:ln>
        </p:spPr>
      </p:sp>
      <p:sp>
        <p:nvSpPr>
          <p:cNvPr id="34" name="Shape 30"/>
          <p:cNvSpPr/>
          <p:nvPr/>
        </p:nvSpPr>
        <p:spPr>
          <a:xfrm>
            <a:off x="7132320" y="5786694"/>
            <a:ext cx="384048" cy="65466"/>
          </a:xfrm>
          <a:prstGeom prst="rect">
            <a:avLst/>
          </a:prstGeom>
          <a:solidFill>
            <a:srgbClr val="1F5468"/>
          </a:solidFill>
          <a:ln w="12700">
            <a:solidFill>
              <a:srgbClr val="1F5468"/>
            </a:solidFill>
            <a:prstDash val="solid"/>
          </a:ln>
        </p:spPr>
      </p:sp>
      <p:sp>
        <p:nvSpPr>
          <p:cNvPr id="35" name="Shape 31"/>
          <p:cNvSpPr/>
          <p:nvPr/>
        </p:nvSpPr>
        <p:spPr>
          <a:xfrm>
            <a:off x="7653528" y="5376672"/>
            <a:ext cx="384048" cy="475488"/>
          </a:xfrm>
          <a:prstGeom prst="rect">
            <a:avLst/>
          </a:prstGeom>
          <a:solidFill>
            <a:srgbClr val="AE3F2C"/>
          </a:solidFill>
          <a:ln w="12700">
            <a:solidFill>
              <a:srgbClr val="AE3F2C"/>
            </a:solidFill>
            <a:prstDash val="solid"/>
          </a:ln>
        </p:spPr>
      </p:sp>
      <p:sp>
        <p:nvSpPr>
          <p:cNvPr id="36" name="Shape 32"/>
          <p:cNvSpPr/>
          <p:nvPr/>
        </p:nvSpPr>
        <p:spPr>
          <a:xfrm>
            <a:off x="8174736" y="5831487"/>
            <a:ext cx="384048" cy="20673"/>
          </a:xfrm>
          <a:prstGeom prst="rect">
            <a:avLst/>
          </a:prstGeom>
          <a:solidFill>
            <a:srgbClr val="1F5468"/>
          </a:solidFill>
          <a:ln w="12700">
            <a:solidFill>
              <a:srgbClr val="1F5468"/>
            </a:solidFill>
            <a:prstDash val="solid"/>
          </a:ln>
        </p:spPr>
      </p:sp>
      <p:sp>
        <p:nvSpPr>
          <p:cNvPr id="37" name="Shape 33"/>
          <p:cNvSpPr/>
          <p:nvPr/>
        </p:nvSpPr>
        <p:spPr>
          <a:xfrm>
            <a:off x="8695944" y="5833872"/>
            <a:ext cx="384048" cy="18288"/>
          </a:xfrm>
          <a:prstGeom prst="rect">
            <a:avLst/>
          </a:prstGeom>
          <a:solidFill>
            <a:srgbClr val="1F5468"/>
          </a:solidFill>
          <a:ln w="12700">
            <a:solidFill>
              <a:srgbClr val="1F5468"/>
            </a:solidFill>
            <a:prstDash val="solid"/>
          </a:ln>
        </p:spPr>
      </p:sp>
      <p:sp>
        <p:nvSpPr>
          <p:cNvPr id="38" name="Shape 34"/>
          <p:cNvSpPr/>
          <p:nvPr/>
        </p:nvSpPr>
        <p:spPr>
          <a:xfrm>
            <a:off x="9217152" y="5786694"/>
            <a:ext cx="384048" cy="65466"/>
          </a:xfrm>
          <a:prstGeom prst="rect">
            <a:avLst/>
          </a:prstGeom>
          <a:solidFill>
            <a:srgbClr val="1F5468"/>
          </a:solidFill>
          <a:ln w="12700">
            <a:solidFill>
              <a:srgbClr val="1F5468"/>
            </a:solidFill>
            <a:prstDash val="solid"/>
          </a:ln>
        </p:spPr>
      </p:sp>
      <p:sp>
        <p:nvSpPr>
          <p:cNvPr id="39" name="Shape 35"/>
          <p:cNvSpPr/>
          <p:nvPr/>
        </p:nvSpPr>
        <p:spPr>
          <a:xfrm>
            <a:off x="9738360" y="5833872"/>
            <a:ext cx="384048" cy="18288"/>
          </a:xfrm>
          <a:prstGeom prst="rect">
            <a:avLst/>
          </a:prstGeom>
          <a:solidFill>
            <a:srgbClr val="1F5468"/>
          </a:solidFill>
          <a:ln w="12700">
            <a:solidFill>
              <a:srgbClr val="1F5468"/>
            </a:solidFill>
            <a:prstDash val="solid"/>
          </a:ln>
        </p:spPr>
      </p:sp>
      <p:sp>
        <p:nvSpPr>
          <p:cNvPr id="40" name="Shape 36"/>
          <p:cNvSpPr/>
          <p:nvPr/>
        </p:nvSpPr>
        <p:spPr>
          <a:xfrm>
            <a:off x="10259568" y="5800477"/>
            <a:ext cx="384048" cy="51683"/>
          </a:xfrm>
          <a:prstGeom prst="rect">
            <a:avLst/>
          </a:prstGeom>
          <a:solidFill>
            <a:srgbClr val="1F5468"/>
          </a:solidFill>
          <a:ln w="12700">
            <a:solidFill>
              <a:srgbClr val="1F5468"/>
            </a:solidFill>
            <a:prstDash val="solid"/>
          </a:ln>
        </p:spPr>
      </p:sp>
      <p:sp>
        <p:nvSpPr>
          <p:cNvPr id="41" name="Shape 37"/>
          <p:cNvSpPr/>
          <p:nvPr/>
        </p:nvSpPr>
        <p:spPr>
          <a:xfrm>
            <a:off x="10780776" y="5817704"/>
            <a:ext cx="384048" cy="34456"/>
          </a:xfrm>
          <a:prstGeom prst="rect">
            <a:avLst/>
          </a:prstGeom>
          <a:solidFill>
            <a:srgbClr val="1F5468"/>
          </a:solidFill>
          <a:ln w="12700">
            <a:solidFill>
              <a:srgbClr val="1F5468"/>
            </a:solidFill>
            <a:prstDash val="solid"/>
          </a:ln>
        </p:spPr>
      </p:sp>
      <p:sp>
        <p:nvSpPr>
          <p:cNvPr id="42" name="Shape 38"/>
          <p:cNvSpPr/>
          <p:nvPr/>
        </p:nvSpPr>
        <p:spPr>
          <a:xfrm>
            <a:off x="5047488" y="5852160"/>
            <a:ext cx="6117336" cy="0"/>
          </a:xfrm>
          <a:prstGeom prst="line">
            <a:avLst/>
          </a:prstGeom>
          <a:noFill/>
          <a:ln w="12700">
            <a:solidFill>
              <a:srgbClr val="D5DFE5"/>
            </a:solidFill>
            <a:prstDash val="solid"/>
          </a:ln>
        </p:spPr>
      </p:sp>
      <p:sp>
        <p:nvSpPr>
          <p:cNvPr id="43" name="Text 39"/>
          <p:cNvSpPr/>
          <p:nvPr/>
        </p:nvSpPr>
        <p:spPr>
          <a:xfrm>
            <a:off x="4937760" y="5879592"/>
            <a:ext cx="548640" cy="164592"/>
          </a:xfrm>
          <a:prstGeom prst="rect">
            <a:avLst/>
          </a:prstGeom>
          <a:noFill/>
          <a:ln/>
        </p:spPr>
        <p:txBody>
          <a:bodyPr wrap="square" lIns="0" tIns="0" rIns="0" bIns="0" rtlCol="0" anchor="ctr"/>
          <a:lstStyle/>
          <a:p>
            <a:pPr indent="0" marL="0">
              <a:buNone/>
            </a:pPr>
            <a:r>
              <a:rPr lang="en-US" sz="700" dirty="0">
                <a:solidFill>
                  <a:srgbClr val="5B6E7B"/>
                </a:solidFill>
                <a:latin typeface="Courier New" pitchFamily="34" charset="0"/>
                <a:ea typeface="Courier New" pitchFamily="34" charset="-122"/>
                <a:cs typeface="Courier New" pitchFamily="34" charset="-120"/>
              </a:rPr>
              <a:t>08/06</a:t>
            </a:r>
            <a:endParaRPr lang="en-US" sz="700" dirty="0"/>
          </a:p>
        </p:txBody>
      </p:sp>
      <p:sp>
        <p:nvSpPr>
          <p:cNvPr id="44" name="Text 40"/>
          <p:cNvSpPr/>
          <p:nvPr/>
        </p:nvSpPr>
        <p:spPr>
          <a:xfrm>
            <a:off x="10689336" y="5879592"/>
            <a:ext cx="548640" cy="164592"/>
          </a:xfrm>
          <a:prstGeom prst="rect">
            <a:avLst/>
          </a:prstGeom>
          <a:noFill/>
          <a:ln/>
        </p:spPr>
        <p:txBody>
          <a:bodyPr wrap="square" lIns="0" tIns="0" rIns="0" bIns="0" rtlCol="0" anchor="ctr"/>
          <a:lstStyle/>
          <a:p>
            <a:pPr indent="0" marL="0">
              <a:buNone/>
            </a:pPr>
            <a:r>
              <a:rPr lang="en-US" sz="700" dirty="0">
                <a:solidFill>
                  <a:srgbClr val="5B6E7B"/>
                </a:solidFill>
                <a:latin typeface="Courier New" pitchFamily="34" charset="0"/>
                <a:ea typeface="Courier New" pitchFamily="34" charset="-122"/>
                <a:cs typeface="Courier New" pitchFamily="34" charset="-120"/>
              </a:rPr>
              <a:t>24/08</a:t>
            </a:r>
            <a:endParaRPr lang="en-US" sz="700" dirty="0"/>
          </a:p>
        </p:txBody>
      </p:sp>
      <p:sp>
        <p:nvSpPr>
          <p:cNvPr id="45" name="Text 41"/>
          <p:cNvSpPr/>
          <p:nvPr/>
        </p:nvSpPr>
        <p:spPr>
          <a:xfrm>
            <a:off x="4992624" y="6016752"/>
            <a:ext cx="6412687" cy="292608"/>
          </a:xfrm>
          <a:prstGeom prst="rect">
            <a:avLst/>
          </a:prstGeom>
          <a:noFill/>
          <a:ln/>
        </p:spPr>
        <p:txBody>
          <a:bodyPr wrap="square" lIns="0" tIns="0" rIns="0" bIns="0" rtlCol="0" anchor="t"/>
          <a:lstStyle/>
          <a:p>
            <a:pPr indent="0" marL="0">
              <a:buNone/>
            </a:pPr>
            <a:r>
              <a:rPr lang="en-US" sz="950" dirty="0">
                <a:solidFill>
                  <a:srgbClr val="17303F"/>
                </a:solidFill>
                <a:latin typeface="Calibri" pitchFamily="34" charset="0"/>
                <a:ea typeface="Calibri" pitchFamily="34" charset="-122"/>
                <a:cs typeface="Calibri" pitchFamily="34" charset="-120"/>
              </a:rPr>
              <a:t>293 commits sur 11 semaines. Le pic du 13 juillet — 138, trois fois le précédent, sur une capacité limitée aux soirées — </a:t>
            </a:r>
            <a:pPr indent="0" marL="0">
              <a:buNone/>
            </a:pPr>
            <a:r>
              <a:rPr lang="en-US" sz="950" b="1" dirty="0">
                <a:solidFill>
                  <a:srgbClr val="AE3F2C"/>
                </a:solidFill>
                <a:latin typeface="Calibri" pitchFamily="34" charset="0"/>
                <a:ea typeface="Calibri" pitchFamily="34" charset="-122"/>
                <a:cs typeface="Calibri" pitchFamily="34" charset="-120"/>
              </a:rPr>
              <a:t>a déclenché l'arbitrage de périmètre du 16 juillet.</a:t>
            </a:r>
            <a:endParaRPr lang="en-US" sz="950" dirty="0"/>
          </a:p>
        </p:txBody>
      </p:sp>
      <p:sp>
        <p:nvSpPr>
          <p:cNvPr id="46" name="Text 42"/>
          <p:cNvSpPr/>
          <p:nvPr/>
        </p:nvSpPr>
        <p:spPr>
          <a:xfrm>
            <a:off x="10984687" y="6419088"/>
            <a:ext cx="640080" cy="256032"/>
          </a:xfrm>
          <a:prstGeom prst="rect">
            <a:avLst/>
          </a:prstGeom>
          <a:noFill/>
          <a:ln/>
        </p:spPr>
        <p:txBody>
          <a:bodyPr wrap="square" lIns="0" tIns="0" rIns="0" bIns="0" rtlCol="0" anchor="ctr"/>
          <a:lstStyle/>
          <a:p>
            <a:pPr algn="r" indent="0" marL="0">
              <a:buNone/>
            </a:pPr>
            <a:r>
              <a:rPr lang="en-US" sz="1000" dirty="0">
                <a:solidFill>
                  <a:srgbClr val="9FB2BD"/>
                </a:solidFill>
                <a:latin typeface="Courier New" pitchFamily="34" charset="0"/>
                <a:ea typeface="Courier New" pitchFamily="34" charset="-122"/>
                <a:cs typeface="Courier New"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66928" y="384048"/>
            <a:ext cx="7740487" cy="219456"/>
          </a:xfrm>
          <a:prstGeom prst="rect">
            <a:avLst/>
          </a:prstGeom>
          <a:noFill/>
          <a:ln/>
        </p:spPr>
        <p:txBody>
          <a:bodyPr wrap="square" lIns="0" tIns="0" rIns="0" bIns="0" rtlCol="0" anchor="ctr"/>
          <a:lstStyle/>
          <a:p>
            <a:pPr indent="0" marL="0">
              <a:buNone/>
            </a:pPr>
            <a:r>
              <a:rPr lang="en-US" sz="1050" b="1" spc="160" kern="0" dirty="0">
                <a:solidFill>
                  <a:srgbClr val="1F5468"/>
                </a:solidFill>
                <a:latin typeface="Courier New" pitchFamily="34" charset="0"/>
                <a:ea typeface="Courier New" pitchFamily="34" charset="-122"/>
                <a:cs typeface="Courier New" pitchFamily="34" charset="-120"/>
              </a:rPr>
              <a:t>PARTIE 2 · PILOTER</a:t>
            </a:r>
            <a:endParaRPr lang="en-US" sz="1050" dirty="0"/>
          </a:p>
        </p:txBody>
      </p:sp>
      <p:sp>
        <p:nvSpPr>
          <p:cNvPr id="4" name="Text 1"/>
          <p:cNvSpPr/>
          <p:nvPr/>
        </p:nvSpPr>
        <p:spPr>
          <a:xfrm>
            <a:off x="566928" y="621792"/>
            <a:ext cx="8403958" cy="731520"/>
          </a:xfrm>
          <a:prstGeom prst="rect">
            <a:avLst/>
          </a:prstGeom>
          <a:noFill/>
          <a:ln/>
        </p:spPr>
        <p:txBody>
          <a:bodyPr wrap="square" lIns="0" tIns="0" rIns="0" bIns="0" rtlCol="0" anchor="t"/>
          <a:lstStyle/>
          <a:p>
            <a:pPr indent="0" marL="0">
              <a:buNone/>
            </a:pPr>
            <a:r>
              <a:rPr lang="en-US" sz="2900" b="1" dirty="0">
                <a:solidFill>
                  <a:srgbClr val="0E1D28"/>
                </a:solidFill>
                <a:latin typeface="Cambria" pitchFamily="34" charset="0"/>
                <a:ea typeface="Cambria" pitchFamily="34" charset="-122"/>
                <a:cs typeface="Cambria" pitchFamily="34" charset="-120"/>
              </a:rPr>
              <a:t>Le cas d'arbitrage</a:t>
            </a:r>
            <a:endParaRPr lang="en-US" sz="2900" dirty="0"/>
          </a:p>
        </p:txBody>
      </p:sp>
      <p:sp>
        <p:nvSpPr>
          <p:cNvPr id="5" name="Shape 2"/>
          <p:cNvSpPr/>
          <p:nvPr/>
        </p:nvSpPr>
        <p:spPr>
          <a:xfrm>
            <a:off x="10573207" y="384048"/>
            <a:ext cx="1051560" cy="310896"/>
          </a:xfrm>
          <a:prstGeom prst="roundRect">
            <a:avLst>
              <a:gd name="adj" fmla="val 17647"/>
            </a:avLst>
          </a:prstGeom>
          <a:solidFill>
            <a:srgbClr val="E6EDF1"/>
          </a:solidFill>
          <a:ln w="9525">
            <a:solidFill>
              <a:srgbClr val="D5DFE5"/>
            </a:solidFill>
            <a:prstDash val="solid"/>
          </a:ln>
        </p:spPr>
      </p:sp>
      <p:sp>
        <p:nvSpPr>
          <p:cNvPr id="6" name="Text 3"/>
          <p:cNvSpPr/>
          <p:nvPr/>
        </p:nvSpPr>
        <p:spPr>
          <a:xfrm>
            <a:off x="10573207" y="384048"/>
            <a:ext cx="1051560" cy="310896"/>
          </a:xfrm>
          <a:prstGeom prst="rect">
            <a:avLst/>
          </a:prstGeom>
          <a:noFill/>
          <a:ln/>
        </p:spPr>
        <p:txBody>
          <a:bodyPr wrap="square" lIns="0" tIns="0" rIns="0" bIns="0" rtlCol="0" anchor="ctr"/>
          <a:lstStyle/>
          <a:p>
            <a:pPr algn="ctr" indent="0" marL="0">
              <a:buNone/>
            </a:pPr>
            <a:r>
              <a:rPr lang="en-US" sz="1000" b="1" dirty="0">
                <a:solidFill>
                  <a:srgbClr val="1F5468"/>
                </a:solidFill>
                <a:latin typeface="Courier New" pitchFamily="34" charset="0"/>
                <a:ea typeface="Courier New" pitchFamily="34" charset="-122"/>
                <a:cs typeface="Courier New" pitchFamily="34" charset="-120"/>
              </a:rPr>
              <a:t>C3.2.2</a:t>
            </a:r>
            <a:endParaRPr lang="en-US" sz="1000" dirty="0"/>
          </a:p>
        </p:txBody>
      </p:sp>
      <p:sp>
        <p:nvSpPr>
          <p:cNvPr id="7" name="Shape 4"/>
          <p:cNvSpPr/>
          <p:nvPr/>
        </p:nvSpPr>
        <p:spPr>
          <a:xfrm>
            <a:off x="9549079" y="384048"/>
            <a:ext cx="914400" cy="310896"/>
          </a:xfrm>
          <a:prstGeom prst="roundRect">
            <a:avLst>
              <a:gd name="adj" fmla="val 17647"/>
            </a:avLst>
          </a:prstGeom>
          <a:solidFill>
            <a:srgbClr val="E6EDF1"/>
          </a:solidFill>
          <a:ln w="9525">
            <a:solidFill>
              <a:srgbClr val="D5DFE5"/>
            </a:solidFill>
            <a:prstDash val="solid"/>
          </a:ln>
        </p:spPr>
      </p:sp>
      <p:sp>
        <p:nvSpPr>
          <p:cNvPr id="8" name="Text 5"/>
          <p:cNvSpPr/>
          <p:nvPr/>
        </p:nvSpPr>
        <p:spPr>
          <a:xfrm>
            <a:off x="9549079" y="384048"/>
            <a:ext cx="914400" cy="310896"/>
          </a:xfrm>
          <a:prstGeom prst="rect">
            <a:avLst/>
          </a:prstGeom>
          <a:noFill/>
          <a:ln/>
        </p:spPr>
        <p:txBody>
          <a:bodyPr wrap="square" lIns="0" tIns="0" rIns="0" bIns="0" rtlCol="0" anchor="ctr"/>
          <a:lstStyle/>
          <a:p>
            <a:pPr algn="ctr" indent="0" marL="0">
              <a:buNone/>
            </a:pPr>
            <a:r>
              <a:rPr lang="en-US" sz="1000" b="1" dirty="0">
                <a:solidFill>
                  <a:srgbClr val="1F5468"/>
                </a:solidFill>
                <a:latin typeface="Courier New" pitchFamily="34" charset="0"/>
                <a:ea typeface="Courier New" pitchFamily="34" charset="-122"/>
                <a:cs typeface="Courier New" pitchFamily="34" charset="-120"/>
              </a:rPr>
              <a:t>RÉEL</a:t>
            </a:r>
            <a:endParaRPr lang="en-US" sz="1000" dirty="0"/>
          </a:p>
        </p:txBody>
      </p:sp>
      <p:sp>
        <p:nvSpPr>
          <p:cNvPr id="9" name="Shape 6"/>
          <p:cNvSpPr/>
          <p:nvPr/>
        </p:nvSpPr>
        <p:spPr>
          <a:xfrm>
            <a:off x="566928" y="1645920"/>
            <a:ext cx="11057839" cy="1335069"/>
          </a:xfrm>
          <a:prstGeom prst="roundRect">
            <a:avLst>
              <a:gd name="adj" fmla="val 2397"/>
            </a:avLst>
          </a:prstGeom>
          <a:solidFill>
            <a:srgbClr val="0E1D28"/>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10" name="Text 7"/>
          <p:cNvSpPr/>
          <p:nvPr/>
        </p:nvSpPr>
        <p:spPr>
          <a:xfrm>
            <a:off x="841248" y="1808450"/>
            <a:ext cx="3657600" cy="278623"/>
          </a:xfrm>
          <a:prstGeom prst="rect">
            <a:avLst/>
          </a:prstGeom>
          <a:noFill/>
          <a:ln/>
        </p:spPr>
        <p:txBody>
          <a:bodyPr wrap="square" lIns="0" tIns="0" rIns="0" bIns="0" rtlCol="0" anchor="ctr"/>
          <a:lstStyle/>
          <a:p>
            <a:pPr indent="0" marL="0">
              <a:buNone/>
            </a:pPr>
            <a:r>
              <a:rPr lang="en-US" sz="950" b="1" spc="130" kern="0" dirty="0">
                <a:solidFill>
                  <a:srgbClr val="F0AE44"/>
                </a:solidFill>
                <a:latin typeface="Courier New" pitchFamily="34" charset="0"/>
                <a:ea typeface="Courier New" pitchFamily="34" charset="-122"/>
                <a:cs typeface="Courier New" pitchFamily="34" charset="-120"/>
              </a:rPr>
              <a:t>LA PROBLÉMATIQUE</a:t>
            </a:r>
            <a:endParaRPr lang="en-US" sz="950" dirty="0"/>
          </a:p>
        </p:txBody>
      </p:sp>
      <p:sp>
        <p:nvSpPr>
          <p:cNvPr id="11" name="Text 8"/>
          <p:cNvSpPr/>
          <p:nvPr/>
        </p:nvSpPr>
        <p:spPr>
          <a:xfrm>
            <a:off x="841248" y="2110292"/>
            <a:ext cx="10509199" cy="766213"/>
          </a:xfrm>
          <a:prstGeom prst="rect">
            <a:avLst/>
          </a:prstGeom>
          <a:noFill/>
          <a:ln/>
        </p:spPr>
        <p:txBody>
          <a:bodyPr wrap="square" lIns="0" tIns="0" rIns="0" bIns="0" rtlCol="0" anchor="ctr"/>
          <a:lstStyle/>
          <a:p>
            <a:pPr indent="0" marL="0">
              <a:buNone/>
            </a:pPr>
            <a:r>
              <a:rPr lang="en-US" sz="1250" dirty="0">
                <a:solidFill>
                  <a:srgbClr val="C6D6DF"/>
                </a:solidFill>
                <a:latin typeface="Calibri" pitchFamily="34" charset="0"/>
                <a:ea typeface="Calibri" pitchFamily="34" charset="-122"/>
                <a:cs typeface="Calibri" pitchFamily="34" charset="-120"/>
              </a:rPr>
              <a:t>À sept jours de la mise en production, le périmètre restant au backlog excède la capacité disponible. Le tableau de bord le montre : 138 commits sur la semaine, sur un temps de travail limité aux soirées. Il reste le microservice Média (14 J/H), l'application mobile, le chat temps réel, la cartographie et la double authentification.</a:t>
            </a:r>
            <a:endParaRPr lang="en-US" sz="1250" dirty="0"/>
          </a:p>
        </p:txBody>
      </p:sp>
      <p:sp>
        <p:nvSpPr>
          <p:cNvPr id="12" name="Text 9"/>
          <p:cNvSpPr/>
          <p:nvPr/>
        </p:nvSpPr>
        <p:spPr>
          <a:xfrm>
            <a:off x="566928" y="3213175"/>
            <a:ext cx="5486400" cy="278623"/>
          </a:xfrm>
          <a:prstGeom prst="rect">
            <a:avLst/>
          </a:prstGeom>
          <a:noFill/>
          <a:ln/>
        </p:spPr>
        <p:txBody>
          <a:bodyPr wrap="square" lIns="0" tIns="0" rIns="0" bIns="0" rtlCol="0" anchor="ctr"/>
          <a:lstStyle/>
          <a:p>
            <a:pPr indent="0" marL="0">
              <a:buNone/>
            </a:pPr>
            <a:r>
              <a:rPr lang="en-US" sz="950" b="1" spc="130" kern="0" dirty="0">
                <a:solidFill>
                  <a:srgbClr val="1F5468"/>
                </a:solidFill>
                <a:latin typeface="Courier New" pitchFamily="34" charset="0"/>
                <a:ea typeface="Courier New" pitchFamily="34" charset="-122"/>
                <a:cs typeface="Courier New" pitchFamily="34" charset="-120"/>
              </a:rPr>
              <a:t>LES CONSÉQUENCES SI RIEN N'EST ARBITRÉ</a:t>
            </a:r>
            <a:endParaRPr lang="en-US" sz="950" dirty="0"/>
          </a:p>
        </p:txBody>
      </p:sp>
      <p:sp>
        <p:nvSpPr>
          <p:cNvPr id="13" name="Shape 10"/>
          <p:cNvSpPr/>
          <p:nvPr/>
        </p:nvSpPr>
        <p:spPr>
          <a:xfrm>
            <a:off x="566928" y="3561454"/>
            <a:ext cx="3533546" cy="1718176"/>
          </a:xfrm>
          <a:prstGeom prst="roundRect">
            <a:avLst>
              <a:gd name="adj" fmla="val 1863"/>
            </a:avLst>
          </a:prstGeom>
          <a:solidFill>
            <a:srgbClr val="F1F5F7"/>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14" name="Text 11"/>
          <p:cNvSpPr/>
          <p:nvPr/>
        </p:nvSpPr>
        <p:spPr>
          <a:xfrm>
            <a:off x="786384" y="3758812"/>
            <a:ext cx="3094634" cy="371497"/>
          </a:xfrm>
          <a:prstGeom prst="rect">
            <a:avLst/>
          </a:prstGeom>
          <a:noFill/>
          <a:ln/>
        </p:spPr>
        <p:txBody>
          <a:bodyPr wrap="square" lIns="0" tIns="0" rIns="0" bIns="0" rtlCol="0" anchor="ctr"/>
          <a:lstStyle/>
          <a:p>
            <a:pPr indent="0" marL="0">
              <a:buNone/>
            </a:pPr>
            <a:r>
              <a:rPr lang="en-US" sz="1500" b="1" dirty="0">
                <a:solidFill>
                  <a:srgbClr val="AE3F2C"/>
                </a:solidFill>
                <a:latin typeface="Calibri" pitchFamily="34" charset="0"/>
                <a:ea typeface="Calibri" pitchFamily="34" charset="-122"/>
                <a:cs typeface="Calibri" pitchFamily="34" charset="-120"/>
              </a:rPr>
              <a:t>Délai</a:t>
            </a:r>
            <a:endParaRPr lang="en-US" sz="1500" dirty="0"/>
          </a:p>
        </p:txBody>
      </p:sp>
      <p:sp>
        <p:nvSpPr>
          <p:cNvPr id="15" name="Text 12"/>
          <p:cNvSpPr/>
          <p:nvPr/>
        </p:nvSpPr>
        <p:spPr>
          <a:xfrm>
            <a:off x="786384" y="4153528"/>
            <a:ext cx="3094634" cy="1346678"/>
          </a:xfrm>
          <a:prstGeom prst="rect">
            <a:avLst/>
          </a:prstGeom>
          <a:noFill/>
          <a:ln/>
        </p:spPr>
        <p:txBody>
          <a:bodyPr wrap="square" lIns="0" tIns="0" rIns="0" bIns="0" rtlCol="0" anchor="t"/>
          <a:lstStyle/>
          <a:p>
            <a:pPr indent="0" marL="0">
              <a:buNone/>
            </a:pPr>
            <a:r>
              <a:rPr lang="en-US" sz="1250" dirty="0">
                <a:solidFill>
                  <a:srgbClr val="17303F"/>
                </a:solidFill>
                <a:latin typeface="Calibri" pitchFamily="34" charset="0"/>
                <a:ea typeface="Calibri" pitchFamily="34" charset="-122"/>
                <a:cs typeface="Calibri" pitchFamily="34" charset="-120"/>
              </a:rPr>
              <a:t>La date de livraison est contractuelle et non négociable : elle ne peut pas absorber le dépassement.</a:t>
            </a:r>
            <a:endParaRPr lang="en-US" sz="1250" dirty="0"/>
          </a:p>
        </p:txBody>
      </p:sp>
      <p:sp>
        <p:nvSpPr>
          <p:cNvPr id="16" name="Shape 13"/>
          <p:cNvSpPr/>
          <p:nvPr/>
        </p:nvSpPr>
        <p:spPr>
          <a:xfrm>
            <a:off x="4329074" y="3561454"/>
            <a:ext cx="3533546" cy="1718176"/>
          </a:xfrm>
          <a:prstGeom prst="roundRect">
            <a:avLst>
              <a:gd name="adj" fmla="val 1863"/>
            </a:avLst>
          </a:prstGeom>
          <a:solidFill>
            <a:srgbClr val="F1F5F7"/>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17" name="Text 14"/>
          <p:cNvSpPr/>
          <p:nvPr/>
        </p:nvSpPr>
        <p:spPr>
          <a:xfrm>
            <a:off x="4548530" y="3758812"/>
            <a:ext cx="3094634" cy="371497"/>
          </a:xfrm>
          <a:prstGeom prst="rect">
            <a:avLst/>
          </a:prstGeom>
          <a:noFill/>
          <a:ln/>
        </p:spPr>
        <p:txBody>
          <a:bodyPr wrap="square" lIns="0" tIns="0" rIns="0" bIns="0" rtlCol="0" anchor="ctr"/>
          <a:lstStyle/>
          <a:p>
            <a:pPr indent="0" marL="0">
              <a:buNone/>
            </a:pPr>
            <a:r>
              <a:rPr lang="en-US" sz="1500" b="1" dirty="0">
                <a:solidFill>
                  <a:srgbClr val="AE3F2C"/>
                </a:solidFill>
                <a:latin typeface="Calibri" pitchFamily="34" charset="0"/>
                <a:ea typeface="Calibri" pitchFamily="34" charset="-122"/>
                <a:cs typeface="Calibri" pitchFamily="34" charset="-120"/>
              </a:rPr>
              <a:t>Qualité</a:t>
            </a:r>
            <a:endParaRPr lang="en-US" sz="1500" dirty="0"/>
          </a:p>
        </p:txBody>
      </p:sp>
      <p:sp>
        <p:nvSpPr>
          <p:cNvPr id="18" name="Text 15"/>
          <p:cNvSpPr/>
          <p:nvPr/>
        </p:nvSpPr>
        <p:spPr>
          <a:xfrm>
            <a:off x="4548530" y="4153528"/>
            <a:ext cx="3094634" cy="1346678"/>
          </a:xfrm>
          <a:prstGeom prst="rect">
            <a:avLst/>
          </a:prstGeom>
          <a:noFill/>
          <a:ln/>
        </p:spPr>
        <p:txBody>
          <a:bodyPr wrap="square" lIns="0" tIns="0" rIns="0" bIns="0" rtlCol="0" anchor="t"/>
          <a:lstStyle/>
          <a:p>
            <a:pPr indent="0" marL="0">
              <a:buNone/>
            </a:pPr>
            <a:r>
              <a:rPr lang="en-US" sz="1250" dirty="0">
                <a:solidFill>
                  <a:srgbClr val="17303F"/>
                </a:solidFill>
                <a:latin typeface="Calibri" pitchFamily="34" charset="0"/>
                <a:ea typeface="Calibri" pitchFamily="34" charset="-122"/>
                <a:cs typeface="Calibri" pitchFamily="34" charset="-120"/>
              </a:rPr>
              <a:t>Livrer tout le périmètre suppose de sacrifier les tests, la sécurité et l'accessibilité — c'est-à-dire la valeur même du livrable.</a:t>
            </a:r>
            <a:endParaRPr lang="en-US" sz="1250" dirty="0"/>
          </a:p>
        </p:txBody>
      </p:sp>
      <p:sp>
        <p:nvSpPr>
          <p:cNvPr id="19" name="Shape 16"/>
          <p:cNvSpPr/>
          <p:nvPr/>
        </p:nvSpPr>
        <p:spPr>
          <a:xfrm>
            <a:off x="8091221" y="3561454"/>
            <a:ext cx="3533546" cy="1718176"/>
          </a:xfrm>
          <a:prstGeom prst="roundRect">
            <a:avLst>
              <a:gd name="adj" fmla="val 1863"/>
            </a:avLst>
          </a:prstGeom>
          <a:solidFill>
            <a:srgbClr val="F1F5F7"/>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20" name="Text 17"/>
          <p:cNvSpPr/>
          <p:nvPr/>
        </p:nvSpPr>
        <p:spPr>
          <a:xfrm>
            <a:off x="8310677" y="3758812"/>
            <a:ext cx="3094634" cy="371497"/>
          </a:xfrm>
          <a:prstGeom prst="rect">
            <a:avLst/>
          </a:prstGeom>
          <a:noFill/>
          <a:ln/>
        </p:spPr>
        <p:txBody>
          <a:bodyPr wrap="square" lIns="0" tIns="0" rIns="0" bIns="0" rtlCol="0" anchor="ctr"/>
          <a:lstStyle/>
          <a:p>
            <a:pPr indent="0" marL="0">
              <a:buNone/>
            </a:pPr>
            <a:r>
              <a:rPr lang="en-US" sz="1500" b="1" dirty="0">
                <a:solidFill>
                  <a:srgbClr val="AE3F2C"/>
                </a:solidFill>
                <a:latin typeface="Calibri" pitchFamily="34" charset="0"/>
                <a:ea typeface="Calibri" pitchFamily="34" charset="-122"/>
                <a:cs typeface="Calibri" pitchFamily="34" charset="-120"/>
              </a:rPr>
              <a:t>Dette</a:t>
            </a:r>
            <a:endParaRPr lang="en-US" sz="1500" dirty="0"/>
          </a:p>
        </p:txBody>
      </p:sp>
      <p:sp>
        <p:nvSpPr>
          <p:cNvPr id="21" name="Text 18"/>
          <p:cNvSpPr/>
          <p:nvPr/>
        </p:nvSpPr>
        <p:spPr>
          <a:xfrm>
            <a:off x="8310677" y="4153528"/>
            <a:ext cx="3094634" cy="1346678"/>
          </a:xfrm>
          <a:prstGeom prst="rect">
            <a:avLst/>
          </a:prstGeom>
          <a:noFill/>
          <a:ln/>
        </p:spPr>
        <p:txBody>
          <a:bodyPr wrap="square" lIns="0" tIns="0" rIns="0" bIns="0" rtlCol="0" anchor="t"/>
          <a:lstStyle/>
          <a:p>
            <a:pPr indent="0" marL="0">
              <a:buNone/>
            </a:pPr>
            <a:r>
              <a:rPr lang="en-US" sz="1250" dirty="0">
                <a:solidFill>
                  <a:srgbClr val="17303F"/>
                </a:solidFill>
                <a:latin typeface="Calibri" pitchFamily="34" charset="0"/>
                <a:ea typeface="Calibri" pitchFamily="34" charset="-122"/>
                <a:cs typeface="Calibri" pitchFamily="34" charset="-120"/>
              </a:rPr>
              <a:t>Du code non testé mis en production devient une dette non tracée, donc invisible au pilotage.</a:t>
            </a:r>
            <a:endParaRPr lang="en-US" sz="1250" dirty="0"/>
          </a:p>
        </p:txBody>
      </p:sp>
      <p:sp>
        <p:nvSpPr>
          <p:cNvPr id="22" name="Text 19"/>
          <p:cNvSpPr/>
          <p:nvPr/>
        </p:nvSpPr>
        <p:spPr>
          <a:xfrm>
            <a:off x="566928" y="5918140"/>
            <a:ext cx="11057839" cy="464372"/>
          </a:xfrm>
          <a:prstGeom prst="rect">
            <a:avLst/>
          </a:prstGeom>
          <a:noFill/>
          <a:ln/>
        </p:spPr>
        <p:txBody>
          <a:bodyPr wrap="square" lIns="0" tIns="0" rIns="0" bIns="0" rtlCol="0" anchor="ctr"/>
          <a:lstStyle/>
          <a:p>
            <a:pPr indent="0" marL="0">
              <a:buNone/>
            </a:pPr>
            <a:r>
              <a:rPr lang="en-US" sz="1600" i="1" dirty="0">
                <a:solidFill>
                  <a:srgbClr val="0E1D28"/>
                </a:solidFill>
                <a:latin typeface="Cambria" pitchFamily="34" charset="0"/>
                <a:ea typeface="Cambria" pitchFamily="34" charset="-122"/>
                <a:cs typeface="Cambria" pitchFamily="34" charset="-120"/>
              </a:rPr>
              <a:t>Le triangle de fer : périmètre, délai, qualité. Deux des trois sommets sont bloqués — l'arbitrage ne peut donc porter que sur le périmètre.</a:t>
            </a:r>
            <a:endParaRPr lang="en-US" sz="1600" dirty="0"/>
          </a:p>
        </p:txBody>
      </p:sp>
      <p:sp>
        <p:nvSpPr>
          <p:cNvPr id="23" name="Text 20"/>
          <p:cNvSpPr/>
          <p:nvPr/>
        </p:nvSpPr>
        <p:spPr>
          <a:xfrm>
            <a:off x="10984687" y="6419088"/>
            <a:ext cx="640080" cy="256032"/>
          </a:xfrm>
          <a:prstGeom prst="rect">
            <a:avLst/>
          </a:prstGeom>
          <a:noFill/>
          <a:ln/>
        </p:spPr>
        <p:txBody>
          <a:bodyPr wrap="square" lIns="0" tIns="0" rIns="0" bIns="0" rtlCol="0" anchor="ctr"/>
          <a:lstStyle/>
          <a:p>
            <a:pPr algn="r" indent="0" marL="0">
              <a:buNone/>
            </a:pPr>
            <a:r>
              <a:rPr lang="en-US" sz="1000" dirty="0">
                <a:solidFill>
                  <a:srgbClr val="9FB2BD"/>
                </a:solidFill>
                <a:latin typeface="Courier New" pitchFamily="34" charset="0"/>
                <a:ea typeface="Courier New" pitchFamily="34" charset="-122"/>
                <a:cs typeface="Courier New"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66928" y="384048"/>
            <a:ext cx="7740487" cy="219456"/>
          </a:xfrm>
          <a:prstGeom prst="rect">
            <a:avLst/>
          </a:prstGeom>
          <a:noFill/>
          <a:ln/>
        </p:spPr>
        <p:txBody>
          <a:bodyPr wrap="square" lIns="0" tIns="0" rIns="0" bIns="0" rtlCol="0" anchor="ctr"/>
          <a:lstStyle/>
          <a:p>
            <a:pPr indent="0" marL="0">
              <a:buNone/>
            </a:pPr>
            <a:r>
              <a:rPr lang="en-US" sz="1050" b="1" spc="160" kern="0" dirty="0">
                <a:solidFill>
                  <a:srgbClr val="1F5468"/>
                </a:solidFill>
                <a:latin typeface="Courier New" pitchFamily="34" charset="0"/>
                <a:ea typeface="Courier New" pitchFamily="34" charset="-122"/>
                <a:cs typeface="Courier New" pitchFamily="34" charset="-120"/>
              </a:rPr>
              <a:t>PARTIE 2 · PILOTER</a:t>
            </a:r>
            <a:endParaRPr lang="en-US" sz="1050" dirty="0"/>
          </a:p>
        </p:txBody>
      </p:sp>
      <p:sp>
        <p:nvSpPr>
          <p:cNvPr id="4" name="Text 1"/>
          <p:cNvSpPr/>
          <p:nvPr/>
        </p:nvSpPr>
        <p:spPr>
          <a:xfrm>
            <a:off x="566928" y="621792"/>
            <a:ext cx="8403958" cy="731520"/>
          </a:xfrm>
          <a:prstGeom prst="rect">
            <a:avLst/>
          </a:prstGeom>
          <a:noFill/>
          <a:ln/>
        </p:spPr>
        <p:txBody>
          <a:bodyPr wrap="square" lIns="0" tIns="0" rIns="0" bIns="0" rtlCol="0" anchor="t"/>
          <a:lstStyle/>
          <a:p>
            <a:pPr indent="0" marL="0">
              <a:buNone/>
            </a:pPr>
            <a:r>
              <a:rPr lang="en-US" sz="2900" b="1" dirty="0">
                <a:solidFill>
                  <a:srgbClr val="0E1D28"/>
                </a:solidFill>
                <a:latin typeface="Cambria" pitchFamily="34" charset="0"/>
                <a:ea typeface="Cambria" pitchFamily="34" charset="-122"/>
                <a:cs typeface="Cambria" pitchFamily="34" charset="-120"/>
              </a:rPr>
              <a:t>Les options, la décision et son résultat</a:t>
            </a:r>
            <a:endParaRPr lang="en-US" sz="2900" dirty="0"/>
          </a:p>
        </p:txBody>
      </p:sp>
      <p:sp>
        <p:nvSpPr>
          <p:cNvPr id="5" name="Shape 2"/>
          <p:cNvSpPr/>
          <p:nvPr/>
        </p:nvSpPr>
        <p:spPr>
          <a:xfrm>
            <a:off x="10573207" y="384048"/>
            <a:ext cx="1051560" cy="310896"/>
          </a:xfrm>
          <a:prstGeom prst="roundRect">
            <a:avLst>
              <a:gd name="adj" fmla="val 17647"/>
            </a:avLst>
          </a:prstGeom>
          <a:solidFill>
            <a:srgbClr val="E6EDF1"/>
          </a:solidFill>
          <a:ln w="9525">
            <a:solidFill>
              <a:srgbClr val="D5DFE5"/>
            </a:solidFill>
            <a:prstDash val="solid"/>
          </a:ln>
        </p:spPr>
      </p:sp>
      <p:sp>
        <p:nvSpPr>
          <p:cNvPr id="6" name="Text 3"/>
          <p:cNvSpPr/>
          <p:nvPr/>
        </p:nvSpPr>
        <p:spPr>
          <a:xfrm>
            <a:off x="10573207" y="384048"/>
            <a:ext cx="1051560" cy="310896"/>
          </a:xfrm>
          <a:prstGeom prst="rect">
            <a:avLst/>
          </a:prstGeom>
          <a:noFill/>
          <a:ln/>
        </p:spPr>
        <p:txBody>
          <a:bodyPr wrap="square" lIns="0" tIns="0" rIns="0" bIns="0" rtlCol="0" anchor="ctr"/>
          <a:lstStyle/>
          <a:p>
            <a:pPr algn="ctr" indent="0" marL="0">
              <a:buNone/>
            </a:pPr>
            <a:r>
              <a:rPr lang="en-US" sz="1000" b="1" dirty="0">
                <a:solidFill>
                  <a:srgbClr val="1F5468"/>
                </a:solidFill>
                <a:latin typeface="Courier New" pitchFamily="34" charset="0"/>
                <a:ea typeface="Courier New" pitchFamily="34" charset="-122"/>
                <a:cs typeface="Courier New" pitchFamily="34" charset="-120"/>
              </a:rPr>
              <a:t>C3.2.2</a:t>
            </a:r>
            <a:endParaRPr lang="en-US" sz="1000" dirty="0"/>
          </a:p>
        </p:txBody>
      </p:sp>
      <p:sp>
        <p:nvSpPr>
          <p:cNvPr id="7" name="Shape 4"/>
          <p:cNvSpPr/>
          <p:nvPr/>
        </p:nvSpPr>
        <p:spPr>
          <a:xfrm>
            <a:off x="9549079" y="384048"/>
            <a:ext cx="914400" cy="310896"/>
          </a:xfrm>
          <a:prstGeom prst="roundRect">
            <a:avLst>
              <a:gd name="adj" fmla="val 17647"/>
            </a:avLst>
          </a:prstGeom>
          <a:solidFill>
            <a:srgbClr val="E6EDF1"/>
          </a:solidFill>
          <a:ln w="9525">
            <a:solidFill>
              <a:srgbClr val="D5DFE5"/>
            </a:solidFill>
            <a:prstDash val="solid"/>
          </a:ln>
        </p:spPr>
      </p:sp>
      <p:sp>
        <p:nvSpPr>
          <p:cNvPr id="8" name="Text 5"/>
          <p:cNvSpPr/>
          <p:nvPr/>
        </p:nvSpPr>
        <p:spPr>
          <a:xfrm>
            <a:off x="9549079" y="384048"/>
            <a:ext cx="914400" cy="310896"/>
          </a:xfrm>
          <a:prstGeom prst="rect">
            <a:avLst/>
          </a:prstGeom>
          <a:noFill/>
          <a:ln/>
        </p:spPr>
        <p:txBody>
          <a:bodyPr wrap="square" lIns="0" tIns="0" rIns="0" bIns="0" rtlCol="0" anchor="ctr"/>
          <a:lstStyle/>
          <a:p>
            <a:pPr algn="ctr" indent="0" marL="0">
              <a:buNone/>
            </a:pPr>
            <a:r>
              <a:rPr lang="en-US" sz="1000" b="1" dirty="0">
                <a:solidFill>
                  <a:srgbClr val="1F5468"/>
                </a:solidFill>
                <a:latin typeface="Courier New" pitchFamily="34" charset="0"/>
                <a:ea typeface="Courier New" pitchFamily="34" charset="-122"/>
                <a:cs typeface="Courier New" pitchFamily="34" charset="-120"/>
              </a:rPr>
              <a:t>RÉEL</a:t>
            </a:r>
            <a:endParaRPr lang="en-US" sz="1000" dirty="0"/>
          </a:p>
        </p:txBody>
      </p:sp>
      <p:sp>
        <p:nvSpPr>
          <p:cNvPr id="9" name="Text 6"/>
          <p:cNvSpPr/>
          <p:nvPr/>
        </p:nvSpPr>
        <p:spPr>
          <a:xfrm>
            <a:off x="566928" y="1645920"/>
            <a:ext cx="3657600" cy="273923"/>
          </a:xfrm>
          <a:prstGeom prst="rect">
            <a:avLst/>
          </a:prstGeom>
          <a:noFill/>
          <a:ln/>
        </p:spPr>
        <p:txBody>
          <a:bodyPr wrap="square" lIns="0" tIns="0" rIns="0" bIns="0" rtlCol="0" anchor="ctr"/>
          <a:lstStyle/>
          <a:p>
            <a:pPr indent="0" marL="0">
              <a:buNone/>
            </a:pPr>
            <a:r>
              <a:rPr lang="en-US" sz="950" b="1" spc="130" kern="0" dirty="0">
                <a:solidFill>
                  <a:srgbClr val="1F5468"/>
                </a:solidFill>
                <a:latin typeface="Courier New" pitchFamily="34" charset="0"/>
                <a:ea typeface="Courier New" pitchFamily="34" charset="-122"/>
                <a:cs typeface="Courier New" pitchFamily="34" charset="-120"/>
              </a:rPr>
              <a:t>LOGIGRAMME DE DÉCISION</a:t>
            </a:r>
            <a:endParaRPr lang="en-US" sz="950" dirty="0"/>
          </a:p>
        </p:txBody>
      </p:sp>
      <p:sp>
        <p:nvSpPr>
          <p:cNvPr id="10" name="Shape 7"/>
          <p:cNvSpPr/>
          <p:nvPr/>
        </p:nvSpPr>
        <p:spPr>
          <a:xfrm>
            <a:off x="566928" y="1988324"/>
            <a:ext cx="3291840" cy="661982"/>
          </a:xfrm>
          <a:prstGeom prst="roundRect">
            <a:avLst>
              <a:gd name="adj" fmla="val 6907"/>
            </a:avLst>
          </a:prstGeom>
          <a:solidFill>
            <a:srgbClr val="F1F5F7"/>
          </a:solidFill>
          <a:ln w="9525">
            <a:solidFill>
              <a:srgbClr val="D5DFE5"/>
            </a:solidFill>
            <a:prstDash val="solid"/>
          </a:ln>
        </p:spPr>
      </p:sp>
      <p:sp>
        <p:nvSpPr>
          <p:cNvPr id="11" name="Text 8"/>
          <p:cNvSpPr/>
          <p:nvPr/>
        </p:nvSpPr>
        <p:spPr>
          <a:xfrm>
            <a:off x="713232" y="1988324"/>
            <a:ext cx="2999232" cy="661982"/>
          </a:xfrm>
          <a:prstGeom prst="rect">
            <a:avLst/>
          </a:prstGeom>
          <a:noFill/>
          <a:ln/>
        </p:spPr>
        <p:txBody>
          <a:bodyPr wrap="square" lIns="0" tIns="0" rIns="0" bIns="0" rtlCol="0" anchor="ctr"/>
          <a:lstStyle/>
          <a:p>
            <a:pPr indent="0" marL="0">
              <a:buNone/>
            </a:pPr>
            <a:r>
              <a:rPr lang="en-US" sz="1150" dirty="0">
                <a:solidFill>
                  <a:srgbClr val="0E1D28"/>
                </a:solidFill>
                <a:latin typeface="Calibri" pitchFamily="34" charset="0"/>
                <a:ea typeface="Calibri" pitchFamily="34" charset="-122"/>
                <a:cs typeface="Calibri" pitchFamily="34" charset="-120"/>
              </a:rPr>
              <a:t>Écart détecté au tableau de bord</a:t>
            </a:r>
            <a:endParaRPr lang="en-US" sz="1150" dirty="0"/>
          </a:p>
        </p:txBody>
      </p:sp>
      <p:sp>
        <p:nvSpPr>
          <p:cNvPr id="12" name="Shape 9"/>
          <p:cNvSpPr/>
          <p:nvPr/>
        </p:nvSpPr>
        <p:spPr>
          <a:xfrm>
            <a:off x="2130552" y="2673133"/>
            <a:ext cx="164592" cy="182880"/>
          </a:xfrm>
          <a:prstGeom prst="downArrow">
            <a:avLst/>
          </a:prstGeom>
          <a:solidFill>
            <a:srgbClr val="9FB2BD"/>
          </a:solidFill>
          <a:ln w="12700">
            <a:solidFill>
              <a:srgbClr val="9FB2BD"/>
            </a:solidFill>
            <a:prstDash val="solid"/>
          </a:ln>
        </p:spPr>
      </p:sp>
      <p:sp>
        <p:nvSpPr>
          <p:cNvPr id="13" name="Shape 10"/>
          <p:cNvSpPr/>
          <p:nvPr/>
        </p:nvSpPr>
        <p:spPr>
          <a:xfrm>
            <a:off x="566928" y="2901402"/>
            <a:ext cx="3291840" cy="661982"/>
          </a:xfrm>
          <a:prstGeom prst="roundRect">
            <a:avLst>
              <a:gd name="adj" fmla="val 6907"/>
            </a:avLst>
          </a:prstGeom>
          <a:solidFill>
            <a:srgbClr val="E6EDF1"/>
          </a:solidFill>
          <a:ln w="9525">
            <a:solidFill>
              <a:srgbClr val="D5DFE5"/>
            </a:solidFill>
            <a:prstDash val="solid"/>
          </a:ln>
        </p:spPr>
      </p:sp>
      <p:sp>
        <p:nvSpPr>
          <p:cNvPr id="14" name="Text 11"/>
          <p:cNvSpPr/>
          <p:nvPr/>
        </p:nvSpPr>
        <p:spPr>
          <a:xfrm>
            <a:off x="713232" y="2901402"/>
            <a:ext cx="2999232" cy="661982"/>
          </a:xfrm>
          <a:prstGeom prst="rect">
            <a:avLst/>
          </a:prstGeom>
          <a:noFill/>
          <a:ln/>
        </p:spPr>
        <p:txBody>
          <a:bodyPr wrap="square" lIns="0" tIns="0" rIns="0" bIns="0" rtlCol="0" anchor="ctr"/>
          <a:lstStyle/>
          <a:p>
            <a:pPr indent="0" marL="0">
              <a:buNone/>
            </a:pPr>
            <a:r>
              <a:rPr lang="en-US" sz="1150" dirty="0">
                <a:solidFill>
                  <a:srgbClr val="0E1D28"/>
                </a:solidFill>
                <a:latin typeface="Calibri" pitchFamily="34" charset="0"/>
                <a:ea typeface="Calibri" pitchFamily="34" charset="-122"/>
                <a:cs typeface="Calibri" pitchFamily="34" charset="-120"/>
              </a:rPr>
              <a:t>Le délai est-il négociable ?</a:t>
            </a:r>
            <a:endParaRPr lang="en-US" sz="1150" dirty="0"/>
          </a:p>
        </p:txBody>
      </p:sp>
      <p:sp>
        <p:nvSpPr>
          <p:cNvPr id="15" name="Shape 12"/>
          <p:cNvSpPr/>
          <p:nvPr/>
        </p:nvSpPr>
        <p:spPr>
          <a:xfrm>
            <a:off x="2130552" y="3586211"/>
            <a:ext cx="164592" cy="182880"/>
          </a:xfrm>
          <a:prstGeom prst="downArrow">
            <a:avLst/>
          </a:prstGeom>
          <a:solidFill>
            <a:srgbClr val="9FB2BD"/>
          </a:solidFill>
          <a:ln w="12700">
            <a:solidFill>
              <a:srgbClr val="9FB2BD"/>
            </a:solidFill>
            <a:prstDash val="solid"/>
          </a:ln>
        </p:spPr>
      </p:sp>
      <p:sp>
        <p:nvSpPr>
          <p:cNvPr id="16" name="Shape 13"/>
          <p:cNvSpPr/>
          <p:nvPr/>
        </p:nvSpPr>
        <p:spPr>
          <a:xfrm>
            <a:off x="566928" y="3814480"/>
            <a:ext cx="3291840" cy="661982"/>
          </a:xfrm>
          <a:prstGeom prst="roundRect">
            <a:avLst>
              <a:gd name="adj" fmla="val 6907"/>
            </a:avLst>
          </a:prstGeom>
          <a:solidFill>
            <a:srgbClr val="E6EDF1"/>
          </a:solidFill>
          <a:ln w="9525">
            <a:solidFill>
              <a:srgbClr val="D5DFE5"/>
            </a:solidFill>
            <a:prstDash val="solid"/>
          </a:ln>
        </p:spPr>
      </p:sp>
      <p:sp>
        <p:nvSpPr>
          <p:cNvPr id="17" name="Text 14"/>
          <p:cNvSpPr/>
          <p:nvPr/>
        </p:nvSpPr>
        <p:spPr>
          <a:xfrm>
            <a:off x="713232" y="3814480"/>
            <a:ext cx="2999232" cy="661982"/>
          </a:xfrm>
          <a:prstGeom prst="rect">
            <a:avLst/>
          </a:prstGeom>
          <a:noFill/>
          <a:ln/>
        </p:spPr>
        <p:txBody>
          <a:bodyPr wrap="square" lIns="0" tIns="0" rIns="0" bIns="0" rtlCol="0" anchor="ctr"/>
          <a:lstStyle/>
          <a:p>
            <a:pPr indent="0" marL="0">
              <a:buNone/>
            </a:pPr>
            <a:r>
              <a:rPr lang="en-US" sz="1150" dirty="0">
                <a:solidFill>
                  <a:srgbClr val="0E1D28"/>
                </a:solidFill>
                <a:latin typeface="Calibri" pitchFamily="34" charset="0"/>
                <a:ea typeface="Calibri" pitchFamily="34" charset="-122"/>
                <a:cs typeface="Calibri" pitchFamily="34" charset="-120"/>
              </a:rPr>
              <a:t>Non → la qualité l'est-elle ?</a:t>
            </a:r>
            <a:endParaRPr lang="en-US" sz="1150" dirty="0"/>
          </a:p>
        </p:txBody>
      </p:sp>
      <p:sp>
        <p:nvSpPr>
          <p:cNvPr id="18" name="Shape 15"/>
          <p:cNvSpPr/>
          <p:nvPr/>
        </p:nvSpPr>
        <p:spPr>
          <a:xfrm>
            <a:off x="2130552" y="4499289"/>
            <a:ext cx="164592" cy="182880"/>
          </a:xfrm>
          <a:prstGeom prst="downArrow">
            <a:avLst/>
          </a:prstGeom>
          <a:solidFill>
            <a:srgbClr val="9FB2BD"/>
          </a:solidFill>
          <a:ln w="12700">
            <a:solidFill>
              <a:srgbClr val="9FB2BD"/>
            </a:solidFill>
            <a:prstDash val="solid"/>
          </a:ln>
        </p:spPr>
      </p:sp>
      <p:sp>
        <p:nvSpPr>
          <p:cNvPr id="19" name="Shape 16"/>
          <p:cNvSpPr/>
          <p:nvPr/>
        </p:nvSpPr>
        <p:spPr>
          <a:xfrm>
            <a:off x="566928" y="4727558"/>
            <a:ext cx="3291840" cy="661982"/>
          </a:xfrm>
          <a:prstGeom prst="roundRect">
            <a:avLst>
              <a:gd name="adj" fmla="val 6907"/>
            </a:avLst>
          </a:prstGeom>
          <a:solidFill>
            <a:srgbClr val="FBF3E6"/>
          </a:solidFill>
          <a:ln w="9525">
            <a:solidFill>
              <a:srgbClr val="D5DFE5"/>
            </a:solidFill>
            <a:prstDash val="solid"/>
          </a:ln>
        </p:spPr>
      </p:sp>
      <p:sp>
        <p:nvSpPr>
          <p:cNvPr id="20" name="Text 17"/>
          <p:cNvSpPr/>
          <p:nvPr/>
        </p:nvSpPr>
        <p:spPr>
          <a:xfrm>
            <a:off x="713232" y="4727558"/>
            <a:ext cx="2999232" cy="661982"/>
          </a:xfrm>
          <a:prstGeom prst="rect">
            <a:avLst/>
          </a:prstGeom>
          <a:noFill/>
          <a:ln/>
        </p:spPr>
        <p:txBody>
          <a:bodyPr wrap="square" lIns="0" tIns="0" rIns="0" bIns="0" rtlCol="0" anchor="ctr"/>
          <a:lstStyle/>
          <a:p>
            <a:pPr indent="0" marL="0">
              <a:buNone/>
            </a:pPr>
            <a:r>
              <a:rPr lang="en-US" sz="1150" dirty="0">
                <a:solidFill>
                  <a:srgbClr val="0E1D28"/>
                </a:solidFill>
                <a:latin typeface="Calibri" pitchFamily="34" charset="0"/>
                <a:ea typeface="Calibri" pitchFamily="34" charset="-122"/>
                <a:cs typeface="Calibri" pitchFamily="34" charset="-120"/>
              </a:rPr>
              <a:t>Non → réduire le périmètre</a:t>
            </a:r>
            <a:endParaRPr lang="en-US" sz="1150" dirty="0"/>
          </a:p>
        </p:txBody>
      </p:sp>
      <p:sp>
        <p:nvSpPr>
          <p:cNvPr id="21" name="Shape 18"/>
          <p:cNvSpPr/>
          <p:nvPr/>
        </p:nvSpPr>
        <p:spPr>
          <a:xfrm>
            <a:off x="2130552" y="5412367"/>
            <a:ext cx="164592" cy="182880"/>
          </a:xfrm>
          <a:prstGeom prst="downArrow">
            <a:avLst/>
          </a:prstGeom>
          <a:solidFill>
            <a:srgbClr val="9FB2BD"/>
          </a:solidFill>
          <a:ln w="12700">
            <a:solidFill>
              <a:srgbClr val="9FB2BD"/>
            </a:solidFill>
            <a:prstDash val="solid"/>
          </a:ln>
        </p:spPr>
      </p:sp>
      <p:sp>
        <p:nvSpPr>
          <p:cNvPr id="22" name="Shape 19"/>
          <p:cNvSpPr/>
          <p:nvPr/>
        </p:nvSpPr>
        <p:spPr>
          <a:xfrm>
            <a:off x="566928" y="5640636"/>
            <a:ext cx="3291840" cy="661982"/>
          </a:xfrm>
          <a:prstGeom prst="roundRect">
            <a:avLst>
              <a:gd name="adj" fmla="val 6907"/>
            </a:avLst>
          </a:prstGeom>
          <a:solidFill>
            <a:srgbClr val="0E1D28"/>
          </a:solidFill>
          <a:ln w="9525">
            <a:solidFill>
              <a:srgbClr val="0E1D28"/>
            </a:solidFill>
            <a:prstDash val="solid"/>
          </a:ln>
        </p:spPr>
      </p:sp>
      <p:sp>
        <p:nvSpPr>
          <p:cNvPr id="23" name="Text 20"/>
          <p:cNvSpPr/>
          <p:nvPr/>
        </p:nvSpPr>
        <p:spPr>
          <a:xfrm>
            <a:off x="713232" y="5640636"/>
            <a:ext cx="2999232" cy="66198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Retirer ce qui ne sert pas la démonstration du cœur différenciant</a:t>
            </a:r>
            <a:endParaRPr lang="en-US" sz="1150" dirty="0"/>
          </a:p>
        </p:txBody>
      </p:sp>
      <p:sp>
        <p:nvSpPr>
          <p:cNvPr id="24" name="Text 21"/>
          <p:cNvSpPr/>
          <p:nvPr/>
        </p:nvSpPr>
        <p:spPr>
          <a:xfrm>
            <a:off x="4178808" y="1645920"/>
            <a:ext cx="3657600" cy="273923"/>
          </a:xfrm>
          <a:prstGeom prst="rect">
            <a:avLst/>
          </a:prstGeom>
          <a:noFill/>
          <a:ln/>
        </p:spPr>
        <p:txBody>
          <a:bodyPr wrap="square" lIns="0" tIns="0" rIns="0" bIns="0" rtlCol="0" anchor="ctr"/>
          <a:lstStyle/>
          <a:p>
            <a:pPr indent="0" marL="0">
              <a:buNone/>
            </a:pPr>
            <a:r>
              <a:rPr lang="en-US" sz="950" b="1" spc="130" kern="0" dirty="0">
                <a:solidFill>
                  <a:srgbClr val="1F5468"/>
                </a:solidFill>
                <a:latin typeface="Courier New" pitchFamily="34" charset="0"/>
                <a:ea typeface="Courier New" pitchFamily="34" charset="-122"/>
                <a:cs typeface="Courier New" pitchFamily="34" charset="-120"/>
              </a:rPr>
              <a:t>LES OPTIONS ÉVALUÉES</a:t>
            </a:r>
            <a:endParaRPr lang="en-US" sz="950" dirty="0"/>
          </a:p>
        </p:txBody>
      </p:sp>
      <p:sp>
        <p:nvSpPr>
          <p:cNvPr id="25" name="Shape 22"/>
          <p:cNvSpPr/>
          <p:nvPr/>
        </p:nvSpPr>
        <p:spPr>
          <a:xfrm>
            <a:off x="4178808" y="1988324"/>
            <a:ext cx="4160520" cy="1369617"/>
          </a:xfrm>
          <a:prstGeom prst="roundRect">
            <a:avLst>
              <a:gd name="adj" fmla="val 2337"/>
            </a:avLst>
          </a:prstGeom>
          <a:solidFill>
            <a:srgbClr val="F1F5F7"/>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26" name="Text 23"/>
          <p:cNvSpPr/>
          <p:nvPr/>
        </p:nvSpPr>
        <p:spPr>
          <a:xfrm>
            <a:off x="4361688" y="2148113"/>
            <a:ext cx="310896" cy="365231"/>
          </a:xfrm>
          <a:prstGeom prst="rect">
            <a:avLst/>
          </a:prstGeom>
          <a:noFill/>
          <a:ln/>
        </p:spPr>
        <p:txBody>
          <a:bodyPr wrap="square" lIns="0" tIns="0" rIns="0" bIns="0" rtlCol="0" anchor="ctr"/>
          <a:lstStyle/>
          <a:p>
            <a:pPr indent="0" marL="0">
              <a:buNone/>
            </a:pPr>
            <a:r>
              <a:rPr lang="en-US" sz="1800" b="1" dirty="0">
                <a:solidFill>
                  <a:srgbClr val="5B6E7B"/>
                </a:solidFill>
                <a:latin typeface="Cambria" pitchFamily="34" charset="0"/>
                <a:ea typeface="Cambria" pitchFamily="34" charset="-122"/>
                <a:cs typeface="Cambria" pitchFamily="34" charset="-120"/>
              </a:rPr>
              <a:t>A</a:t>
            </a:r>
            <a:endParaRPr lang="en-US" sz="1800" dirty="0"/>
          </a:p>
        </p:txBody>
      </p:sp>
      <p:sp>
        <p:nvSpPr>
          <p:cNvPr id="27" name="Text 24"/>
          <p:cNvSpPr/>
          <p:nvPr/>
        </p:nvSpPr>
        <p:spPr>
          <a:xfrm>
            <a:off x="4727448" y="2148113"/>
            <a:ext cx="2560320" cy="502193"/>
          </a:xfrm>
          <a:prstGeom prst="rect">
            <a:avLst/>
          </a:prstGeom>
          <a:noFill/>
          <a:ln/>
        </p:spPr>
        <p:txBody>
          <a:bodyPr wrap="square" lIns="0" tIns="0" rIns="0" bIns="0" rtlCol="0" anchor="ctr"/>
          <a:lstStyle/>
          <a:p>
            <a:pPr indent="0" marL="0">
              <a:buNone/>
            </a:pPr>
            <a:r>
              <a:rPr lang="en-US" sz="1150" b="1" dirty="0">
                <a:solidFill>
                  <a:srgbClr val="0E1D28"/>
                </a:solidFill>
                <a:latin typeface="Calibri" pitchFamily="34" charset="0"/>
                <a:ea typeface="Calibri" pitchFamily="34" charset="-122"/>
                <a:cs typeface="Calibri" pitchFamily="34" charset="-120"/>
              </a:rPr>
              <a:t>Tout livrer, en dégradant la qualité</a:t>
            </a:r>
            <a:endParaRPr lang="en-US" sz="1150" dirty="0"/>
          </a:p>
        </p:txBody>
      </p:sp>
      <p:sp>
        <p:nvSpPr>
          <p:cNvPr id="28" name="Shape 25"/>
          <p:cNvSpPr/>
          <p:nvPr/>
        </p:nvSpPr>
        <p:spPr>
          <a:xfrm>
            <a:off x="7333488" y="2170940"/>
            <a:ext cx="868680" cy="237744"/>
          </a:xfrm>
          <a:prstGeom prst="roundRect">
            <a:avLst>
              <a:gd name="adj" fmla="val 19231"/>
            </a:avLst>
          </a:prstGeom>
          <a:solidFill>
            <a:srgbClr val="AE3F2C"/>
          </a:solidFill>
          <a:ln/>
        </p:spPr>
      </p:sp>
      <p:sp>
        <p:nvSpPr>
          <p:cNvPr id="29" name="Text 26"/>
          <p:cNvSpPr/>
          <p:nvPr/>
        </p:nvSpPr>
        <p:spPr>
          <a:xfrm>
            <a:off x="7333488" y="2170940"/>
            <a:ext cx="86868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Écartée</a:t>
            </a:r>
            <a:endParaRPr lang="en-US" sz="850" dirty="0"/>
          </a:p>
        </p:txBody>
      </p:sp>
      <p:sp>
        <p:nvSpPr>
          <p:cNvPr id="30" name="Text 27"/>
          <p:cNvSpPr/>
          <p:nvPr/>
        </p:nvSpPr>
        <p:spPr>
          <a:xfrm>
            <a:off x="4361688" y="2673133"/>
            <a:ext cx="3840480" cy="570674"/>
          </a:xfrm>
          <a:prstGeom prst="rect">
            <a:avLst/>
          </a:prstGeom>
          <a:noFill/>
          <a:ln/>
        </p:spPr>
        <p:txBody>
          <a:bodyPr wrap="square" lIns="0" tIns="0" rIns="0" bIns="0" rtlCol="0" anchor="ctr"/>
          <a:lstStyle/>
          <a:p>
            <a:pPr indent="0" marL="0">
              <a:buNone/>
            </a:pPr>
            <a:r>
              <a:rPr lang="en-US" sz="1050" dirty="0">
                <a:solidFill>
                  <a:srgbClr val="17303F"/>
                </a:solidFill>
                <a:latin typeface="Calibri" pitchFamily="34" charset="0"/>
                <a:ea typeface="Calibri" pitchFamily="34" charset="-122"/>
                <a:cs typeface="Calibri" pitchFamily="34" charset="-120"/>
              </a:rPr>
              <a:t>Délai tenu, mais les preuves de test, de sécurité et d'accessibilité s'effondrent.</a:t>
            </a:r>
            <a:endParaRPr lang="en-US" sz="1050" dirty="0"/>
          </a:p>
        </p:txBody>
      </p:sp>
      <p:sp>
        <p:nvSpPr>
          <p:cNvPr id="31" name="Shape 28"/>
          <p:cNvSpPr/>
          <p:nvPr/>
        </p:nvSpPr>
        <p:spPr>
          <a:xfrm>
            <a:off x="4178808" y="3472076"/>
            <a:ext cx="4160520" cy="1369617"/>
          </a:xfrm>
          <a:prstGeom prst="roundRect">
            <a:avLst>
              <a:gd name="adj" fmla="val 2337"/>
            </a:avLst>
          </a:prstGeom>
          <a:solidFill>
            <a:srgbClr val="F1F5F7"/>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32" name="Text 29"/>
          <p:cNvSpPr/>
          <p:nvPr/>
        </p:nvSpPr>
        <p:spPr>
          <a:xfrm>
            <a:off x="4361688" y="3631865"/>
            <a:ext cx="310896" cy="365231"/>
          </a:xfrm>
          <a:prstGeom prst="rect">
            <a:avLst/>
          </a:prstGeom>
          <a:noFill/>
          <a:ln/>
        </p:spPr>
        <p:txBody>
          <a:bodyPr wrap="square" lIns="0" tIns="0" rIns="0" bIns="0" rtlCol="0" anchor="ctr"/>
          <a:lstStyle/>
          <a:p>
            <a:pPr indent="0" marL="0">
              <a:buNone/>
            </a:pPr>
            <a:r>
              <a:rPr lang="en-US" sz="1800" b="1" dirty="0">
                <a:solidFill>
                  <a:srgbClr val="5B6E7B"/>
                </a:solidFill>
                <a:latin typeface="Cambria" pitchFamily="34" charset="0"/>
                <a:ea typeface="Cambria" pitchFamily="34" charset="-122"/>
                <a:cs typeface="Cambria" pitchFamily="34" charset="-120"/>
              </a:rPr>
              <a:t>B</a:t>
            </a:r>
            <a:endParaRPr lang="en-US" sz="1800" dirty="0"/>
          </a:p>
        </p:txBody>
      </p:sp>
      <p:sp>
        <p:nvSpPr>
          <p:cNvPr id="33" name="Text 30"/>
          <p:cNvSpPr/>
          <p:nvPr/>
        </p:nvSpPr>
        <p:spPr>
          <a:xfrm>
            <a:off x="4727448" y="3631865"/>
            <a:ext cx="2560320" cy="502193"/>
          </a:xfrm>
          <a:prstGeom prst="rect">
            <a:avLst/>
          </a:prstGeom>
          <a:noFill/>
          <a:ln/>
        </p:spPr>
        <p:txBody>
          <a:bodyPr wrap="square" lIns="0" tIns="0" rIns="0" bIns="0" rtlCol="0" anchor="ctr"/>
          <a:lstStyle/>
          <a:p>
            <a:pPr indent="0" marL="0">
              <a:buNone/>
            </a:pPr>
            <a:r>
              <a:rPr lang="en-US" sz="1150" b="1" dirty="0">
                <a:solidFill>
                  <a:srgbClr val="0E1D28"/>
                </a:solidFill>
                <a:latin typeface="Calibri" pitchFamily="34" charset="0"/>
                <a:ea typeface="Calibri" pitchFamily="34" charset="-122"/>
                <a:cs typeface="Calibri" pitchFamily="34" charset="-120"/>
              </a:rPr>
              <a:t>Décaler la mise en production</a:t>
            </a:r>
            <a:endParaRPr lang="en-US" sz="1150" dirty="0"/>
          </a:p>
        </p:txBody>
      </p:sp>
      <p:sp>
        <p:nvSpPr>
          <p:cNvPr id="34" name="Shape 31"/>
          <p:cNvSpPr/>
          <p:nvPr/>
        </p:nvSpPr>
        <p:spPr>
          <a:xfrm>
            <a:off x="7333488" y="3654692"/>
            <a:ext cx="868680" cy="237744"/>
          </a:xfrm>
          <a:prstGeom prst="roundRect">
            <a:avLst>
              <a:gd name="adj" fmla="val 19231"/>
            </a:avLst>
          </a:prstGeom>
          <a:solidFill>
            <a:srgbClr val="AE3F2C"/>
          </a:solidFill>
          <a:ln/>
        </p:spPr>
      </p:sp>
      <p:sp>
        <p:nvSpPr>
          <p:cNvPr id="35" name="Text 32"/>
          <p:cNvSpPr/>
          <p:nvPr/>
        </p:nvSpPr>
        <p:spPr>
          <a:xfrm>
            <a:off x="7333488" y="3654692"/>
            <a:ext cx="86868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Écartée</a:t>
            </a:r>
            <a:endParaRPr lang="en-US" sz="850" dirty="0"/>
          </a:p>
        </p:txBody>
      </p:sp>
      <p:sp>
        <p:nvSpPr>
          <p:cNvPr id="36" name="Text 33"/>
          <p:cNvSpPr/>
          <p:nvPr/>
        </p:nvSpPr>
        <p:spPr>
          <a:xfrm>
            <a:off x="4361688" y="4156884"/>
            <a:ext cx="3840480" cy="570674"/>
          </a:xfrm>
          <a:prstGeom prst="rect">
            <a:avLst/>
          </a:prstGeom>
          <a:noFill/>
          <a:ln/>
        </p:spPr>
        <p:txBody>
          <a:bodyPr wrap="square" lIns="0" tIns="0" rIns="0" bIns="0" rtlCol="0" anchor="ctr"/>
          <a:lstStyle/>
          <a:p>
            <a:pPr indent="0" marL="0">
              <a:buNone/>
            </a:pPr>
            <a:r>
              <a:rPr lang="en-US" sz="1050" dirty="0">
                <a:solidFill>
                  <a:srgbClr val="17303F"/>
                </a:solidFill>
                <a:latin typeface="Calibri" pitchFamily="34" charset="0"/>
                <a:ea typeface="Calibri" pitchFamily="34" charset="-122"/>
                <a:cs typeface="Calibri" pitchFamily="34" charset="-120"/>
              </a:rPr>
              <a:t>Impossible : la date de livraison est contractuelle.</a:t>
            </a:r>
            <a:endParaRPr lang="en-US" sz="1050" dirty="0"/>
          </a:p>
        </p:txBody>
      </p:sp>
      <p:sp>
        <p:nvSpPr>
          <p:cNvPr id="37" name="Shape 34"/>
          <p:cNvSpPr/>
          <p:nvPr/>
        </p:nvSpPr>
        <p:spPr>
          <a:xfrm>
            <a:off x="4178808" y="4955828"/>
            <a:ext cx="4160520" cy="1369617"/>
          </a:xfrm>
          <a:prstGeom prst="roundRect">
            <a:avLst>
              <a:gd name="adj" fmla="val 2337"/>
            </a:avLst>
          </a:prstGeom>
          <a:solidFill>
            <a:srgbClr val="EAF2ED"/>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38" name="Text 35"/>
          <p:cNvSpPr/>
          <p:nvPr/>
        </p:nvSpPr>
        <p:spPr>
          <a:xfrm>
            <a:off x="4361688" y="5115616"/>
            <a:ext cx="310896" cy="365231"/>
          </a:xfrm>
          <a:prstGeom prst="rect">
            <a:avLst/>
          </a:prstGeom>
          <a:noFill/>
          <a:ln/>
        </p:spPr>
        <p:txBody>
          <a:bodyPr wrap="square" lIns="0" tIns="0" rIns="0" bIns="0" rtlCol="0" anchor="ctr"/>
          <a:lstStyle/>
          <a:p>
            <a:pPr indent="0" marL="0">
              <a:buNone/>
            </a:pPr>
            <a:r>
              <a:rPr lang="en-US" sz="1800" b="1" dirty="0">
                <a:solidFill>
                  <a:srgbClr val="35704F"/>
                </a:solidFill>
                <a:latin typeface="Cambria" pitchFamily="34" charset="0"/>
                <a:ea typeface="Cambria" pitchFamily="34" charset="-122"/>
                <a:cs typeface="Cambria" pitchFamily="34" charset="-120"/>
              </a:rPr>
              <a:t>C</a:t>
            </a:r>
            <a:endParaRPr lang="en-US" sz="1800" dirty="0"/>
          </a:p>
        </p:txBody>
      </p:sp>
      <p:sp>
        <p:nvSpPr>
          <p:cNvPr id="39" name="Text 36"/>
          <p:cNvSpPr/>
          <p:nvPr/>
        </p:nvSpPr>
        <p:spPr>
          <a:xfrm>
            <a:off x="4727448" y="5115616"/>
            <a:ext cx="2560320" cy="502193"/>
          </a:xfrm>
          <a:prstGeom prst="rect">
            <a:avLst/>
          </a:prstGeom>
          <a:noFill/>
          <a:ln/>
        </p:spPr>
        <p:txBody>
          <a:bodyPr wrap="square" lIns="0" tIns="0" rIns="0" bIns="0" rtlCol="0" anchor="ctr"/>
          <a:lstStyle/>
          <a:p>
            <a:pPr indent="0" marL="0">
              <a:buNone/>
            </a:pPr>
            <a:r>
              <a:rPr lang="en-US" sz="1150" b="1" dirty="0">
                <a:solidFill>
                  <a:srgbClr val="0E1D28"/>
                </a:solidFill>
                <a:latin typeface="Calibri" pitchFamily="34" charset="0"/>
                <a:ea typeface="Calibri" pitchFamily="34" charset="-122"/>
                <a:cs typeface="Calibri" pitchFamily="34" charset="-120"/>
              </a:rPr>
              <a:t>Resserrer le périmètre sur la boucle métier de bout en bout</a:t>
            </a:r>
            <a:endParaRPr lang="en-US" sz="1150" dirty="0"/>
          </a:p>
        </p:txBody>
      </p:sp>
      <p:sp>
        <p:nvSpPr>
          <p:cNvPr id="40" name="Shape 37"/>
          <p:cNvSpPr/>
          <p:nvPr/>
        </p:nvSpPr>
        <p:spPr>
          <a:xfrm>
            <a:off x="7333488" y="5138443"/>
            <a:ext cx="868680" cy="237744"/>
          </a:xfrm>
          <a:prstGeom prst="roundRect">
            <a:avLst>
              <a:gd name="adj" fmla="val 19231"/>
            </a:avLst>
          </a:prstGeom>
          <a:solidFill>
            <a:srgbClr val="35704F"/>
          </a:solidFill>
          <a:ln/>
        </p:spPr>
      </p:sp>
      <p:sp>
        <p:nvSpPr>
          <p:cNvPr id="41" name="Text 38"/>
          <p:cNvSpPr/>
          <p:nvPr/>
        </p:nvSpPr>
        <p:spPr>
          <a:xfrm>
            <a:off x="7333488" y="5138443"/>
            <a:ext cx="86868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Retenue</a:t>
            </a:r>
            <a:endParaRPr lang="en-US" sz="850" dirty="0"/>
          </a:p>
        </p:txBody>
      </p:sp>
      <p:sp>
        <p:nvSpPr>
          <p:cNvPr id="42" name="Text 39"/>
          <p:cNvSpPr/>
          <p:nvPr/>
        </p:nvSpPr>
        <p:spPr>
          <a:xfrm>
            <a:off x="4361688" y="5640636"/>
            <a:ext cx="3840480" cy="570674"/>
          </a:xfrm>
          <a:prstGeom prst="rect">
            <a:avLst/>
          </a:prstGeom>
          <a:noFill/>
          <a:ln/>
        </p:spPr>
        <p:txBody>
          <a:bodyPr wrap="square" lIns="0" tIns="0" rIns="0" bIns="0" rtlCol="0" anchor="ctr"/>
          <a:lstStyle/>
          <a:p>
            <a:pPr indent="0" marL="0">
              <a:buNone/>
            </a:pPr>
            <a:r>
              <a:rPr lang="en-US" sz="1050" dirty="0">
                <a:solidFill>
                  <a:srgbClr val="17303F"/>
                </a:solidFill>
                <a:latin typeface="Calibri" pitchFamily="34" charset="0"/>
                <a:ea typeface="Calibri" pitchFamily="34" charset="-122"/>
                <a:cs typeface="Calibri" pitchFamily="34" charset="-120"/>
              </a:rPr>
              <a:t>Le microservice Média (14 J/H) et l'application mobile passent en Lot 2, budgétés et conservés au backlog.</a:t>
            </a:r>
            <a:endParaRPr lang="en-US" sz="1050" dirty="0"/>
          </a:p>
        </p:txBody>
      </p:sp>
      <p:sp>
        <p:nvSpPr>
          <p:cNvPr id="43" name="Shape 40"/>
          <p:cNvSpPr/>
          <p:nvPr/>
        </p:nvSpPr>
        <p:spPr>
          <a:xfrm>
            <a:off x="8522208" y="1988324"/>
            <a:ext cx="3102559" cy="4394188"/>
          </a:xfrm>
          <a:prstGeom prst="roundRect">
            <a:avLst>
              <a:gd name="adj" fmla="val 1032"/>
            </a:avLst>
          </a:prstGeom>
          <a:solidFill>
            <a:srgbClr val="0E1D28"/>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44" name="Text 41"/>
          <p:cNvSpPr/>
          <p:nvPr/>
        </p:nvSpPr>
        <p:spPr>
          <a:xfrm>
            <a:off x="8750808" y="2193767"/>
            <a:ext cx="2743200" cy="273923"/>
          </a:xfrm>
          <a:prstGeom prst="rect">
            <a:avLst/>
          </a:prstGeom>
          <a:noFill/>
          <a:ln/>
        </p:spPr>
        <p:txBody>
          <a:bodyPr wrap="square" lIns="0" tIns="0" rIns="0" bIns="0" rtlCol="0" anchor="ctr"/>
          <a:lstStyle/>
          <a:p>
            <a:pPr indent="0" marL="0">
              <a:buNone/>
            </a:pPr>
            <a:r>
              <a:rPr lang="en-US" sz="950" b="1" spc="130" kern="0" dirty="0">
                <a:solidFill>
                  <a:srgbClr val="F0AE44"/>
                </a:solidFill>
                <a:latin typeface="Courier New" pitchFamily="34" charset="0"/>
                <a:ea typeface="Courier New" pitchFamily="34" charset="-122"/>
                <a:cs typeface="Courier New" pitchFamily="34" charset="-120"/>
              </a:rPr>
              <a:t>LE RÉSULTAT MESURÉ</a:t>
            </a:r>
            <a:endParaRPr lang="en-US" sz="950" dirty="0"/>
          </a:p>
        </p:txBody>
      </p:sp>
      <p:sp>
        <p:nvSpPr>
          <p:cNvPr id="45" name="Text 42"/>
          <p:cNvSpPr/>
          <p:nvPr/>
        </p:nvSpPr>
        <p:spPr>
          <a:xfrm>
            <a:off x="8750808" y="2536171"/>
            <a:ext cx="2743200" cy="684808"/>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23/07</a:t>
            </a:r>
            <a:endParaRPr lang="en-US" sz="4000" dirty="0"/>
          </a:p>
        </p:txBody>
      </p:sp>
      <p:sp>
        <p:nvSpPr>
          <p:cNvPr id="46" name="Text 43"/>
          <p:cNvSpPr/>
          <p:nvPr/>
        </p:nvSpPr>
        <p:spPr>
          <a:xfrm>
            <a:off x="8750808" y="3220980"/>
            <a:ext cx="2645359" cy="502193"/>
          </a:xfrm>
          <a:prstGeom prst="rect">
            <a:avLst/>
          </a:prstGeom>
          <a:noFill/>
          <a:ln/>
        </p:spPr>
        <p:txBody>
          <a:bodyPr wrap="square" lIns="0" tIns="0" rIns="0" bIns="0" rtlCol="0" anchor="ctr"/>
          <a:lstStyle/>
          <a:p>
            <a:pPr indent="0" marL="0">
              <a:buNone/>
            </a:pPr>
            <a:r>
              <a:rPr lang="en-US" sz="1200" dirty="0">
                <a:solidFill>
                  <a:srgbClr val="A9BDC9"/>
                </a:solidFill>
                <a:latin typeface="Calibri" pitchFamily="34" charset="0"/>
                <a:ea typeface="Calibri" pitchFamily="34" charset="-122"/>
                <a:cs typeface="Calibri" pitchFamily="34" charset="-120"/>
              </a:rPr>
              <a:t>Mise en production tenue, version 1.0.0</a:t>
            </a:r>
            <a:endParaRPr lang="en-US" sz="1200" dirty="0"/>
          </a:p>
        </p:txBody>
      </p:sp>
      <p:sp>
        <p:nvSpPr>
          <p:cNvPr id="47" name="Shape 44"/>
          <p:cNvSpPr/>
          <p:nvPr/>
        </p:nvSpPr>
        <p:spPr>
          <a:xfrm>
            <a:off x="8750808" y="3860134"/>
            <a:ext cx="2645359" cy="0"/>
          </a:xfrm>
          <a:prstGeom prst="line">
            <a:avLst/>
          </a:prstGeom>
          <a:noFill/>
          <a:ln w="12700">
            <a:solidFill>
              <a:srgbClr val="2C4657"/>
            </a:solidFill>
            <a:prstDash val="solid"/>
          </a:ln>
        </p:spPr>
      </p:sp>
      <p:sp>
        <p:nvSpPr>
          <p:cNvPr id="48" name="Text 45"/>
          <p:cNvSpPr/>
          <p:nvPr/>
        </p:nvSpPr>
        <p:spPr>
          <a:xfrm>
            <a:off x="8750808" y="3997096"/>
            <a:ext cx="2645359" cy="707635"/>
          </a:xfrm>
          <a:prstGeom prst="rect">
            <a:avLst/>
          </a:prstGeom>
          <a:noFill/>
          <a:ln/>
        </p:spPr>
        <p:txBody>
          <a:bodyPr wrap="square" lIns="0" tIns="0" rIns="0" bIns="0" rtlCol="0" anchor="ctr"/>
          <a:lstStyle/>
          <a:p>
            <a:pPr indent="0" marL="0">
              <a:buNone/>
            </a:pPr>
            <a:r>
              <a:rPr lang="en-US" sz="1100" dirty="0">
                <a:solidFill>
                  <a:srgbClr val="A9BDC9"/>
                </a:solidFill>
                <a:latin typeface="Calibri" pitchFamily="34" charset="0"/>
                <a:ea typeface="Calibri" pitchFamily="34" charset="-122"/>
                <a:cs typeface="Calibri" pitchFamily="34" charset="-120"/>
              </a:rPr>
              <a:t>La marge dégagée par l'arbitrage a permis de livrer en plus, avant la date, trois fonctionnalités initialement dé-priorisées :</a:t>
            </a:r>
            <a:endParaRPr lang="en-US" sz="1100" dirty="0"/>
          </a:p>
        </p:txBody>
      </p:sp>
      <p:sp>
        <p:nvSpPr>
          <p:cNvPr id="49" name="Text 46"/>
          <p:cNvSpPr/>
          <p:nvPr/>
        </p:nvSpPr>
        <p:spPr>
          <a:xfrm>
            <a:off x="8750808" y="4750385"/>
            <a:ext cx="2645359" cy="1027213"/>
          </a:xfrm>
          <a:prstGeom prst="rect">
            <a:avLst/>
          </a:prstGeom>
          <a:noFill/>
          <a:ln/>
        </p:spPr>
        <p:txBody>
          <a:bodyPr wrap="square" lIns="0" tIns="0" rIns="0" bIns="0" rtlCol="0" anchor="ctr"/>
          <a:lstStyle/>
          <a:p>
            <a:pPr indent="0" marL="0">
              <a:lnSpc>
                <a:spcPct val="135000"/>
              </a:lnSpc>
              <a:buNone/>
            </a:pPr>
            <a:r>
              <a:rPr lang="en-US" sz="1050" dirty="0">
                <a:solidFill>
                  <a:srgbClr val="F0AE44"/>
                </a:solidFill>
                <a:latin typeface="Courier New" pitchFamily="34" charset="0"/>
                <a:ea typeface="Courier New" pitchFamily="34" charset="-122"/>
                <a:cs typeface="Courier New" pitchFamily="34" charset="-120"/>
              </a:rPr>
              <a:t>SH-40  double authentification</a:t>
            </a:r>
            <a:endParaRPr lang="en-US" sz="1050" dirty="0"/>
          </a:p>
          <a:p>
            <a:pPr indent="0" marL="0">
              <a:lnSpc>
                <a:spcPct val="135000"/>
              </a:lnSpc>
              <a:buNone/>
            </a:pPr>
            <a:r>
              <a:rPr lang="en-US" sz="1050" dirty="0">
                <a:solidFill>
                  <a:srgbClr val="F0AE44"/>
                </a:solidFill>
                <a:latin typeface="Courier New" pitchFamily="34" charset="0"/>
                <a:ea typeface="Courier New" pitchFamily="34" charset="-122"/>
                <a:cs typeface="Courier New" pitchFamily="34" charset="-120"/>
              </a:rPr>
              <a:t>SH-23  cartographie des résultats</a:t>
            </a:r>
            <a:endParaRPr lang="en-US" sz="1050" dirty="0"/>
          </a:p>
          <a:p>
            <a:pPr indent="0" marL="0">
              <a:lnSpc>
                <a:spcPct val="135000"/>
              </a:lnSpc>
              <a:buNone/>
            </a:pPr>
            <a:r>
              <a:rPr lang="en-US" sz="1050" dirty="0">
                <a:solidFill>
                  <a:srgbClr val="F0AE44"/>
                </a:solidFill>
                <a:latin typeface="Courier New" pitchFamily="34" charset="0"/>
                <a:ea typeface="Courier New" pitchFamily="34" charset="-122"/>
                <a:cs typeface="Courier New" pitchFamily="34" charset="-120"/>
              </a:rPr>
              <a:t>SH-24  chat temps réel</a:t>
            </a:r>
            <a:endParaRPr lang="en-US" sz="1050" dirty="0"/>
          </a:p>
        </p:txBody>
      </p:sp>
      <p:sp>
        <p:nvSpPr>
          <p:cNvPr id="50" name="Text 47"/>
          <p:cNvSpPr/>
          <p:nvPr/>
        </p:nvSpPr>
        <p:spPr>
          <a:xfrm>
            <a:off x="10984687" y="6419088"/>
            <a:ext cx="640080" cy="256032"/>
          </a:xfrm>
          <a:prstGeom prst="rect">
            <a:avLst/>
          </a:prstGeom>
          <a:noFill/>
          <a:ln/>
        </p:spPr>
        <p:txBody>
          <a:bodyPr wrap="square" lIns="0" tIns="0" rIns="0" bIns="0" rtlCol="0" anchor="ctr"/>
          <a:lstStyle/>
          <a:p>
            <a:pPr algn="r" indent="0" marL="0">
              <a:buNone/>
            </a:pPr>
            <a:r>
              <a:rPr lang="en-US" sz="1000" dirty="0">
                <a:solidFill>
                  <a:srgbClr val="9FB2BD"/>
                </a:solidFill>
                <a:latin typeface="Courier New" pitchFamily="34" charset="0"/>
                <a:ea typeface="Courier New" pitchFamily="34" charset="-122"/>
                <a:cs typeface="Courier New"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E1D28"/>
        </a:solidFill>
      </p:bgPr>
    </p:bg>
    <p:spTree>
      <p:nvGrpSpPr>
        <p:cNvPr id="1" name=""/>
        <p:cNvGrpSpPr/>
        <p:nvPr/>
      </p:nvGrpSpPr>
      <p:grpSpPr>
        <a:xfrm>
          <a:off x="0" y="0"/>
          <a:ext cx="0" cy="0"/>
          <a:chOff x="0" y="0"/>
          <a:chExt cx="0" cy="0"/>
        </a:xfrm>
      </p:grpSpPr>
      <p:sp>
        <p:nvSpPr>
          <p:cNvPr id="3" name="Text 0"/>
          <p:cNvSpPr/>
          <p:nvPr/>
        </p:nvSpPr>
        <p:spPr>
          <a:xfrm>
            <a:off x="566928" y="1737360"/>
            <a:ext cx="1828800" cy="1463040"/>
          </a:xfrm>
          <a:prstGeom prst="rect">
            <a:avLst/>
          </a:prstGeom>
          <a:noFill/>
          <a:ln/>
        </p:spPr>
        <p:txBody>
          <a:bodyPr wrap="square" lIns="0" tIns="0" rIns="0" bIns="0" rtlCol="0" anchor="ctr"/>
          <a:lstStyle/>
          <a:p>
            <a:pPr indent="0" marL="0">
              <a:buNone/>
            </a:pPr>
            <a:r>
              <a:rPr lang="en-US" sz="10000" b="1" dirty="0">
                <a:solidFill>
                  <a:srgbClr val="1E3646"/>
                </a:solidFill>
                <a:latin typeface="Cambria" pitchFamily="34" charset="0"/>
                <a:ea typeface="Cambria" pitchFamily="34" charset="-122"/>
                <a:cs typeface="Cambria" pitchFamily="34" charset="-120"/>
              </a:rPr>
              <a:t>03</a:t>
            </a:r>
            <a:endParaRPr lang="en-US" sz="10000" dirty="0"/>
          </a:p>
        </p:txBody>
      </p:sp>
      <p:sp>
        <p:nvSpPr>
          <p:cNvPr id="4" name="Text 1"/>
          <p:cNvSpPr/>
          <p:nvPr/>
        </p:nvSpPr>
        <p:spPr>
          <a:xfrm>
            <a:off x="566928" y="3017520"/>
            <a:ext cx="9144000" cy="100584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Manager l'équipe</a:t>
            </a:r>
            <a:endParaRPr lang="en-US" sz="6000" dirty="0"/>
          </a:p>
        </p:txBody>
      </p:sp>
      <p:sp>
        <p:nvSpPr>
          <p:cNvPr id="5" name="Text 2"/>
          <p:cNvSpPr/>
          <p:nvPr/>
        </p:nvSpPr>
        <p:spPr>
          <a:xfrm>
            <a:off x="566928" y="4069080"/>
            <a:ext cx="7863840" cy="548640"/>
          </a:xfrm>
          <a:prstGeom prst="rect">
            <a:avLst/>
          </a:prstGeom>
          <a:noFill/>
          <a:ln/>
        </p:spPr>
        <p:txBody>
          <a:bodyPr wrap="square" lIns="0" tIns="0" rIns="0" bIns="0" rtlCol="0" anchor="ctr"/>
          <a:lstStyle/>
          <a:p>
            <a:pPr indent="0" marL="0">
              <a:buNone/>
            </a:pPr>
            <a:r>
              <a:rPr lang="en-US" sz="1500" dirty="0">
                <a:solidFill>
                  <a:srgbClr val="A9BDC9"/>
                </a:solidFill>
                <a:latin typeface="Calibri" pitchFamily="34" charset="0"/>
                <a:ea typeface="Calibri" pitchFamily="34" charset="-122"/>
                <a:cs typeface="Calibri" pitchFamily="34" charset="-120"/>
              </a:rPr>
              <a:t>Affectation des missions, styles managériaux, évaluation et développement des compétences</a:t>
            </a:r>
            <a:endParaRPr lang="en-US" sz="1500" dirty="0"/>
          </a:p>
        </p:txBody>
      </p:sp>
      <p:sp>
        <p:nvSpPr>
          <p:cNvPr id="6" name="Shape 3"/>
          <p:cNvSpPr/>
          <p:nvPr/>
        </p:nvSpPr>
        <p:spPr>
          <a:xfrm>
            <a:off x="8790127" y="3154680"/>
            <a:ext cx="1371600" cy="420624"/>
          </a:xfrm>
          <a:prstGeom prst="roundRect">
            <a:avLst>
              <a:gd name="adj" fmla="val 15217"/>
            </a:avLst>
          </a:prstGeom>
          <a:solidFill>
            <a:srgbClr val="1F5468"/>
          </a:solidFill>
          <a:ln w="12700">
            <a:solidFill>
              <a:srgbClr val="3E7A93"/>
            </a:solidFill>
            <a:prstDash val="solid"/>
          </a:ln>
        </p:spPr>
      </p:sp>
      <p:sp>
        <p:nvSpPr>
          <p:cNvPr id="7" name="Text 4"/>
          <p:cNvSpPr/>
          <p:nvPr/>
        </p:nvSpPr>
        <p:spPr>
          <a:xfrm>
            <a:off x="8790127" y="3154680"/>
            <a:ext cx="1371600"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C3.3.1</a:t>
            </a:r>
            <a:endParaRPr lang="en-US" sz="1300" dirty="0"/>
          </a:p>
        </p:txBody>
      </p:sp>
      <p:sp>
        <p:nvSpPr>
          <p:cNvPr id="8" name="Shape 5"/>
          <p:cNvSpPr/>
          <p:nvPr/>
        </p:nvSpPr>
        <p:spPr>
          <a:xfrm>
            <a:off x="10253167" y="3154680"/>
            <a:ext cx="1371600" cy="420624"/>
          </a:xfrm>
          <a:prstGeom prst="roundRect">
            <a:avLst>
              <a:gd name="adj" fmla="val 15217"/>
            </a:avLst>
          </a:prstGeom>
          <a:solidFill>
            <a:srgbClr val="1F5468"/>
          </a:solidFill>
          <a:ln w="12700">
            <a:solidFill>
              <a:srgbClr val="3E7A93"/>
            </a:solidFill>
            <a:prstDash val="solid"/>
          </a:ln>
        </p:spPr>
      </p:sp>
      <p:sp>
        <p:nvSpPr>
          <p:cNvPr id="9" name="Text 6"/>
          <p:cNvSpPr/>
          <p:nvPr/>
        </p:nvSpPr>
        <p:spPr>
          <a:xfrm>
            <a:off x="10253167" y="3154680"/>
            <a:ext cx="1371600"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C3.3.2</a:t>
            </a:r>
            <a:endParaRPr lang="en-US" sz="1300" dirty="0"/>
          </a:p>
        </p:txBody>
      </p:sp>
      <p:sp>
        <p:nvSpPr>
          <p:cNvPr id="10" name="Text 7"/>
          <p:cNvSpPr/>
          <p:nvPr/>
        </p:nvSpPr>
        <p:spPr>
          <a:xfrm>
            <a:off x="10984687" y="6419088"/>
            <a:ext cx="640080" cy="256032"/>
          </a:xfrm>
          <a:prstGeom prst="rect">
            <a:avLst/>
          </a:prstGeom>
          <a:noFill/>
          <a:ln/>
        </p:spPr>
        <p:txBody>
          <a:bodyPr wrap="square" lIns="0" tIns="0" rIns="0" bIns="0" rtlCol="0" anchor="ctr"/>
          <a:lstStyle/>
          <a:p>
            <a:pPr algn="r" indent="0" marL="0">
              <a:buNone/>
            </a:pPr>
            <a:r>
              <a:rPr lang="en-US" sz="1000" dirty="0">
                <a:solidFill>
                  <a:srgbClr val="5D7686"/>
                </a:solidFill>
                <a:latin typeface="Courier New" pitchFamily="34" charset="0"/>
                <a:ea typeface="Courier New" pitchFamily="34" charset="-122"/>
                <a:cs typeface="Courier New"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66928" y="384048"/>
            <a:ext cx="7740487" cy="219456"/>
          </a:xfrm>
          <a:prstGeom prst="rect">
            <a:avLst/>
          </a:prstGeom>
          <a:noFill/>
          <a:ln/>
        </p:spPr>
        <p:txBody>
          <a:bodyPr wrap="square" lIns="0" tIns="0" rIns="0" bIns="0" rtlCol="0" anchor="ctr"/>
          <a:lstStyle/>
          <a:p>
            <a:pPr indent="0" marL="0">
              <a:buNone/>
            </a:pPr>
            <a:r>
              <a:rPr lang="en-US" sz="1050" b="1" spc="160" kern="0" dirty="0">
                <a:solidFill>
                  <a:srgbClr val="1F5468"/>
                </a:solidFill>
                <a:latin typeface="Courier New" pitchFamily="34" charset="0"/>
                <a:ea typeface="Courier New" pitchFamily="34" charset="-122"/>
                <a:cs typeface="Courier New" pitchFamily="34" charset="-120"/>
              </a:rPr>
              <a:t>PARTIE 3 · MANAGER</a:t>
            </a:r>
            <a:endParaRPr lang="en-US" sz="1050" dirty="0"/>
          </a:p>
        </p:txBody>
      </p:sp>
      <p:sp>
        <p:nvSpPr>
          <p:cNvPr id="4" name="Text 1"/>
          <p:cNvSpPr/>
          <p:nvPr/>
        </p:nvSpPr>
        <p:spPr>
          <a:xfrm>
            <a:off x="566928" y="621792"/>
            <a:ext cx="8403958" cy="731520"/>
          </a:xfrm>
          <a:prstGeom prst="rect">
            <a:avLst/>
          </a:prstGeom>
          <a:noFill/>
          <a:ln/>
        </p:spPr>
        <p:txBody>
          <a:bodyPr wrap="square" lIns="0" tIns="0" rIns="0" bIns="0" rtlCol="0" anchor="t"/>
          <a:lstStyle/>
          <a:p>
            <a:pPr indent="0" marL="0">
              <a:buNone/>
            </a:pPr>
            <a:r>
              <a:rPr lang="en-US" sz="2900" b="1" dirty="0">
                <a:solidFill>
                  <a:srgbClr val="0E1D28"/>
                </a:solidFill>
                <a:latin typeface="Cambria" pitchFamily="34" charset="0"/>
                <a:ea typeface="Cambria" pitchFamily="34" charset="-122"/>
                <a:cs typeface="Cambria" pitchFamily="34" charset="-120"/>
              </a:rPr>
              <a:t>Quatre styles managériaux selon la phase</a:t>
            </a:r>
            <a:endParaRPr lang="en-US" sz="2900" dirty="0"/>
          </a:p>
        </p:txBody>
      </p:sp>
      <p:sp>
        <p:nvSpPr>
          <p:cNvPr id="5" name="Shape 2"/>
          <p:cNvSpPr/>
          <p:nvPr/>
        </p:nvSpPr>
        <p:spPr>
          <a:xfrm>
            <a:off x="10573207" y="384048"/>
            <a:ext cx="1051560" cy="310896"/>
          </a:xfrm>
          <a:prstGeom prst="roundRect">
            <a:avLst>
              <a:gd name="adj" fmla="val 17647"/>
            </a:avLst>
          </a:prstGeom>
          <a:solidFill>
            <a:srgbClr val="E6EDF1"/>
          </a:solidFill>
          <a:ln w="9525">
            <a:solidFill>
              <a:srgbClr val="D5DFE5"/>
            </a:solidFill>
            <a:prstDash val="solid"/>
          </a:ln>
        </p:spPr>
      </p:sp>
      <p:sp>
        <p:nvSpPr>
          <p:cNvPr id="6" name="Text 3"/>
          <p:cNvSpPr/>
          <p:nvPr/>
        </p:nvSpPr>
        <p:spPr>
          <a:xfrm>
            <a:off x="10573207" y="384048"/>
            <a:ext cx="1051560" cy="310896"/>
          </a:xfrm>
          <a:prstGeom prst="rect">
            <a:avLst/>
          </a:prstGeom>
          <a:noFill/>
          <a:ln/>
        </p:spPr>
        <p:txBody>
          <a:bodyPr wrap="square" lIns="0" tIns="0" rIns="0" bIns="0" rtlCol="0" anchor="ctr"/>
          <a:lstStyle/>
          <a:p>
            <a:pPr algn="ctr" indent="0" marL="0">
              <a:buNone/>
            </a:pPr>
            <a:r>
              <a:rPr lang="en-US" sz="1000" b="1" dirty="0">
                <a:solidFill>
                  <a:srgbClr val="1F5468"/>
                </a:solidFill>
                <a:latin typeface="Courier New" pitchFamily="34" charset="0"/>
                <a:ea typeface="Courier New" pitchFamily="34" charset="-122"/>
                <a:cs typeface="Courier New" pitchFamily="34" charset="-120"/>
              </a:rPr>
              <a:t>C3.3.1</a:t>
            </a:r>
            <a:endParaRPr lang="en-US" sz="1000" dirty="0"/>
          </a:p>
        </p:txBody>
      </p:sp>
      <p:sp>
        <p:nvSpPr>
          <p:cNvPr id="7" name="Shape 4"/>
          <p:cNvSpPr/>
          <p:nvPr/>
        </p:nvSpPr>
        <p:spPr>
          <a:xfrm>
            <a:off x="9549079" y="384048"/>
            <a:ext cx="914400" cy="310896"/>
          </a:xfrm>
          <a:prstGeom prst="roundRect">
            <a:avLst>
              <a:gd name="adj" fmla="val 17647"/>
            </a:avLst>
          </a:prstGeom>
          <a:solidFill>
            <a:srgbClr val="E6EDF1"/>
          </a:solidFill>
          <a:ln w="9525">
            <a:solidFill>
              <a:srgbClr val="D5DFE5"/>
            </a:solidFill>
            <a:prstDash val="solid"/>
          </a:ln>
        </p:spPr>
      </p:sp>
      <p:sp>
        <p:nvSpPr>
          <p:cNvPr id="8" name="Text 5"/>
          <p:cNvSpPr/>
          <p:nvPr/>
        </p:nvSpPr>
        <p:spPr>
          <a:xfrm>
            <a:off x="9549079" y="384048"/>
            <a:ext cx="914400" cy="310896"/>
          </a:xfrm>
          <a:prstGeom prst="rect">
            <a:avLst/>
          </a:prstGeom>
          <a:noFill/>
          <a:ln/>
        </p:spPr>
        <p:txBody>
          <a:bodyPr wrap="square" lIns="0" tIns="0" rIns="0" bIns="0" rtlCol="0" anchor="ctr"/>
          <a:lstStyle/>
          <a:p>
            <a:pPr algn="ctr" indent="0" marL="0">
              <a:buNone/>
            </a:pPr>
            <a:r>
              <a:rPr lang="en-US" sz="1000" b="1" dirty="0">
                <a:solidFill>
                  <a:srgbClr val="1F5468"/>
                </a:solidFill>
                <a:latin typeface="Courier New" pitchFamily="34" charset="0"/>
                <a:ea typeface="Courier New" pitchFamily="34" charset="-122"/>
                <a:cs typeface="Courier New" pitchFamily="34" charset="-120"/>
              </a:rPr>
              <a:t>CIBLE</a:t>
            </a:r>
            <a:endParaRPr lang="en-US" sz="1000" dirty="0"/>
          </a:p>
        </p:txBody>
      </p:sp>
      <p:sp>
        <p:nvSpPr>
          <p:cNvPr id="9" name="Shape 6"/>
          <p:cNvSpPr/>
          <p:nvPr/>
        </p:nvSpPr>
        <p:spPr>
          <a:xfrm>
            <a:off x="566928" y="1645920"/>
            <a:ext cx="2613584" cy="2892575"/>
          </a:xfrm>
          <a:prstGeom prst="roundRect">
            <a:avLst>
              <a:gd name="adj" fmla="val 1225"/>
            </a:avLst>
          </a:prstGeom>
          <a:solidFill>
            <a:srgbClr val="F1F5F7"/>
          </a:solidFill>
          <a:ln w="9525">
            <a:solidFill>
              <a:srgbClr val="D5DFE5"/>
            </a:solidFill>
            <a:prstDash val="solid"/>
          </a:ln>
          <a:effectLst>
            <a:outerShdw sx="100000" sy="100000" kx="0" ky="0" algn="bl" rotWithShape="0" blurRad="177800" dist="38100" dir="5400000">
              <a:srgbClr val="0E1D28">
                <a:alpha val="10000"/>
              </a:srgbClr>
            </a:outerShdw>
          </a:effectLst>
        </p:spPr>
      </p:sp>
      <p:pic>
        <p:nvPicPr>
          <p:cNvPr id="10" name="Image 0" descr="/home/claude/icons/st-directif.png">    </p:cNvPr>
          <p:cNvPicPr>
            <a:picLocks noChangeAspect="1"/>
          </p:cNvPicPr>
          <p:nvPr/>
        </p:nvPicPr>
        <p:blipFill>
          <a:blip r:embed="rId1"/>
          <a:stretch>
            <a:fillRect/>
          </a:stretch>
        </p:blipFill>
        <p:spPr>
          <a:xfrm>
            <a:off x="786384" y="1886968"/>
            <a:ext cx="566928" cy="566928"/>
          </a:xfrm>
          <a:prstGeom prst="rect">
            <a:avLst/>
          </a:prstGeom>
        </p:spPr>
      </p:pic>
      <p:sp>
        <p:nvSpPr>
          <p:cNvPr id="11" name="Text 7"/>
          <p:cNvSpPr/>
          <p:nvPr/>
        </p:nvSpPr>
        <p:spPr>
          <a:xfrm>
            <a:off x="2522144" y="1911073"/>
            <a:ext cx="438912" cy="256032"/>
          </a:xfrm>
          <a:prstGeom prst="rect">
            <a:avLst/>
          </a:prstGeom>
          <a:noFill/>
          <a:ln/>
        </p:spPr>
        <p:txBody>
          <a:bodyPr wrap="square" lIns="0" tIns="0" rIns="0" bIns="0" rtlCol="0" anchor="ctr"/>
          <a:lstStyle/>
          <a:p>
            <a:pPr algn="r" indent="0" marL="0">
              <a:buNone/>
            </a:pPr>
            <a:r>
              <a:rPr lang="en-US" sz="1100" b="1" dirty="0">
                <a:solidFill>
                  <a:srgbClr val="9FB2BD"/>
                </a:solidFill>
                <a:latin typeface="Courier New" pitchFamily="34" charset="0"/>
                <a:ea typeface="Courier New" pitchFamily="34" charset="-122"/>
                <a:cs typeface="Courier New" pitchFamily="34" charset="-120"/>
              </a:rPr>
              <a:t>1</a:t>
            </a:r>
            <a:endParaRPr lang="en-US" sz="1100" dirty="0"/>
          </a:p>
        </p:txBody>
      </p:sp>
      <p:sp>
        <p:nvSpPr>
          <p:cNvPr id="12" name="Text 8"/>
          <p:cNvSpPr/>
          <p:nvPr/>
        </p:nvSpPr>
        <p:spPr>
          <a:xfrm>
            <a:off x="786384" y="2658321"/>
            <a:ext cx="2174672" cy="482096"/>
          </a:xfrm>
          <a:prstGeom prst="rect">
            <a:avLst/>
          </a:prstGeom>
          <a:noFill/>
          <a:ln/>
        </p:spPr>
        <p:txBody>
          <a:bodyPr wrap="square" lIns="0" tIns="0" rIns="0" bIns="0" rtlCol="0" anchor="ctr"/>
          <a:lstStyle/>
          <a:p>
            <a:pPr indent="0" marL="0">
              <a:buNone/>
            </a:pPr>
            <a:r>
              <a:rPr lang="en-US" sz="1900" b="1" dirty="0">
                <a:solidFill>
                  <a:srgbClr val="0E1D28"/>
                </a:solidFill>
                <a:latin typeface="Calibri" pitchFamily="34" charset="0"/>
                <a:ea typeface="Calibri" pitchFamily="34" charset="-122"/>
                <a:cs typeface="Calibri" pitchFamily="34" charset="-120"/>
              </a:rPr>
              <a:t>Directif</a:t>
            </a:r>
            <a:endParaRPr lang="en-US" sz="1900" dirty="0"/>
          </a:p>
        </p:txBody>
      </p:sp>
      <p:sp>
        <p:nvSpPr>
          <p:cNvPr id="13" name="Text 9"/>
          <p:cNvSpPr/>
          <p:nvPr/>
        </p:nvSpPr>
        <p:spPr>
          <a:xfrm>
            <a:off x="786384" y="3212732"/>
            <a:ext cx="2174672" cy="1181135"/>
          </a:xfrm>
          <a:prstGeom prst="rect">
            <a:avLst/>
          </a:prstGeom>
          <a:noFill/>
          <a:ln/>
        </p:spPr>
        <p:txBody>
          <a:bodyPr wrap="square" lIns="0" tIns="0" rIns="0" bIns="0" rtlCol="0" anchor="t"/>
          <a:lstStyle/>
          <a:p>
            <a:pPr indent="0" marL="0">
              <a:buNone/>
            </a:pPr>
            <a:r>
              <a:rPr lang="en-US" sz="1250" dirty="0">
                <a:solidFill>
                  <a:srgbClr val="17303F"/>
                </a:solidFill>
                <a:latin typeface="Calibri" pitchFamily="34" charset="0"/>
                <a:ea typeface="Calibri" pitchFamily="34" charset="-122"/>
                <a:cs typeface="Calibri" pitchFamily="34" charset="-120"/>
              </a:rPr>
              <a:t>Cadrage : conformité RGPD, exigences réglementaires drone, sécurité applicative.</a:t>
            </a:r>
            <a:endParaRPr lang="en-US" sz="1250" dirty="0"/>
          </a:p>
        </p:txBody>
      </p:sp>
      <p:sp>
        <p:nvSpPr>
          <p:cNvPr id="14" name="Shape 10"/>
          <p:cNvSpPr/>
          <p:nvPr/>
        </p:nvSpPr>
        <p:spPr>
          <a:xfrm>
            <a:off x="3381680" y="1645920"/>
            <a:ext cx="2613584" cy="2892575"/>
          </a:xfrm>
          <a:prstGeom prst="roundRect">
            <a:avLst>
              <a:gd name="adj" fmla="val 1225"/>
            </a:avLst>
          </a:prstGeom>
          <a:solidFill>
            <a:srgbClr val="F1F5F7"/>
          </a:solidFill>
          <a:ln w="9525">
            <a:solidFill>
              <a:srgbClr val="D5DFE5"/>
            </a:solidFill>
            <a:prstDash val="solid"/>
          </a:ln>
          <a:effectLst>
            <a:outerShdw sx="100000" sy="100000" kx="0" ky="0" algn="bl" rotWithShape="0" blurRad="177800" dist="38100" dir="5400000">
              <a:srgbClr val="0E1D28">
                <a:alpha val="10000"/>
              </a:srgbClr>
            </a:outerShdw>
          </a:effectLst>
        </p:spPr>
      </p:sp>
      <p:pic>
        <p:nvPicPr>
          <p:cNvPr id="15" name="Image 1" descr="/home/claude/icons/st-persuasif.png">    </p:cNvPr>
          <p:cNvPicPr>
            <a:picLocks noChangeAspect="1"/>
          </p:cNvPicPr>
          <p:nvPr/>
        </p:nvPicPr>
        <p:blipFill>
          <a:blip r:embed="rId2"/>
          <a:stretch>
            <a:fillRect/>
          </a:stretch>
        </p:blipFill>
        <p:spPr>
          <a:xfrm>
            <a:off x="3601136" y="1886968"/>
            <a:ext cx="566928" cy="566928"/>
          </a:xfrm>
          <a:prstGeom prst="rect">
            <a:avLst/>
          </a:prstGeom>
        </p:spPr>
      </p:pic>
      <p:sp>
        <p:nvSpPr>
          <p:cNvPr id="16" name="Text 11"/>
          <p:cNvSpPr/>
          <p:nvPr/>
        </p:nvSpPr>
        <p:spPr>
          <a:xfrm>
            <a:off x="5336896" y="1911073"/>
            <a:ext cx="438912" cy="256032"/>
          </a:xfrm>
          <a:prstGeom prst="rect">
            <a:avLst/>
          </a:prstGeom>
          <a:noFill/>
          <a:ln/>
        </p:spPr>
        <p:txBody>
          <a:bodyPr wrap="square" lIns="0" tIns="0" rIns="0" bIns="0" rtlCol="0" anchor="ctr"/>
          <a:lstStyle/>
          <a:p>
            <a:pPr algn="r" indent="0" marL="0">
              <a:buNone/>
            </a:pPr>
            <a:r>
              <a:rPr lang="en-US" sz="1100" b="1" dirty="0">
                <a:solidFill>
                  <a:srgbClr val="9FB2BD"/>
                </a:solidFill>
                <a:latin typeface="Courier New" pitchFamily="34" charset="0"/>
                <a:ea typeface="Courier New" pitchFamily="34" charset="-122"/>
                <a:cs typeface="Courier New" pitchFamily="34" charset="-120"/>
              </a:rPr>
              <a:t>2</a:t>
            </a:r>
            <a:endParaRPr lang="en-US" sz="1100" dirty="0"/>
          </a:p>
        </p:txBody>
      </p:sp>
      <p:sp>
        <p:nvSpPr>
          <p:cNvPr id="17" name="Text 12"/>
          <p:cNvSpPr/>
          <p:nvPr/>
        </p:nvSpPr>
        <p:spPr>
          <a:xfrm>
            <a:off x="3601136" y="2658321"/>
            <a:ext cx="2174672" cy="482096"/>
          </a:xfrm>
          <a:prstGeom prst="rect">
            <a:avLst/>
          </a:prstGeom>
          <a:noFill/>
          <a:ln/>
        </p:spPr>
        <p:txBody>
          <a:bodyPr wrap="square" lIns="0" tIns="0" rIns="0" bIns="0" rtlCol="0" anchor="ctr"/>
          <a:lstStyle/>
          <a:p>
            <a:pPr indent="0" marL="0">
              <a:buNone/>
            </a:pPr>
            <a:r>
              <a:rPr lang="en-US" sz="1900" b="1" dirty="0">
                <a:solidFill>
                  <a:srgbClr val="0E1D28"/>
                </a:solidFill>
                <a:latin typeface="Calibri" pitchFamily="34" charset="0"/>
                <a:ea typeface="Calibri" pitchFamily="34" charset="-122"/>
                <a:cs typeface="Calibri" pitchFamily="34" charset="-120"/>
              </a:rPr>
              <a:t>Persuasif</a:t>
            </a:r>
            <a:endParaRPr lang="en-US" sz="1900" dirty="0"/>
          </a:p>
        </p:txBody>
      </p:sp>
      <p:sp>
        <p:nvSpPr>
          <p:cNvPr id="18" name="Text 13"/>
          <p:cNvSpPr/>
          <p:nvPr/>
        </p:nvSpPr>
        <p:spPr>
          <a:xfrm>
            <a:off x="3601136" y="3212732"/>
            <a:ext cx="2174672" cy="1181135"/>
          </a:xfrm>
          <a:prstGeom prst="rect">
            <a:avLst/>
          </a:prstGeom>
          <a:noFill/>
          <a:ln/>
        </p:spPr>
        <p:txBody>
          <a:bodyPr wrap="square" lIns="0" tIns="0" rIns="0" bIns="0" rtlCol="0" anchor="t"/>
          <a:lstStyle/>
          <a:p>
            <a:pPr indent="0" marL="0">
              <a:buNone/>
            </a:pPr>
            <a:r>
              <a:rPr lang="en-US" sz="1250" dirty="0">
                <a:solidFill>
                  <a:srgbClr val="17303F"/>
                </a:solidFill>
                <a:latin typeface="Calibri" pitchFamily="34" charset="0"/>
                <a:ea typeface="Calibri" pitchFamily="34" charset="-122"/>
                <a:cs typeface="Calibri" pitchFamily="34" charset="-120"/>
              </a:rPr>
              <a:t>Choix d'architecture et adoption de la méthode de travail.</a:t>
            </a:r>
            <a:endParaRPr lang="en-US" sz="1250" dirty="0"/>
          </a:p>
        </p:txBody>
      </p:sp>
      <p:sp>
        <p:nvSpPr>
          <p:cNvPr id="19" name="Shape 14"/>
          <p:cNvSpPr/>
          <p:nvPr/>
        </p:nvSpPr>
        <p:spPr>
          <a:xfrm>
            <a:off x="6196432" y="1645920"/>
            <a:ext cx="2613584" cy="2892575"/>
          </a:xfrm>
          <a:prstGeom prst="roundRect">
            <a:avLst>
              <a:gd name="adj" fmla="val 1225"/>
            </a:avLst>
          </a:prstGeom>
          <a:solidFill>
            <a:srgbClr val="F1F5F7"/>
          </a:solidFill>
          <a:ln w="9525">
            <a:solidFill>
              <a:srgbClr val="D5DFE5"/>
            </a:solidFill>
            <a:prstDash val="solid"/>
          </a:ln>
          <a:effectLst>
            <a:outerShdw sx="100000" sy="100000" kx="0" ky="0" algn="bl" rotWithShape="0" blurRad="177800" dist="38100" dir="5400000">
              <a:srgbClr val="0E1D28">
                <a:alpha val="10000"/>
              </a:srgbClr>
            </a:outerShdw>
          </a:effectLst>
        </p:spPr>
      </p:sp>
      <p:pic>
        <p:nvPicPr>
          <p:cNvPr id="20" name="Image 2" descr="/home/claude/icons/st-participatif.png">    </p:cNvPr>
          <p:cNvPicPr>
            <a:picLocks noChangeAspect="1"/>
          </p:cNvPicPr>
          <p:nvPr/>
        </p:nvPicPr>
        <p:blipFill>
          <a:blip r:embed="rId3"/>
          <a:stretch>
            <a:fillRect/>
          </a:stretch>
        </p:blipFill>
        <p:spPr>
          <a:xfrm>
            <a:off x="6415888" y="1886968"/>
            <a:ext cx="566928" cy="566928"/>
          </a:xfrm>
          <a:prstGeom prst="rect">
            <a:avLst/>
          </a:prstGeom>
        </p:spPr>
      </p:pic>
      <p:sp>
        <p:nvSpPr>
          <p:cNvPr id="21" name="Text 15"/>
          <p:cNvSpPr/>
          <p:nvPr/>
        </p:nvSpPr>
        <p:spPr>
          <a:xfrm>
            <a:off x="8151647" y="1911073"/>
            <a:ext cx="438912" cy="256032"/>
          </a:xfrm>
          <a:prstGeom prst="rect">
            <a:avLst/>
          </a:prstGeom>
          <a:noFill/>
          <a:ln/>
        </p:spPr>
        <p:txBody>
          <a:bodyPr wrap="square" lIns="0" tIns="0" rIns="0" bIns="0" rtlCol="0" anchor="ctr"/>
          <a:lstStyle/>
          <a:p>
            <a:pPr algn="r" indent="0" marL="0">
              <a:buNone/>
            </a:pPr>
            <a:r>
              <a:rPr lang="en-US" sz="1100" b="1" dirty="0">
                <a:solidFill>
                  <a:srgbClr val="9FB2BD"/>
                </a:solidFill>
                <a:latin typeface="Courier New" pitchFamily="34" charset="0"/>
                <a:ea typeface="Courier New" pitchFamily="34" charset="-122"/>
                <a:cs typeface="Courier New" pitchFamily="34" charset="-120"/>
              </a:rPr>
              <a:t>3</a:t>
            </a:r>
            <a:endParaRPr lang="en-US" sz="1100" dirty="0"/>
          </a:p>
        </p:txBody>
      </p:sp>
      <p:sp>
        <p:nvSpPr>
          <p:cNvPr id="22" name="Text 16"/>
          <p:cNvSpPr/>
          <p:nvPr/>
        </p:nvSpPr>
        <p:spPr>
          <a:xfrm>
            <a:off x="6415888" y="2658321"/>
            <a:ext cx="2174672" cy="482096"/>
          </a:xfrm>
          <a:prstGeom prst="rect">
            <a:avLst/>
          </a:prstGeom>
          <a:noFill/>
          <a:ln/>
        </p:spPr>
        <p:txBody>
          <a:bodyPr wrap="square" lIns="0" tIns="0" rIns="0" bIns="0" rtlCol="0" anchor="ctr"/>
          <a:lstStyle/>
          <a:p>
            <a:pPr indent="0" marL="0">
              <a:buNone/>
            </a:pPr>
            <a:r>
              <a:rPr lang="en-US" sz="1900" b="1" dirty="0">
                <a:solidFill>
                  <a:srgbClr val="0E1D28"/>
                </a:solidFill>
                <a:latin typeface="Calibri" pitchFamily="34" charset="0"/>
                <a:ea typeface="Calibri" pitchFamily="34" charset="-122"/>
                <a:cs typeface="Calibri" pitchFamily="34" charset="-120"/>
              </a:rPr>
              <a:t>Participatif</a:t>
            </a:r>
            <a:endParaRPr lang="en-US" sz="1900" dirty="0"/>
          </a:p>
        </p:txBody>
      </p:sp>
      <p:sp>
        <p:nvSpPr>
          <p:cNvPr id="23" name="Text 17"/>
          <p:cNvSpPr/>
          <p:nvPr/>
        </p:nvSpPr>
        <p:spPr>
          <a:xfrm>
            <a:off x="6415888" y="3212732"/>
            <a:ext cx="2174672" cy="1181135"/>
          </a:xfrm>
          <a:prstGeom prst="rect">
            <a:avLst/>
          </a:prstGeom>
          <a:noFill/>
          <a:ln/>
        </p:spPr>
        <p:txBody>
          <a:bodyPr wrap="square" lIns="0" tIns="0" rIns="0" bIns="0" rtlCol="0" anchor="t"/>
          <a:lstStyle/>
          <a:p>
            <a:pPr indent="0" marL="0">
              <a:buNone/>
            </a:pPr>
            <a:r>
              <a:rPr lang="en-US" sz="1250" dirty="0">
                <a:solidFill>
                  <a:srgbClr val="17303F"/>
                </a:solidFill>
                <a:latin typeface="Calibri" pitchFamily="34" charset="0"/>
                <a:ea typeface="Calibri" pitchFamily="34" charset="-122"/>
                <a:cs typeface="Calibri" pitchFamily="34" charset="-120"/>
              </a:rPr>
              <a:t>Affinage du backlog, conception du matching, rétrospectives.</a:t>
            </a:r>
            <a:endParaRPr lang="en-US" sz="1250" dirty="0"/>
          </a:p>
        </p:txBody>
      </p:sp>
      <p:sp>
        <p:nvSpPr>
          <p:cNvPr id="24" name="Shape 18"/>
          <p:cNvSpPr/>
          <p:nvPr/>
        </p:nvSpPr>
        <p:spPr>
          <a:xfrm>
            <a:off x="9011183" y="1645920"/>
            <a:ext cx="2613584" cy="2892575"/>
          </a:xfrm>
          <a:prstGeom prst="roundRect">
            <a:avLst>
              <a:gd name="adj" fmla="val 1225"/>
            </a:avLst>
          </a:prstGeom>
          <a:solidFill>
            <a:srgbClr val="F1F5F7"/>
          </a:solidFill>
          <a:ln w="9525">
            <a:solidFill>
              <a:srgbClr val="D5DFE5"/>
            </a:solidFill>
            <a:prstDash val="solid"/>
          </a:ln>
          <a:effectLst>
            <a:outerShdw sx="100000" sy="100000" kx="0" ky="0" algn="bl" rotWithShape="0" blurRad="177800" dist="38100" dir="5400000">
              <a:srgbClr val="0E1D28">
                <a:alpha val="10000"/>
              </a:srgbClr>
            </a:outerShdw>
          </a:effectLst>
        </p:spPr>
      </p:sp>
      <p:pic>
        <p:nvPicPr>
          <p:cNvPr id="25" name="Image 3" descr="/home/claude/icons/st-delegatif.png">    </p:cNvPr>
          <p:cNvPicPr>
            <a:picLocks noChangeAspect="1"/>
          </p:cNvPicPr>
          <p:nvPr/>
        </p:nvPicPr>
        <p:blipFill>
          <a:blip r:embed="rId4"/>
          <a:stretch>
            <a:fillRect/>
          </a:stretch>
        </p:blipFill>
        <p:spPr>
          <a:xfrm>
            <a:off x="9230639" y="1886968"/>
            <a:ext cx="566928" cy="566928"/>
          </a:xfrm>
          <a:prstGeom prst="rect">
            <a:avLst/>
          </a:prstGeom>
        </p:spPr>
      </p:pic>
      <p:sp>
        <p:nvSpPr>
          <p:cNvPr id="26" name="Text 19"/>
          <p:cNvSpPr/>
          <p:nvPr/>
        </p:nvSpPr>
        <p:spPr>
          <a:xfrm>
            <a:off x="10966399" y="1911073"/>
            <a:ext cx="438912" cy="256032"/>
          </a:xfrm>
          <a:prstGeom prst="rect">
            <a:avLst/>
          </a:prstGeom>
          <a:noFill/>
          <a:ln/>
        </p:spPr>
        <p:txBody>
          <a:bodyPr wrap="square" lIns="0" tIns="0" rIns="0" bIns="0" rtlCol="0" anchor="ctr"/>
          <a:lstStyle/>
          <a:p>
            <a:pPr algn="r" indent="0" marL="0">
              <a:buNone/>
            </a:pPr>
            <a:r>
              <a:rPr lang="en-US" sz="1100" b="1" dirty="0">
                <a:solidFill>
                  <a:srgbClr val="9FB2BD"/>
                </a:solidFill>
                <a:latin typeface="Courier New" pitchFamily="34" charset="0"/>
                <a:ea typeface="Courier New" pitchFamily="34" charset="-122"/>
                <a:cs typeface="Courier New" pitchFamily="34" charset="-120"/>
              </a:rPr>
              <a:t>4</a:t>
            </a:r>
            <a:endParaRPr lang="en-US" sz="1100" dirty="0"/>
          </a:p>
        </p:txBody>
      </p:sp>
      <p:sp>
        <p:nvSpPr>
          <p:cNvPr id="27" name="Text 20"/>
          <p:cNvSpPr/>
          <p:nvPr/>
        </p:nvSpPr>
        <p:spPr>
          <a:xfrm>
            <a:off x="9230639" y="2658321"/>
            <a:ext cx="2174672" cy="482096"/>
          </a:xfrm>
          <a:prstGeom prst="rect">
            <a:avLst/>
          </a:prstGeom>
          <a:noFill/>
          <a:ln/>
        </p:spPr>
        <p:txBody>
          <a:bodyPr wrap="square" lIns="0" tIns="0" rIns="0" bIns="0" rtlCol="0" anchor="ctr"/>
          <a:lstStyle/>
          <a:p>
            <a:pPr indent="0" marL="0">
              <a:buNone/>
            </a:pPr>
            <a:r>
              <a:rPr lang="en-US" sz="1900" b="1" dirty="0">
                <a:solidFill>
                  <a:srgbClr val="0E1D28"/>
                </a:solidFill>
                <a:latin typeface="Calibri" pitchFamily="34" charset="0"/>
                <a:ea typeface="Calibri" pitchFamily="34" charset="-122"/>
                <a:cs typeface="Calibri" pitchFamily="34" charset="-120"/>
              </a:rPr>
              <a:t>Délégatif</a:t>
            </a:r>
            <a:endParaRPr lang="en-US" sz="1900" dirty="0"/>
          </a:p>
        </p:txBody>
      </p:sp>
      <p:sp>
        <p:nvSpPr>
          <p:cNvPr id="28" name="Text 21"/>
          <p:cNvSpPr/>
          <p:nvPr/>
        </p:nvSpPr>
        <p:spPr>
          <a:xfrm>
            <a:off x="9230639" y="3212732"/>
            <a:ext cx="2174672" cy="1181135"/>
          </a:xfrm>
          <a:prstGeom prst="rect">
            <a:avLst/>
          </a:prstGeom>
          <a:noFill/>
          <a:ln/>
        </p:spPr>
        <p:txBody>
          <a:bodyPr wrap="square" lIns="0" tIns="0" rIns="0" bIns="0" rtlCol="0" anchor="t"/>
          <a:lstStyle/>
          <a:p>
            <a:pPr indent="0" marL="0">
              <a:buNone/>
            </a:pPr>
            <a:r>
              <a:rPr lang="en-US" sz="1250" dirty="0">
                <a:solidFill>
                  <a:srgbClr val="17303F"/>
                </a:solidFill>
                <a:latin typeface="Calibri" pitchFamily="34" charset="0"/>
                <a:ea typeface="Calibri" pitchFamily="34" charset="-122"/>
                <a:cs typeface="Calibri" pitchFamily="34" charset="-120"/>
              </a:rPr>
              <a:t>Réalisation des sprints par les profils autonomes sur leur domaine.</a:t>
            </a:r>
            <a:endParaRPr lang="en-US" sz="1250" dirty="0"/>
          </a:p>
        </p:txBody>
      </p:sp>
      <p:sp>
        <p:nvSpPr>
          <p:cNvPr id="29" name="Shape 22"/>
          <p:cNvSpPr/>
          <p:nvPr/>
        </p:nvSpPr>
        <p:spPr>
          <a:xfrm>
            <a:off x="566928" y="4755438"/>
            <a:ext cx="11057839" cy="1627074"/>
          </a:xfrm>
          <a:prstGeom prst="roundRect">
            <a:avLst>
              <a:gd name="adj" fmla="val 1967"/>
            </a:avLst>
          </a:prstGeom>
          <a:solidFill>
            <a:srgbClr val="FBF3E6"/>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30" name="Text 23"/>
          <p:cNvSpPr/>
          <p:nvPr/>
        </p:nvSpPr>
        <p:spPr>
          <a:xfrm>
            <a:off x="841248" y="4755438"/>
            <a:ext cx="10509199" cy="1627074"/>
          </a:xfrm>
          <a:prstGeom prst="rect">
            <a:avLst/>
          </a:prstGeom>
          <a:noFill/>
          <a:ln/>
        </p:spPr>
        <p:txBody>
          <a:bodyPr wrap="square" lIns="0" tIns="0" rIns="0" bIns="0" rtlCol="0" anchor="ctr"/>
          <a:lstStyle/>
          <a:p>
            <a:pPr indent="0" marL="0">
              <a:buNone/>
            </a:pPr>
            <a:r>
              <a:rPr lang="en-US" sz="1400" b="1" dirty="0">
                <a:solidFill>
                  <a:srgbClr val="0E1D28"/>
                </a:solidFill>
                <a:latin typeface="Calibri" pitchFamily="34" charset="0"/>
                <a:ea typeface="Calibri" pitchFamily="34" charset="-122"/>
                <a:cs typeface="Calibri" pitchFamily="34" charset="-120"/>
              </a:rPr>
              <a:t>Le style n'est pas un trait de caractère, c'est un choix contextuel.
</a:t>
            </a:r>
            <a:pPr indent="0" marL="0">
              <a:buNone/>
            </a:pPr>
            <a:r>
              <a:rPr lang="en-US" sz="1400" dirty="0">
                <a:solidFill>
                  <a:srgbClr val="17303F"/>
                </a:solidFill>
                <a:latin typeface="Calibri" pitchFamily="34" charset="0"/>
                <a:ea typeface="Calibri" pitchFamily="34" charset="-122"/>
                <a:cs typeface="Calibri" pitchFamily="34" charset="-120"/>
              </a:rPr>
              <a:t>Handicap : le délégatif ne tient que parce que tout est écrit. L'aménagement du poste se décide en participatif, avec la personne.</a:t>
            </a:r>
            <a:endParaRPr lang="en-US" sz="1400" dirty="0"/>
          </a:p>
        </p:txBody>
      </p:sp>
      <p:sp>
        <p:nvSpPr>
          <p:cNvPr id="31" name="Text 24"/>
          <p:cNvSpPr/>
          <p:nvPr/>
        </p:nvSpPr>
        <p:spPr>
          <a:xfrm>
            <a:off x="10984687" y="6419088"/>
            <a:ext cx="640080" cy="256032"/>
          </a:xfrm>
          <a:prstGeom prst="rect">
            <a:avLst/>
          </a:prstGeom>
          <a:noFill/>
          <a:ln/>
        </p:spPr>
        <p:txBody>
          <a:bodyPr wrap="square" lIns="0" tIns="0" rIns="0" bIns="0" rtlCol="0" anchor="ctr"/>
          <a:lstStyle/>
          <a:p>
            <a:pPr algn="r" indent="0" marL="0">
              <a:buNone/>
            </a:pPr>
            <a:r>
              <a:rPr lang="en-US" sz="1000" dirty="0">
                <a:solidFill>
                  <a:srgbClr val="9FB2BD"/>
                </a:solidFill>
                <a:latin typeface="Courier New" pitchFamily="34" charset="0"/>
                <a:ea typeface="Courier New" pitchFamily="34" charset="-122"/>
                <a:cs typeface="Courier New"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66928" y="384048"/>
            <a:ext cx="7740487" cy="219456"/>
          </a:xfrm>
          <a:prstGeom prst="rect">
            <a:avLst/>
          </a:prstGeom>
          <a:noFill/>
          <a:ln/>
        </p:spPr>
        <p:txBody>
          <a:bodyPr wrap="square" lIns="0" tIns="0" rIns="0" bIns="0" rtlCol="0" anchor="ctr"/>
          <a:lstStyle/>
          <a:p>
            <a:pPr indent="0" marL="0">
              <a:buNone/>
            </a:pPr>
            <a:r>
              <a:rPr lang="en-US" sz="1050" b="1" spc="160" kern="0" dirty="0">
                <a:solidFill>
                  <a:srgbClr val="1F5468"/>
                </a:solidFill>
                <a:latin typeface="Courier New" pitchFamily="34" charset="0"/>
                <a:ea typeface="Courier New" pitchFamily="34" charset="-122"/>
                <a:cs typeface="Courier New" pitchFamily="34" charset="-120"/>
              </a:rPr>
              <a:t>PARTIE 3 · MANAGER</a:t>
            </a:r>
            <a:endParaRPr lang="en-US" sz="1050" dirty="0"/>
          </a:p>
        </p:txBody>
      </p:sp>
      <p:sp>
        <p:nvSpPr>
          <p:cNvPr id="4" name="Text 1"/>
          <p:cNvSpPr/>
          <p:nvPr/>
        </p:nvSpPr>
        <p:spPr>
          <a:xfrm>
            <a:off x="566928" y="621792"/>
            <a:ext cx="8403958" cy="731520"/>
          </a:xfrm>
          <a:prstGeom prst="rect">
            <a:avLst/>
          </a:prstGeom>
          <a:noFill/>
          <a:ln/>
        </p:spPr>
        <p:txBody>
          <a:bodyPr wrap="square" lIns="0" tIns="0" rIns="0" bIns="0" rtlCol="0" anchor="t"/>
          <a:lstStyle/>
          <a:p>
            <a:pPr indent="0" marL="0">
              <a:buNone/>
            </a:pPr>
            <a:r>
              <a:rPr lang="en-US" sz="2900" b="1" dirty="0">
                <a:solidFill>
                  <a:srgbClr val="0E1D28"/>
                </a:solidFill>
                <a:latin typeface="Cambria" pitchFamily="34" charset="0"/>
                <a:ea typeface="Cambria" pitchFamily="34" charset="-122"/>
                <a:cs typeface="Cambria" pitchFamily="34" charset="-120"/>
              </a:rPr>
              <a:t>Analyse critique : le pilotage au vert</a:t>
            </a:r>
            <a:endParaRPr lang="en-US" sz="2900" dirty="0"/>
          </a:p>
        </p:txBody>
      </p:sp>
      <p:sp>
        <p:nvSpPr>
          <p:cNvPr id="5" name="Shape 2"/>
          <p:cNvSpPr/>
          <p:nvPr/>
        </p:nvSpPr>
        <p:spPr>
          <a:xfrm>
            <a:off x="10573207" y="384048"/>
            <a:ext cx="1051560" cy="310896"/>
          </a:xfrm>
          <a:prstGeom prst="roundRect">
            <a:avLst>
              <a:gd name="adj" fmla="val 17647"/>
            </a:avLst>
          </a:prstGeom>
          <a:solidFill>
            <a:srgbClr val="E6EDF1"/>
          </a:solidFill>
          <a:ln w="9525">
            <a:solidFill>
              <a:srgbClr val="D5DFE5"/>
            </a:solidFill>
            <a:prstDash val="solid"/>
          </a:ln>
        </p:spPr>
      </p:sp>
      <p:sp>
        <p:nvSpPr>
          <p:cNvPr id="6" name="Text 3"/>
          <p:cNvSpPr/>
          <p:nvPr/>
        </p:nvSpPr>
        <p:spPr>
          <a:xfrm>
            <a:off x="10573207" y="384048"/>
            <a:ext cx="1051560" cy="310896"/>
          </a:xfrm>
          <a:prstGeom prst="rect">
            <a:avLst/>
          </a:prstGeom>
          <a:noFill/>
          <a:ln/>
        </p:spPr>
        <p:txBody>
          <a:bodyPr wrap="square" lIns="0" tIns="0" rIns="0" bIns="0" rtlCol="0" anchor="ctr"/>
          <a:lstStyle/>
          <a:p>
            <a:pPr algn="ctr" indent="0" marL="0">
              <a:buNone/>
            </a:pPr>
            <a:r>
              <a:rPr lang="en-US" sz="1000" b="1" dirty="0">
                <a:solidFill>
                  <a:srgbClr val="1F5468"/>
                </a:solidFill>
                <a:latin typeface="Courier New" pitchFamily="34" charset="0"/>
                <a:ea typeface="Courier New" pitchFamily="34" charset="-122"/>
                <a:cs typeface="Courier New" pitchFamily="34" charset="-120"/>
              </a:rPr>
              <a:t>C3.3.1</a:t>
            </a:r>
            <a:endParaRPr lang="en-US" sz="1000" dirty="0"/>
          </a:p>
        </p:txBody>
      </p:sp>
      <p:sp>
        <p:nvSpPr>
          <p:cNvPr id="7" name="Shape 4"/>
          <p:cNvSpPr/>
          <p:nvPr/>
        </p:nvSpPr>
        <p:spPr>
          <a:xfrm>
            <a:off x="9549079" y="384048"/>
            <a:ext cx="914400" cy="310896"/>
          </a:xfrm>
          <a:prstGeom prst="roundRect">
            <a:avLst>
              <a:gd name="adj" fmla="val 17647"/>
            </a:avLst>
          </a:prstGeom>
          <a:solidFill>
            <a:srgbClr val="E6EDF1"/>
          </a:solidFill>
          <a:ln w="9525">
            <a:solidFill>
              <a:srgbClr val="D5DFE5"/>
            </a:solidFill>
            <a:prstDash val="solid"/>
          </a:ln>
        </p:spPr>
      </p:sp>
      <p:sp>
        <p:nvSpPr>
          <p:cNvPr id="8" name="Text 5"/>
          <p:cNvSpPr/>
          <p:nvPr/>
        </p:nvSpPr>
        <p:spPr>
          <a:xfrm>
            <a:off x="9549079" y="384048"/>
            <a:ext cx="914400" cy="310896"/>
          </a:xfrm>
          <a:prstGeom prst="rect">
            <a:avLst/>
          </a:prstGeom>
          <a:noFill/>
          <a:ln/>
        </p:spPr>
        <p:txBody>
          <a:bodyPr wrap="square" lIns="0" tIns="0" rIns="0" bIns="0" rtlCol="0" anchor="ctr"/>
          <a:lstStyle/>
          <a:p>
            <a:pPr algn="ctr" indent="0" marL="0">
              <a:buNone/>
            </a:pPr>
            <a:r>
              <a:rPr lang="en-US" sz="1000" b="1" dirty="0">
                <a:solidFill>
                  <a:srgbClr val="1F5468"/>
                </a:solidFill>
                <a:latin typeface="Courier New" pitchFamily="34" charset="0"/>
                <a:ea typeface="Courier New" pitchFamily="34" charset="-122"/>
                <a:cs typeface="Courier New" pitchFamily="34" charset="-120"/>
              </a:rPr>
              <a:t>RÉEL</a:t>
            </a:r>
            <a:endParaRPr lang="en-US" sz="1000" dirty="0"/>
          </a:p>
        </p:txBody>
      </p:sp>
      <p:sp>
        <p:nvSpPr>
          <p:cNvPr id="9" name="Shape 6"/>
          <p:cNvSpPr/>
          <p:nvPr/>
        </p:nvSpPr>
        <p:spPr>
          <a:xfrm>
            <a:off x="566928" y="1645920"/>
            <a:ext cx="11057839" cy="994901"/>
          </a:xfrm>
          <a:prstGeom prst="roundRect">
            <a:avLst>
              <a:gd name="adj" fmla="val 3217"/>
            </a:avLst>
          </a:prstGeom>
          <a:solidFill>
            <a:srgbClr val="0E1D28"/>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10" name="Text 7"/>
          <p:cNvSpPr/>
          <p:nvPr/>
        </p:nvSpPr>
        <p:spPr>
          <a:xfrm>
            <a:off x="841248" y="1775690"/>
            <a:ext cx="3657600" cy="259539"/>
          </a:xfrm>
          <a:prstGeom prst="rect">
            <a:avLst/>
          </a:prstGeom>
          <a:noFill/>
          <a:ln/>
        </p:spPr>
        <p:txBody>
          <a:bodyPr wrap="square" lIns="0" tIns="0" rIns="0" bIns="0" rtlCol="0" anchor="ctr"/>
          <a:lstStyle/>
          <a:p>
            <a:pPr indent="0" marL="0">
              <a:buNone/>
            </a:pPr>
            <a:r>
              <a:rPr lang="en-US" sz="950" b="1" spc="130" kern="0" dirty="0">
                <a:solidFill>
                  <a:srgbClr val="F0AE44"/>
                </a:solidFill>
                <a:latin typeface="Courier New" pitchFamily="34" charset="0"/>
                <a:ea typeface="Courier New" pitchFamily="34" charset="-122"/>
                <a:cs typeface="Courier New" pitchFamily="34" charset="-120"/>
              </a:rPr>
              <a:t>L'ERREUR DE POSTURE</a:t>
            </a:r>
            <a:endParaRPr lang="en-US" sz="950" dirty="0"/>
          </a:p>
        </p:txBody>
      </p:sp>
      <p:sp>
        <p:nvSpPr>
          <p:cNvPr id="11" name="Text 8"/>
          <p:cNvSpPr/>
          <p:nvPr/>
        </p:nvSpPr>
        <p:spPr>
          <a:xfrm>
            <a:off x="841248" y="2056857"/>
            <a:ext cx="10509199" cy="519079"/>
          </a:xfrm>
          <a:prstGeom prst="rect">
            <a:avLst/>
          </a:prstGeom>
          <a:noFill/>
          <a:ln/>
        </p:spPr>
        <p:txBody>
          <a:bodyPr wrap="square" lIns="0" tIns="0" rIns="0" bIns="0" rtlCol="0" anchor="ctr"/>
          <a:lstStyle/>
          <a:p>
            <a:pPr indent="0" marL="0">
              <a:buNone/>
            </a:pPr>
            <a:r>
              <a:rPr lang="en-US" sz="1250" dirty="0">
                <a:solidFill>
                  <a:srgbClr val="C6D6DF"/>
                </a:solidFill>
                <a:latin typeface="Calibri" pitchFamily="34" charset="0"/>
                <a:ea typeface="Calibri" pitchFamily="34" charset="-122"/>
                <a:cs typeface="Calibri" pitchFamily="34" charset="-120"/>
              </a:rPr>
              <a:t>J'ai adopté une posture délégative envers mon propre outillage. Tous mes indicateurs étaient verts — 87 % de couverture, zéro erreur de lint, zéro vulnérabilité critique — et j'en ai conclu que le produit allait bien. J'ai confondu « les indicateurs sont verts » et « le logiciel fonctionne ».</a:t>
            </a:r>
            <a:endParaRPr lang="en-US" sz="1250" dirty="0"/>
          </a:p>
        </p:txBody>
      </p:sp>
      <p:sp>
        <p:nvSpPr>
          <p:cNvPr id="12" name="Text 9"/>
          <p:cNvSpPr/>
          <p:nvPr/>
        </p:nvSpPr>
        <p:spPr>
          <a:xfrm>
            <a:off x="566928" y="2835475"/>
            <a:ext cx="4572000" cy="259539"/>
          </a:xfrm>
          <a:prstGeom prst="rect">
            <a:avLst/>
          </a:prstGeom>
          <a:noFill/>
          <a:ln/>
        </p:spPr>
        <p:txBody>
          <a:bodyPr wrap="square" lIns="0" tIns="0" rIns="0" bIns="0" rtlCol="0" anchor="ctr"/>
          <a:lstStyle/>
          <a:p>
            <a:pPr indent="0" marL="0">
              <a:buNone/>
            </a:pPr>
            <a:r>
              <a:rPr lang="en-US" sz="950" b="1" spc="130" kern="0" dirty="0">
                <a:solidFill>
                  <a:srgbClr val="1F5468"/>
                </a:solidFill>
                <a:latin typeface="Courier New" pitchFamily="34" charset="0"/>
                <a:ea typeface="Courier New" pitchFamily="34" charset="-122"/>
                <a:cs typeface="Courier New" pitchFamily="34" charset="-120"/>
              </a:rPr>
              <a:t>TROIS CONSÉQUENCES MESURÉES</a:t>
            </a:r>
            <a:endParaRPr lang="en-US" sz="950" dirty="0"/>
          </a:p>
        </p:txBody>
      </p:sp>
      <p:sp>
        <p:nvSpPr>
          <p:cNvPr id="13" name="Shape 10"/>
          <p:cNvSpPr/>
          <p:nvPr/>
        </p:nvSpPr>
        <p:spPr>
          <a:xfrm>
            <a:off x="566928" y="3138271"/>
            <a:ext cx="3533546" cy="1459908"/>
          </a:xfrm>
          <a:prstGeom prst="roundRect">
            <a:avLst>
              <a:gd name="adj" fmla="val 2192"/>
            </a:avLst>
          </a:prstGeom>
          <a:solidFill>
            <a:srgbClr val="F1F5F7"/>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14" name="Text 11"/>
          <p:cNvSpPr/>
          <p:nvPr/>
        </p:nvSpPr>
        <p:spPr>
          <a:xfrm>
            <a:off x="786384" y="3246412"/>
            <a:ext cx="1097280" cy="594778"/>
          </a:xfrm>
          <a:prstGeom prst="rect">
            <a:avLst/>
          </a:prstGeom>
          <a:noFill/>
          <a:ln/>
        </p:spPr>
        <p:txBody>
          <a:bodyPr wrap="square" lIns="0" tIns="0" rIns="0" bIns="0" rtlCol="0" anchor="ctr"/>
          <a:lstStyle/>
          <a:p>
            <a:pPr indent="0" marL="0">
              <a:buNone/>
            </a:pPr>
            <a:r>
              <a:rPr lang="en-US" sz="3400" b="1" dirty="0">
                <a:solidFill>
                  <a:srgbClr val="AE3F2C"/>
                </a:solidFill>
                <a:latin typeface="Cambria" pitchFamily="34" charset="0"/>
                <a:ea typeface="Cambria" pitchFamily="34" charset="-122"/>
                <a:cs typeface="Cambria" pitchFamily="34" charset="-120"/>
              </a:rPr>
              <a:t>2</a:t>
            </a:r>
            <a:endParaRPr lang="en-US" sz="3400" dirty="0"/>
          </a:p>
        </p:txBody>
      </p:sp>
      <p:sp>
        <p:nvSpPr>
          <p:cNvPr id="15" name="Text 12"/>
          <p:cNvSpPr/>
          <p:nvPr/>
        </p:nvSpPr>
        <p:spPr>
          <a:xfrm>
            <a:off x="786384" y="3830376"/>
            <a:ext cx="3094634" cy="670476"/>
          </a:xfrm>
          <a:prstGeom prst="rect">
            <a:avLst/>
          </a:prstGeom>
          <a:noFill/>
          <a:ln/>
        </p:spPr>
        <p:txBody>
          <a:bodyPr wrap="square" lIns="0" tIns="0" rIns="0" bIns="0" rtlCol="0" anchor="t"/>
          <a:lstStyle/>
          <a:p>
            <a:pPr indent="0" marL="0">
              <a:buNone/>
            </a:pPr>
            <a:r>
              <a:rPr lang="en-US" sz="1050" dirty="0">
                <a:solidFill>
                  <a:srgbClr val="17303F"/>
                </a:solidFill>
                <a:latin typeface="Calibri" pitchFamily="34" charset="0"/>
                <a:ea typeface="Calibri" pitchFamily="34" charset="-122"/>
                <a:cs typeface="Calibri" pitchFamily="34" charset="-120"/>
              </a:rPr>
              <a:t>bugs bloquants du parcours d'authentification ont échappé à 103 tests verts : le serveur ne démarrait pas, et l'utilisateur était déconnecté à chaque rafraîchissement.</a:t>
            </a:r>
            <a:endParaRPr lang="en-US" sz="1050" dirty="0"/>
          </a:p>
        </p:txBody>
      </p:sp>
      <p:sp>
        <p:nvSpPr>
          <p:cNvPr id="16" name="Shape 13"/>
          <p:cNvSpPr/>
          <p:nvPr/>
        </p:nvSpPr>
        <p:spPr>
          <a:xfrm>
            <a:off x="4329074" y="3138271"/>
            <a:ext cx="3533546" cy="1459908"/>
          </a:xfrm>
          <a:prstGeom prst="roundRect">
            <a:avLst>
              <a:gd name="adj" fmla="val 2192"/>
            </a:avLst>
          </a:prstGeom>
          <a:solidFill>
            <a:srgbClr val="F1F5F7"/>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17" name="Text 14"/>
          <p:cNvSpPr/>
          <p:nvPr/>
        </p:nvSpPr>
        <p:spPr>
          <a:xfrm>
            <a:off x="4548530" y="3246412"/>
            <a:ext cx="1097280" cy="594778"/>
          </a:xfrm>
          <a:prstGeom prst="rect">
            <a:avLst/>
          </a:prstGeom>
          <a:noFill/>
          <a:ln/>
        </p:spPr>
        <p:txBody>
          <a:bodyPr wrap="square" lIns="0" tIns="0" rIns="0" bIns="0" rtlCol="0" anchor="ctr"/>
          <a:lstStyle/>
          <a:p>
            <a:pPr indent="0" marL="0">
              <a:buNone/>
            </a:pPr>
            <a:r>
              <a:rPr lang="en-US" sz="3400" b="1" dirty="0">
                <a:solidFill>
                  <a:srgbClr val="AE3F2C"/>
                </a:solidFill>
                <a:latin typeface="Cambria" pitchFamily="34" charset="0"/>
                <a:ea typeface="Cambria" pitchFamily="34" charset="-122"/>
                <a:cs typeface="Cambria" pitchFamily="34" charset="-120"/>
              </a:rPr>
              <a:t>26</a:t>
            </a:r>
            <a:endParaRPr lang="en-US" sz="3400" dirty="0"/>
          </a:p>
        </p:txBody>
      </p:sp>
      <p:sp>
        <p:nvSpPr>
          <p:cNvPr id="18" name="Text 15"/>
          <p:cNvSpPr/>
          <p:nvPr/>
        </p:nvSpPr>
        <p:spPr>
          <a:xfrm>
            <a:off x="4548530" y="3830376"/>
            <a:ext cx="3094634" cy="670476"/>
          </a:xfrm>
          <a:prstGeom prst="rect">
            <a:avLst/>
          </a:prstGeom>
          <a:noFill/>
          <a:ln/>
        </p:spPr>
        <p:txBody>
          <a:bodyPr wrap="square" lIns="0" tIns="0" rIns="0" bIns="0" rtlCol="0" anchor="t"/>
          <a:lstStyle/>
          <a:p>
            <a:pPr indent="0" marL="0">
              <a:buNone/>
            </a:pPr>
            <a:r>
              <a:rPr lang="en-US" sz="1050" dirty="0">
                <a:solidFill>
                  <a:srgbClr val="17303F"/>
                </a:solidFill>
                <a:latin typeface="Calibri" pitchFamily="34" charset="0"/>
                <a:ea typeface="Calibri" pitchFamily="34" charset="-122"/>
                <a:cs typeface="Calibri" pitchFamily="34" charset="-120"/>
              </a:rPr>
              <a:t>jours d'exposition en production d'une anomalie de sonde (AN-01), découverte fortuitement — aucune sonde ne couvrait les conteneurs concernés.</a:t>
            </a:r>
            <a:endParaRPr lang="en-US" sz="1050" dirty="0"/>
          </a:p>
        </p:txBody>
      </p:sp>
      <p:sp>
        <p:nvSpPr>
          <p:cNvPr id="19" name="Shape 16"/>
          <p:cNvSpPr/>
          <p:nvPr/>
        </p:nvSpPr>
        <p:spPr>
          <a:xfrm>
            <a:off x="8091221" y="3138271"/>
            <a:ext cx="3533546" cy="1459908"/>
          </a:xfrm>
          <a:prstGeom prst="roundRect">
            <a:avLst>
              <a:gd name="adj" fmla="val 2192"/>
            </a:avLst>
          </a:prstGeom>
          <a:solidFill>
            <a:srgbClr val="F1F5F7"/>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20" name="Text 17"/>
          <p:cNvSpPr/>
          <p:nvPr/>
        </p:nvSpPr>
        <p:spPr>
          <a:xfrm>
            <a:off x="8310677" y="3246412"/>
            <a:ext cx="1097280" cy="594778"/>
          </a:xfrm>
          <a:prstGeom prst="rect">
            <a:avLst/>
          </a:prstGeom>
          <a:noFill/>
          <a:ln/>
        </p:spPr>
        <p:txBody>
          <a:bodyPr wrap="square" lIns="0" tIns="0" rIns="0" bIns="0" rtlCol="0" anchor="ctr"/>
          <a:lstStyle/>
          <a:p>
            <a:pPr indent="0" marL="0">
              <a:buNone/>
            </a:pPr>
            <a:r>
              <a:rPr lang="en-US" sz="3400" b="1" dirty="0">
                <a:solidFill>
                  <a:srgbClr val="AE3F2C"/>
                </a:solidFill>
                <a:latin typeface="Cambria" pitchFamily="34" charset="0"/>
                <a:ea typeface="Cambria" pitchFamily="34" charset="-122"/>
                <a:cs typeface="Cambria" pitchFamily="34" charset="-120"/>
              </a:rPr>
              <a:t>9</a:t>
            </a:r>
            <a:endParaRPr lang="en-US" sz="3400" dirty="0"/>
          </a:p>
        </p:txBody>
      </p:sp>
      <p:sp>
        <p:nvSpPr>
          <p:cNvPr id="21" name="Text 18"/>
          <p:cNvSpPr/>
          <p:nvPr/>
        </p:nvSpPr>
        <p:spPr>
          <a:xfrm>
            <a:off x="8310677" y="3830376"/>
            <a:ext cx="3094634" cy="670476"/>
          </a:xfrm>
          <a:prstGeom prst="rect">
            <a:avLst/>
          </a:prstGeom>
          <a:noFill/>
          <a:ln/>
        </p:spPr>
        <p:txBody>
          <a:bodyPr wrap="square" lIns="0" tIns="0" rIns="0" bIns="0" rtlCol="0" anchor="t"/>
          <a:lstStyle/>
          <a:p>
            <a:pPr indent="0" marL="0">
              <a:buNone/>
            </a:pPr>
            <a:r>
              <a:rPr lang="en-US" sz="1050" dirty="0">
                <a:solidFill>
                  <a:srgbClr val="17303F"/>
                </a:solidFill>
                <a:latin typeface="Calibri" pitchFamily="34" charset="0"/>
                <a:ea typeface="Calibri" pitchFamily="34" charset="-122"/>
                <a:cs typeface="Calibri" pitchFamily="34" charset="-120"/>
              </a:rPr>
              <a:t>défauts trouvés uniquement en exécutant la chaîne complète en conditions réelles, invisibles pour 68 tests d'instrumentation restés verts.</a:t>
            </a:r>
            <a:endParaRPr lang="en-US" sz="1050" dirty="0"/>
          </a:p>
        </p:txBody>
      </p:sp>
      <p:sp>
        <p:nvSpPr>
          <p:cNvPr id="22" name="Shape 19"/>
          <p:cNvSpPr/>
          <p:nvPr/>
        </p:nvSpPr>
        <p:spPr>
          <a:xfrm>
            <a:off x="566928" y="4760391"/>
            <a:ext cx="5394960" cy="1622121"/>
          </a:xfrm>
          <a:prstGeom prst="roundRect">
            <a:avLst>
              <a:gd name="adj" fmla="val 1973"/>
            </a:avLst>
          </a:prstGeom>
          <a:solidFill>
            <a:srgbClr val="EAF2ED"/>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23" name="Text 20"/>
          <p:cNvSpPr/>
          <p:nvPr/>
        </p:nvSpPr>
        <p:spPr>
          <a:xfrm>
            <a:off x="786384" y="4955046"/>
            <a:ext cx="4956048" cy="346052"/>
          </a:xfrm>
          <a:prstGeom prst="rect">
            <a:avLst/>
          </a:prstGeom>
          <a:noFill/>
          <a:ln/>
        </p:spPr>
        <p:txBody>
          <a:bodyPr wrap="square" lIns="0" tIns="0" rIns="0" bIns="0" rtlCol="0" anchor="ctr"/>
          <a:lstStyle/>
          <a:p>
            <a:pPr indent="0" marL="0">
              <a:buNone/>
            </a:pPr>
            <a:r>
              <a:rPr lang="en-US" sz="1450" b="1" dirty="0">
                <a:solidFill>
                  <a:srgbClr val="0E1D28"/>
                </a:solidFill>
                <a:latin typeface="Calibri" pitchFamily="34" charset="0"/>
                <a:ea typeface="Calibri" pitchFamily="34" charset="-122"/>
                <a:cs typeface="Calibri" pitchFamily="34" charset="-120"/>
              </a:rPr>
              <a:t>La correction apportée</a:t>
            </a:r>
            <a:endParaRPr lang="en-US" sz="1450" dirty="0"/>
          </a:p>
        </p:txBody>
      </p:sp>
      <p:sp>
        <p:nvSpPr>
          <p:cNvPr id="24" name="Text 21"/>
          <p:cNvSpPr/>
          <p:nvPr/>
        </p:nvSpPr>
        <p:spPr>
          <a:xfrm>
            <a:off x="786384" y="5365983"/>
            <a:ext cx="4956048" cy="800246"/>
          </a:xfrm>
          <a:prstGeom prst="rect">
            <a:avLst/>
          </a:prstGeom>
          <a:noFill/>
          <a:ln/>
        </p:spPr>
        <p:txBody>
          <a:bodyPr wrap="square" lIns="0" tIns="0" rIns="0" bIns="0" rtlCol="0" anchor="t"/>
          <a:lstStyle/>
          <a:p>
            <a:pPr marL="177800" indent="-177800">
              <a:lnSpc>
                <a:spcPct val="105000"/>
              </a:lnSpc>
              <a:spcAft>
                <a:spcPts val="400"/>
              </a:spcAft>
              <a:buSzPct val="100000"/>
              <a:buChar char="•"/>
            </a:pPr>
            <a:r>
              <a:rPr lang="en-US" sz="1300" dirty="0">
                <a:solidFill>
                  <a:srgbClr val="17303F"/>
                </a:solidFill>
                <a:latin typeface="Calibri" pitchFamily="34" charset="0"/>
                <a:ea typeface="Calibri" pitchFamily="34" charset="-122"/>
                <a:cs typeface="Calibri" pitchFamily="34" charset="-120"/>
              </a:rPr>
              <a:t>Tests de démarrage : vérifier que l'application se lance.</a:t>
            </a:r>
            <a:endParaRPr lang="en-US" sz="1300" dirty="0"/>
          </a:p>
          <a:p>
            <a:pPr marL="177800" indent="-177800">
              <a:lnSpc>
                <a:spcPct val="105000"/>
              </a:lnSpc>
              <a:spcAft>
                <a:spcPts val="400"/>
              </a:spcAft>
              <a:buSzPct val="100000"/>
              <a:buChar char="•"/>
            </a:pPr>
            <a:r>
              <a:rPr lang="en-US" sz="1300" dirty="0">
                <a:solidFill>
                  <a:srgbClr val="17303F"/>
                </a:solidFill>
                <a:latin typeface="Calibri" pitchFamily="34" charset="0"/>
                <a:ea typeface="Calibri" pitchFamily="34" charset="-122"/>
                <a:cs typeface="Calibri" pitchFamily="34" charset="-120"/>
              </a:rPr>
              <a:t>Aucune anomalie close sans vérification en conditions réelles.</a:t>
            </a:r>
            <a:endParaRPr lang="en-US" sz="1300" dirty="0"/>
          </a:p>
        </p:txBody>
      </p:sp>
      <p:sp>
        <p:nvSpPr>
          <p:cNvPr id="25" name="Shape 22"/>
          <p:cNvSpPr/>
          <p:nvPr/>
        </p:nvSpPr>
        <p:spPr>
          <a:xfrm>
            <a:off x="6190488" y="4760391"/>
            <a:ext cx="5434279" cy="1622121"/>
          </a:xfrm>
          <a:prstGeom prst="roundRect">
            <a:avLst>
              <a:gd name="adj" fmla="val 1973"/>
            </a:avLst>
          </a:prstGeom>
          <a:solidFill>
            <a:srgbClr val="FBF3E6"/>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26" name="Text 23"/>
          <p:cNvSpPr/>
          <p:nvPr/>
        </p:nvSpPr>
        <p:spPr>
          <a:xfrm>
            <a:off x="6409944" y="4955046"/>
            <a:ext cx="4995367" cy="346052"/>
          </a:xfrm>
          <a:prstGeom prst="rect">
            <a:avLst/>
          </a:prstGeom>
          <a:noFill/>
          <a:ln/>
        </p:spPr>
        <p:txBody>
          <a:bodyPr wrap="square" lIns="0" tIns="0" rIns="0" bIns="0" rtlCol="0" anchor="ctr"/>
          <a:lstStyle/>
          <a:p>
            <a:pPr indent="0" marL="0">
              <a:buNone/>
            </a:pPr>
            <a:r>
              <a:rPr lang="en-US" sz="1450" b="1" dirty="0">
                <a:solidFill>
                  <a:srgbClr val="0E1D28"/>
                </a:solidFill>
                <a:latin typeface="Calibri" pitchFamily="34" charset="0"/>
                <a:ea typeface="Calibri" pitchFamily="34" charset="-122"/>
                <a:cs typeface="Calibri" pitchFamily="34" charset="-120"/>
              </a:rPr>
              <a:t>La recommandation, chiffrée</a:t>
            </a:r>
            <a:endParaRPr lang="en-US" sz="1450" dirty="0"/>
          </a:p>
        </p:txBody>
      </p:sp>
      <p:sp>
        <p:nvSpPr>
          <p:cNvPr id="27" name="Text 24"/>
          <p:cNvSpPr/>
          <p:nvPr/>
        </p:nvSpPr>
        <p:spPr>
          <a:xfrm>
            <a:off x="6409944" y="5365983"/>
            <a:ext cx="4995367" cy="800246"/>
          </a:xfrm>
          <a:prstGeom prst="rect">
            <a:avLst/>
          </a:prstGeom>
          <a:noFill/>
          <a:ln/>
        </p:spPr>
        <p:txBody>
          <a:bodyPr wrap="square" lIns="0" tIns="0" rIns="0" bIns="0" rtlCol="0" anchor="t"/>
          <a:lstStyle/>
          <a:p>
            <a:pPr marL="177800" indent="-177800">
              <a:lnSpc>
                <a:spcPct val="105000"/>
              </a:lnSpc>
              <a:spcAft>
                <a:spcPts val="400"/>
              </a:spcAft>
              <a:buSzPct val="100000"/>
              <a:buChar char="•"/>
            </a:pPr>
            <a:r>
              <a:rPr lang="en-US" sz="1300" dirty="0">
                <a:solidFill>
                  <a:srgbClr val="17303F"/>
                </a:solidFill>
                <a:latin typeface="Calibri" pitchFamily="34" charset="0"/>
                <a:ea typeface="Calibri" pitchFamily="34" charset="-122"/>
                <a:cs typeface="Calibri" pitchFamily="34" charset="-120"/>
              </a:rPr>
              <a:t>Une pré-production strictement identique à la production.</a:t>
            </a:r>
            <a:endParaRPr lang="en-US" sz="1300" dirty="0"/>
          </a:p>
          <a:p>
            <a:pPr marL="177800" indent="-177800">
              <a:lnSpc>
                <a:spcPct val="105000"/>
              </a:lnSpc>
              <a:spcAft>
                <a:spcPts val="400"/>
              </a:spcAft>
              <a:buSzPct val="100000"/>
              <a:buChar char="•"/>
            </a:pPr>
            <a:r>
              <a:rPr lang="en-US" sz="1300" dirty="0">
                <a:solidFill>
                  <a:srgbClr val="17303F"/>
                </a:solidFill>
                <a:latin typeface="Calibri" pitchFamily="34" charset="0"/>
                <a:ea typeface="Calibri" pitchFamily="34" charset="-122"/>
                <a:cs typeface="Calibri" pitchFamily="34" charset="-120"/>
              </a:rPr>
              <a:t>Motif : 4 divergences dev/prod sur un seul ticket.</a:t>
            </a:r>
            <a:endParaRPr lang="en-US" sz="1300" dirty="0"/>
          </a:p>
          <a:p>
            <a:pPr marL="177800" indent="-177800">
              <a:lnSpc>
                <a:spcPct val="105000"/>
              </a:lnSpc>
              <a:spcAft>
                <a:spcPts val="400"/>
              </a:spcAft>
              <a:buSzPct val="100000"/>
              <a:buChar char="•"/>
            </a:pPr>
            <a:r>
              <a:rPr lang="en-US" sz="1300" dirty="0">
                <a:solidFill>
                  <a:srgbClr val="17303F"/>
                </a:solidFill>
                <a:latin typeface="Calibri" pitchFamily="34" charset="0"/>
                <a:ea typeface="Calibri" pitchFamily="34" charset="-122"/>
                <a:cs typeface="Calibri" pitchFamily="34" charset="-120"/>
              </a:rPr>
              <a:t>Coût : 1 journée de mise en place, ~30 € par mois.</a:t>
            </a:r>
            <a:endParaRPr lang="en-US" sz="1300" dirty="0"/>
          </a:p>
        </p:txBody>
      </p:sp>
      <p:sp>
        <p:nvSpPr>
          <p:cNvPr id="28" name="Text 25"/>
          <p:cNvSpPr/>
          <p:nvPr/>
        </p:nvSpPr>
        <p:spPr>
          <a:xfrm>
            <a:off x="10984687" y="6419088"/>
            <a:ext cx="640080" cy="256032"/>
          </a:xfrm>
          <a:prstGeom prst="rect">
            <a:avLst/>
          </a:prstGeom>
          <a:noFill/>
          <a:ln/>
        </p:spPr>
        <p:txBody>
          <a:bodyPr wrap="square" lIns="0" tIns="0" rIns="0" bIns="0" rtlCol="0" anchor="ctr"/>
          <a:lstStyle/>
          <a:p>
            <a:pPr algn="r" indent="0" marL="0">
              <a:buNone/>
            </a:pPr>
            <a:r>
              <a:rPr lang="en-US" sz="1000" dirty="0">
                <a:solidFill>
                  <a:srgbClr val="9FB2BD"/>
                </a:solidFill>
                <a:latin typeface="Courier New" pitchFamily="34" charset="0"/>
                <a:ea typeface="Courier New" pitchFamily="34" charset="-122"/>
                <a:cs typeface="Courier New"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66928" y="384048"/>
            <a:ext cx="7740487" cy="219456"/>
          </a:xfrm>
          <a:prstGeom prst="rect">
            <a:avLst/>
          </a:prstGeom>
          <a:noFill/>
          <a:ln/>
        </p:spPr>
        <p:txBody>
          <a:bodyPr wrap="square" lIns="0" tIns="0" rIns="0" bIns="0" rtlCol="0" anchor="ctr"/>
          <a:lstStyle/>
          <a:p>
            <a:pPr indent="0" marL="0">
              <a:buNone/>
            </a:pPr>
            <a:r>
              <a:rPr lang="en-US" sz="1050" b="1" spc="160" kern="0" dirty="0">
                <a:solidFill>
                  <a:srgbClr val="1F5468"/>
                </a:solidFill>
                <a:latin typeface="Courier New" pitchFamily="34" charset="0"/>
                <a:ea typeface="Courier New" pitchFamily="34" charset="-122"/>
                <a:cs typeface="Courier New" pitchFamily="34" charset="-120"/>
              </a:rPr>
              <a:t>PARTIE 3 · MANAGER</a:t>
            </a:r>
            <a:endParaRPr lang="en-US" sz="1050" dirty="0"/>
          </a:p>
        </p:txBody>
      </p:sp>
      <p:sp>
        <p:nvSpPr>
          <p:cNvPr id="4" name="Text 1"/>
          <p:cNvSpPr/>
          <p:nvPr/>
        </p:nvSpPr>
        <p:spPr>
          <a:xfrm>
            <a:off x="566928" y="621792"/>
            <a:ext cx="8403958" cy="731520"/>
          </a:xfrm>
          <a:prstGeom prst="rect">
            <a:avLst/>
          </a:prstGeom>
          <a:noFill/>
          <a:ln/>
        </p:spPr>
        <p:txBody>
          <a:bodyPr wrap="square" lIns="0" tIns="0" rIns="0" bIns="0" rtlCol="0" anchor="t"/>
          <a:lstStyle/>
          <a:p>
            <a:pPr indent="0" marL="0">
              <a:buNone/>
            </a:pPr>
            <a:r>
              <a:rPr lang="en-US" sz="2900" b="1" dirty="0">
                <a:solidFill>
                  <a:srgbClr val="0E1D28"/>
                </a:solidFill>
                <a:latin typeface="Cambria" pitchFamily="34" charset="0"/>
                <a:ea typeface="Cambria" pitchFamily="34" charset="-122"/>
                <a:cs typeface="Cambria" pitchFamily="34" charset="-120"/>
              </a:rPr>
              <a:t>Les outils de communication et leurs objectifs</a:t>
            </a:r>
            <a:endParaRPr lang="en-US" sz="2900" dirty="0"/>
          </a:p>
        </p:txBody>
      </p:sp>
      <p:sp>
        <p:nvSpPr>
          <p:cNvPr id="5" name="Shape 2"/>
          <p:cNvSpPr/>
          <p:nvPr/>
        </p:nvSpPr>
        <p:spPr>
          <a:xfrm>
            <a:off x="10573207" y="384048"/>
            <a:ext cx="1051560" cy="310896"/>
          </a:xfrm>
          <a:prstGeom prst="roundRect">
            <a:avLst>
              <a:gd name="adj" fmla="val 17647"/>
            </a:avLst>
          </a:prstGeom>
          <a:solidFill>
            <a:srgbClr val="E6EDF1"/>
          </a:solidFill>
          <a:ln w="9525">
            <a:solidFill>
              <a:srgbClr val="D5DFE5"/>
            </a:solidFill>
            <a:prstDash val="solid"/>
          </a:ln>
        </p:spPr>
      </p:sp>
      <p:sp>
        <p:nvSpPr>
          <p:cNvPr id="6" name="Text 3"/>
          <p:cNvSpPr/>
          <p:nvPr/>
        </p:nvSpPr>
        <p:spPr>
          <a:xfrm>
            <a:off x="10573207" y="384048"/>
            <a:ext cx="1051560" cy="310896"/>
          </a:xfrm>
          <a:prstGeom prst="rect">
            <a:avLst/>
          </a:prstGeom>
          <a:noFill/>
          <a:ln/>
        </p:spPr>
        <p:txBody>
          <a:bodyPr wrap="square" lIns="0" tIns="0" rIns="0" bIns="0" rtlCol="0" anchor="ctr"/>
          <a:lstStyle/>
          <a:p>
            <a:pPr algn="ctr" indent="0" marL="0">
              <a:buNone/>
            </a:pPr>
            <a:r>
              <a:rPr lang="en-US" sz="1000" b="1" dirty="0">
                <a:solidFill>
                  <a:srgbClr val="1F5468"/>
                </a:solidFill>
                <a:latin typeface="Courier New" pitchFamily="34" charset="0"/>
                <a:ea typeface="Courier New" pitchFamily="34" charset="-122"/>
                <a:cs typeface="Courier New" pitchFamily="34" charset="-120"/>
              </a:rPr>
              <a:t>C3.3.1</a:t>
            </a:r>
            <a:endParaRPr lang="en-US" sz="1000" dirty="0"/>
          </a:p>
        </p:txBody>
      </p:sp>
      <p:sp>
        <p:nvSpPr>
          <p:cNvPr id="7" name="Shape 4"/>
          <p:cNvSpPr/>
          <p:nvPr/>
        </p:nvSpPr>
        <p:spPr>
          <a:xfrm>
            <a:off x="9549079" y="384048"/>
            <a:ext cx="914400" cy="310896"/>
          </a:xfrm>
          <a:prstGeom prst="roundRect">
            <a:avLst>
              <a:gd name="adj" fmla="val 17647"/>
            </a:avLst>
          </a:prstGeom>
          <a:solidFill>
            <a:srgbClr val="E6EDF1"/>
          </a:solidFill>
          <a:ln w="9525">
            <a:solidFill>
              <a:srgbClr val="D5DFE5"/>
            </a:solidFill>
            <a:prstDash val="solid"/>
          </a:ln>
        </p:spPr>
      </p:sp>
      <p:sp>
        <p:nvSpPr>
          <p:cNvPr id="8" name="Text 5"/>
          <p:cNvSpPr/>
          <p:nvPr/>
        </p:nvSpPr>
        <p:spPr>
          <a:xfrm>
            <a:off x="9549079" y="384048"/>
            <a:ext cx="914400" cy="310896"/>
          </a:xfrm>
          <a:prstGeom prst="rect">
            <a:avLst/>
          </a:prstGeom>
          <a:noFill/>
          <a:ln/>
        </p:spPr>
        <p:txBody>
          <a:bodyPr wrap="square" lIns="0" tIns="0" rIns="0" bIns="0" rtlCol="0" anchor="ctr"/>
          <a:lstStyle/>
          <a:p>
            <a:pPr algn="ctr" indent="0" marL="0">
              <a:buNone/>
            </a:pPr>
            <a:r>
              <a:rPr lang="en-US" sz="1000" b="1" dirty="0">
                <a:solidFill>
                  <a:srgbClr val="1F5468"/>
                </a:solidFill>
                <a:latin typeface="Courier New" pitchFamily="34" charset="0"/>
                <a:ea typeface="Courier New" pitchFamily="34" charset="-122"/>
                <a:cs typeface="Courier New" pitchFamily="34" charset="-120"/>
              </a:rPr>
              <a:t>RÉEL</a:t>
            </a:r>
            <a:endParaRPr lang="en-US" sz="1000" dirty="0"/>
          </a:p>
        </p:txBody>
      </p:sp>
      <p:sp>
        <p:nvSpPr>
          <p:cNvPr id="9" name="Text 6"/>
          <p:cNvSpPr/>
          <p:nvPr/>
        </p:nvSpPr>
        <p:spPr>
          <a:xfrm>
            <a:off x="566928" y="1426464"/>
            <a:ext cx="5486400" cy="201168"/>
          </a:xfrm>
          <a:prstGeom prst="rect">
            <a:avLst/>
          </a:prstGeom>
          <a:noFill/>
          <a:ln/>
        </p:spPr>
        <p:txBody>
          <a:bodyPr wrap="square" lIns="0" tIns="0" rIns="0" bIns="0" rtlCol="0" anchor="ctr"/>
          <a:lstStyle/>
          <a:p>
            <a:pPr indent="0" marL="0">
              <a:buNone/>
            </a:pPr>
            <a:r>
              <a:rPr lang="en-US" sz="900" b="1" spc="120" kern="0" dirty="0">
                <a:solidFill>
                  <a:srgbClr val="1F5468"/>
                </a:solidFill>
                <a:latin typeface="Courier New" pitchFamily="34" charset="0"/>
                <a:ea typeface="Courier New" pitchFamily="34" charset="-122"/>
                <a:cs typeface="Courier New" pitchFamily="34" charset="-120"/>
              </a:rPr>
              <a:t>CHAQUE OUTIL RÉPOND À UN OBJECTIF, ET UN SEUL</a:t>
            </a:r>
            <a:endParaRPr lang="en-US" sz="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66928" y="1682496"/>
          <a:ext cx="11057839" cy="914400"/>
        </p:xfrm>
        <a:graphic>
          <a:graphicData uri="http://schemas.openxmlformats.org/drawingml/2006/table">
            <a:tbl>
              <a:tblPr/>
              <a:tblGrid>
                <a:gridCol w="3063240"/>
                <a:gridCol w="5989320"/>
                <a:gridCol w="2002536"/>
              </a:tblGrid>
              <a:tr h="42976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Outil</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0E1D28"/>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Objectif poursuivi</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0E1D28"/>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Rythme</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0E1D28"/>
                    </a:solidFill>
                  </a:tcPr>
                </a:tc>
              </a:tr>
              <a:tr h="429768">
                <a:tc>
                  <a:txBody>
                    <a:bodyPr/>
                    <a:lstStyle/>
                    <a:p>
                      <a:pPr indent="0" marL="0">
                        <a:buNone/>
                      </a:pPr>
                      <a:r>
                        <a:rPr lang="en-US" sz="1200" dirty="0">
                          <a:solidFill>
                            <a:srgbClr val="17303F"/>
                          </a:solidFill>
                          <a:latin typeface="Calibri" pitchFamily="34" charset="0"/>
                          <a:ea typeface="Calibri" pitchFamily="34" charset="-122"/>
                          <a:cs typeface="Calibri" pitchFamily="34" charset="-120"/>
                        </a:rPr>
                        <a:t>Ticket SH-xx (DoR, Gherkin, DoD)</a:t>
                      </a:r>
                      <a:endParaRPr lang="en-US" sz="120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200" dirty="0">
                          <a:solidFill>
                            <a:srgbClr val="17303F"/>
                          </a:solidFill>
                          <a:latin typeface="Calibri" pitchFamily="34" charset="0"/>
                          <a:ea typeface="Calibri" pitchFamily="34" charset="-122"/>
                          <a:cs typeface="Calibri" pitchFamily="34" charset="-120"/>
                        </a:rPr>
                        <a:t>Contrat de travail partagé : ce qui est attendu est écrit avant le code</a:t>
                      </a:r>
                      <a:endParaRPr lang="en-US" sz="120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200" dirty="0">
                          <a:solidFill>
                            <a:srgbClr val="17303F"/>
                          </a:solidFill>
                          <a:latin typeface="Calibri" pitchFamily="34" charset="0"/>
                          <a:ea typeface="Calibri" pitchFamily="34" charset="-122"/>
                          <a:cs typeface="Calibri" pitchFamily="34" charset="-120"/>
                        </a:rPr>
                        <a:t>Par feature</a:t>
                      </a:r>
                      <a:endParaRPr lang="en-US" sz="120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r>
              <a:tr h="429768">
                <a:tc>
                  <a:txBody>
                    <a:bodyPr/>
                    <a:lstStyle/>
                    <a:p>
                      <a:pPr indent="0" marL="0">
                        <a:buNone/>
                      </a:pPr>
                      <a:r>
                        <a:rPr lang="en-US" sz="1200" dirty="0">
                          <a:solidFill>
                            <a:srgbClr val="17303F"/>
                          </a:solidFill>
                          <a:latin typeface="Calibri" pitchFamily="34" charset="0"/>
                          <a:ea typeface="Calibri" pitchFamily="34" charset="-122"/>
                          <a:cs typeface="Calibri" pitchFamily="34" charset="-120"/>
                        </a:rPr>
                        <a:t>Index de backlog à statuts</a:t>
                      </a:r>
                      <a:endParaRPr lang="en-US" sz="120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200" dirty="0">
                          <a:solidFill>
                            <a:srgbClr val="17303F"/>
                          </a:solidFill>
                          <a:latin typeface="Calibri" pitchFamily="34" charset="0"/>
                          <a:ea typeface="Calibri" pitchFamily="34" charset="-122"/>
                          <a:cs typeface="Calibri" pitchFamily="34" charset="-120"/>
                        </a:rPr>
                        <a:t>Vision d'ensemble de l'avancement, accessible sans réunion</a:t>
                      </a:r>
                      <a:endParaRPr lang="en-US" sz="120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200" dirty="0">
                          <a:solidFill>
                            <a:srgbClr val="17303F"/>
                          </a:solidFill>
                          <a:latin typeface="Calibri" pitchFamily="34" charset="0"/>
                          <a:ea typeface="Calibri" pitchFamily="34" charset="-122"/>
                          <a:cs typeface="Calibri" pitchFamily="34" charset="-120"/>
                        </a:rPr>
                        <a:t>Continu</a:t>
                      </a:r>
                      <a:endParaRPr lang="en-US" sz="120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r>
              <a:tr h="429768">
                <a:tc>
                  <a:txBody>
                    <a:bodyPr/>
                    <a:lstStyle/>
                    <a:p>
                      <a:pPr indent="0" marL="0">
                        <a:buNone/>
                      </a:pPr>
                      <a:r>
                        <a:rPr lang="en-US" sz="1200" dirty="0">
                          <a:solidFill>
                            <a:srgbClr val="17303F"/>
                          </a:solidFill>
                          <a:latin typeface="Calibri" pitchFamily="34" charset="0"/>
                          <a:ea typeface="Calibri" pitchFamily="34" charset="-122"/>
                          <a:cs typeface="Calibri" pitchFamily="34" charset="-120"/>
                        </a:rPr>
                        <a:t>Revue de Pull Request</a:t>
                      </a:r>
                      <a:endParaRPr lang="en-US" sz="120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200" dirty="0">
                          <a:solidFill>
                            <a:srgbClr val="17303F"/>
                          </a:solidFill>
                          <a:latin typeface="Calibri" pitchFamily="34" charset="0"/>
                          <a:ea typeface="Calibri" pitchFamily="34" charset="-122"/>
                          <a:cs typeface="Calibri" pitchFamily="34" charset="-120"/>
                        </a:rPr>
                        <a:t>Qualité du code et diffusion de la connaissance technique</a:t>
                      </a:r>
                      <a:endParaRPr lang="en-US" sz="120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200" dirty="0">
                          <a:solidFill>
                            <a:srgbClr val="17303F"/>
                          </a:solidFill>
                          <a:latin typeface="Calibri" pitchFamily="34" charset="0"/>
                          <a:ea typeface="Calibri" pitchFamily="34" charset="-122"/>
                          <a:cs typeface="Calibri" pitchFamily="34" charset="-120"/>
                        </a:rPr>
                        <a:t>55 revues</a:t>
                      </a:r>
                      <a:endParaRPr lang="en-US" sz="120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r>
              <a:tr h="429768">
                <a:tc>
                  <a:txBody>
                    <a:bodyPr/>
                    <a:lstStyle/>
                    <a:p>
                      <a:pPr indent="0" marL="0">
                        <a:buNone/>
                      </a:pPr>
                      <a:r>
                        <a:rPr lang="en-US" sz="1200" dirty="0">
                          <a:solidFill>
                            <a:srgbClr val="17303F"/>
                          </a:solidFill>
                          <a:latin typeface="Calibri" pitchFamily="34" charset="0"/>
                          <a:ea typeface="Calibri" pitchFamily="34" charset="-122"/>
                          <a:cs typeface="Calibri" pitchFamily="34" charset="-120"/>
                        </a:rPr>
                        <a:t>Documents de conception datés</a:t>
                      </a:r>
                      <a:endParaRPr lang="en-US" sz="120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200" dirty="0">
                          <a:solidFill>
                            <a:srgbClr val="17303F"/>
                          </a:solidFill>
                          <a:latin typeface="Calibri" pitchFamily="34" charset="0"/>
                          <a:ea typeface="Calibri" pitchFamily="34" charset="-122"/>
                          <a:cs typeface="Calibri" pitchFamily="34" charset="-120"/>
                        </a:rPr>
                        <a:t>Tracer les décisions d'architecture et leurs alternatives écartées</a:t>
                      </a:r>
                      <a:endParaRPr lang="en-US" sz="120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200" dirty="0">
                          <a:solidFill>
                            <a:srgbClr val="17303F"/>
                          </a:solidFill>
                          <a:latin typeface="Calibri" pitchFamily="34" charset="0"/>
                          <a:ea typeface="Calibri" pitchFamily="34" charset="-122"/>
                          <a:cs typeface="Calibri" pitchFamily="34" charset="-120"/>
                        </a:rPr>
                        <a:t>11 documents</a:t>
                      </a:r>
                      <a:endParaRPr lang="en-US" sz="120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r>
              <a:tr h="429768">
                <a:tc>
                  <a:txBody>
                    <a:bodyPr/>
                    <a:lstStyle/>
                    <a:p>
                      <a:pPr indent="0" marL="0">
                        <a:buNone/>
                      </a:pPr>
                      <a:r>
                        <a:rPr lang="en-US" sz="1200" dirty="0">
                          <a:solidFill>
                            <a:srgbClr val="17303F"/>
                          </a:solidFill>
                          <a:latin typeface="Calibri" pitchFamily="34" charset="0"/>
                          <a:ea typeface="Calibri" pitchFamily="34" charset="-122"/>
                          <a:cs typeface="Calibri" pitchFamily="34" charset="-120"/>
                        </a:rPr>
                        <a:t>Journal des versions</a:t>
                      </a:r>
                      <a:endParaRPr lang="en-US" sz="120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200" dirty="0">
                          <a:solidFill>
                            <a:srgbClr val="17303F"/>
                          </a:solidFill>
                          <a:latin typeface="Calibri" pitchFamily="34" charset="0"/>
                          <a:ea typeface="Calibri" pitchFamily="34" charset="-122"/>
                          <a:cs typeface="Calibri" pitchFamily="34" charset="-120"/>
                        </a:rPr>
                        <a:t>Dire au commanditaire ce qui tourne réellement en production</a:t>
                      </a:r>
                      <a:endParaRPr lang="en-US" sz="120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200" dirty="0">
                          <a:solidFill>
                            <a:srgbClr val="17303F"/>
                          </a:solidFill>
                          <a:latin typeface="Calibri" pitchFamily="34" charset="0"/>
                          <a:ea typeface="Calibri" pitchFamily="34" charset="-122"/>
                          <a:cs typeface="Calibri" pitchFamily="34" charset="-120"/>
                        </a:rPr>
                        <a:t>Par déploiement</a:t>
                      </a:r>
                      <a:endParaRPr lang="en-US" sz="120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r>
              <a:tr h="429768">
                <a:tc>
                  <a:txBody>
                    <a:bodyPr/>
                    <a:lstStyle/>
                    <a:p>
                      <a:pPr indent="0" marL="0">
                        <a:buNone/>
                      </a:pPr>
                      <a:r>
                        <a:rPr lang="en-US" sz="1200" dirty="0">
                          <a:solidFill>
                            <a:srgbClr val="17303F"/>
                          </a:solidFill>
                          <a:latin typeface="Calibri" pitchFamily="34" charset="0"/>
                          <a:ea typeface="Calibri" pitchFamily="34" charset="-122"/>
                          <a:cs typeface="Calibri" pitchFamily="34" charset="-120"/>
                        </a:rPr>
                        <a:t>Runbook d'exploitation</a:t>
                      </a:r>
                      <a:endParaRPr lang="en-US" sz="120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200" dirty="0">
                          <a:solidFill>
                            <a:srgbClr val="17303F"/>
                          </a:solidFill>
                          <a:latin typeface="Calibri" pitchFamily="34" charset="0"/>
                          <a:ea typeface="Calibri" pitchFamily="34" charset="-122"/>
                          <a:cs typeface="Calibri" pitchFamily="34" charset="-120"/>
                        </a:rPr>
                        <a:t>Une section par alerte, écrite pour être lue pendant l'incident</a:t>
                      </a:r>
                      <a:endParaRPr lang="en-US" sz="120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200" dirty="0">
                          <a:solidFill>
                            <a:srgbClr val="17303F"/>
                          </a:solidFill>
                          <a:latin typeface="Calibri" pitchFamily="34" charset="0"/>
                          <a:ea typeface="Calibri" pitchFamily="34" charset="-122"/>
                          <a:cs typeface="Calibri" pitchFamily="34" charset="-120"/>
                        </a:rPr>
                        <a:t>Continu</a:t>
                      </a:r>
                      <a:endParaRPr lang="en-US" sz="120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r>
              <a:tr h="429768">
                <a:tc>
                  <a:txBody>
                    <a:bodyPr/>
                    <a:lstStyle/>
                    <a:p>
                      <a:pPr indent="0" marL="0">
                        <a:buNone/>
                      </a:pPr>
                      <a:r>
                        <a:rPr lang="en-US" sz="1200" dirty="0">
                          <a:solidFill>
                            <a:srgbClr val="17303F"/>
                          </a:solidFill>
                          <a:latin typeface="Calibri" pitchFamily="34" charset="0"/>
                          <a:ea typeface="Calibri" pitchFamily="34" charset="-122"/>
                          <a:cs typeface="Calibri" pitchFamily="34" charset="-120"/>
                        </a:rPr>
                        <a:t>Alerting par courriel</a:t>
                      </a:r>
                      <a:endParaRPr lang="en-US" sz="120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200" dirty="0">
                          <a:solidFill>
                            <a:srgbClr val="17303F"/>
                          </a:solidFill>
                          <a:latin typeface="Calibri" pitchFamily="34" charset="0"/>
                          <a:ea typeface="Calibri" pitchFamily="34" charset="-122"/>
                          <a:cs typeface="Calibri" pitchFamily="34" charset="-120"/>
                        </a:rPr>
                        <a:t>Signalement des incidents, sujet préfixé par la sévérité</a:t>
                      </a:r>
                      <a:endParaRPr lang="en-US" sz="120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200" dirty="0">
                          <a:solidFill>
                            <a:srgbClr val="17303F"/>
                          </a:solidFill>
                          <a:latin typeface="Calibri" pitchFamily="34" charset="0"/>
                          <a:ea typeface="Calibri" pitchFamily="34" charset="-122"/>
                          <a:cs typeface="Calibri" pitchFamily="34" charset="-120"/>
                        </a:rPr>
                        <a:t>22 notifications</a:t>
                      </a:r>
                      <a:endParaRPr lang="en-US" sz="120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r>
            </a:tbl>
          </a:graphicData>
        </a:graphic>
      </p:graphicFrame>
      <p:sp>
        <p:nvSpPr>
          <p:cNvPr id="11" name="Shape 7"/>
          <p:cNvSpPr/>
          <p:nvPr/>
        </p:nvSpPr>
        <p:spPr>
          <a:xfrm>
            <a:off x="566928" y="5431536"/>
            <a:ext cx="11057839" cy="566928"/>
          </a:xfrm>
          <a:prstGeom prst="roundRect">
            <a:avLst>
              <a:gd name="adj" fmla="val 5645"/>
            </a:avLst>
          </a:prstGeom>
          <a:solidFill>
            <a:srgbClr val="FBF3E6"/>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12" name="Text 8"/>
          <p:cNvSpPr/>
          <p:nvPr/>
        </p:nvSpPr>
        <p:spPr>
          <a:xfrm>
            <a:off x="822960" y="5431536"/>
            <a:ext cx="10545775" cy="566928"/>
          </a:xfrm>
          <a:prstGeom prst="rect">
            <a:avLst/>
          </a:prstGeom>
          <a:noFill/>
          <a:ln/>
        </p:spPr>
        <p:txBody>
          <a:bodyPr wrap="square" lIns="0" tIns="0" rIns="0" bIns="0" rtlCol="0" anchor="ctr"/>
          <a:lstStyle/>
          <a:p>
            <a:pPr indent="0" marL="0">
              <a:buNone/>
            </a:pPr>
            <a:r>
              <a:rPr lang="en-US" sz="1350" b="1" dirty="0">
                <a:solidFill>
                  <a:srgbClr val="0E1D28"/>
                </a:solidFill>
                <a:latin typeface="Calibri" pitchFamily="34" charset="0"/>
                <a:ea typeface="Calibri" pitchFamily="34" charset="-122"/>
                <a:cs typeface="Calibri" pitchFamily="34" charset="-120"/>
              </a:rPr>
              <a:t>Le partage de ressources. </a:t>
            </a:r>
            <a:pPr indent="0" marL="0">
              <a:buNone/>
            </a:pPr>
            <a:r>
              <a:rPr lang="en-US" sz="1350" dirty="0">
                <a:solidFill>
                  <a:srgbClr val="17303F"/>
                </a:solidFill>
                <a:latin typeface="Calibri" pitchFamily="34" charset="0"/>
                <a:ea typeface="Calibri" pitchFamily="34" charset="-122"/>
                <a:cs typeface="Calibri" pitchFamily="34" charset="-120"/>
              </a:rPr>
              <a:t>Tout est versionné au même endroit que le code : le contexte se transmet sans réunion.</a:t>
            </a:r>
            <a:endParaRPr lang="en-US" sz="1350" dirty="0"/>
          </a:p>
        </p:txBody>
      </p:sp>
      <p:sp>
        <p:nvSpPr>
          <p:cNvPr id="13" name="Text 9"/>
          <p:cNvSpPr/>
          <p:nvPr/>
        </p:nvSpPr>
        <p:spPr>
          <a:xfrm>
            <a:off x="10984687" y="6419088"/>
            <a:ext cx="640080" cy="256032"/>
          </a:xfrm>
          <a:prstGeom prst="rect">
            <a:avLst/>
          </a:prstGeom>
          <a:noFill/>
          <a:ln/>
        </p:spPr>
        <p:txBody>
          <a:bodyPr wrap="square" lIns="0" tIns="0" rIns="0" bIns="0" rtlCol="0" anchor="ctr"/>
          <a:lstStyle/>
          <a:p>
            <a:pPr algn="r" indent="0" marL="0">
              <a:buNone/>
            </a:pPr>
            <a:r>
              <a:rPr lang="en-US" sz="1000" dirty="0">
                <a:solidFill>
                  <a:srgbClr val="9FB2BD"/>
                </a:solidFill>
                <a:latin typeface="Courier New" pitchFamily="34" charset="0"/>
                <a:ea typeface="Courier New" pitchFamily="34" charset="-122"/>
                <a:cs typeface="Courier New"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66928" y="384048"/>
            <a:ext cx="7740487" cy="219456"/>
          </a:xfrm>
          <a:prstGeom prst="rect">
            <a:avLst/>
          </a:prstGeom>
          <a:noFill/>
          <a:ln/>
        </p:spPr>
        <p:txBody>
          <a:bodyPr wrap="square" lIns="0" tIns="0" rIns="0" bIns="0" rtlCol="0" anchor="ctr"/>
          <a:lstStyle/>
          <a:p>
            <a:pPr indent="0" marL="0">
              <a:buNone/>
            </a:pPr>
            <a:r>
              <a:rPr lang="en-US" sz="1050" b="1" spc="160" kern="0" dirty="0">
                <a:solidFill>
                  <a:srgbClr val="1F5468"/>
                </a:solidFill>
                <a:latin typeface="Courier New" pitchFamily="34" charset="0"/>
                <a:ea typeface="Courier New" pitchFamily="34" charset="-122"/>
                <a:cs typeface="Courier New" pitchFamily="34" charset="-120"/>
              </a:rPr>
              <a:t>PARTIE 3 · MANAGER</a:t>
            </a:r>
            <a:endParaRPr lang="en-US" sz="1050" dirty="0"/>
          </a:p>
        </p:txBody>
      </p:sp>
      <p:sp>
        <p:nvSpPr>
          <p:cNvPr id="4" name="Text 1"/>
          <p:cNvSpPr/>
          <p:nvPr/>
        </p:nvSpPr>
        <p:spPr>
          <a:xfrm>
            <a:off x="566928" y="621792"/>
            <a:ext cx="8403958" cy="731520"/>
          </a:xfrm>
          <a:prstGeom prst="rect">
            <a:avLst/>
          </a:prstGeom>
          <a:noFill/>
          <a:ln/>
        </p:spPr>
        <p:txBody>
          <a:bodyPr wrap="square" lIns="0" tIns="0" rIns="0" bIns="0" rtlCol="0" anchor="t"/>
          <a:lstStyle/>
          <a:p>
            <a:pPr indent="0" marL="0">
              <a:buNone/>
            </a:pPr>
            <a:r>
              <a:rPr lang="en-US" sz="2900" b="1" dirty="0">
                <a:solidFill>
                  <a:srgbClr val="0E1D28"/>
                </a:solidFill>
                <a:latin typeface="Cambria" pitchFamily="34" charset="0"/>
                <a:ea typeface="Cambria" pitchFamily="34" charset="-122"/>
                <a:cs typeface="Cambria" pitchFamily="34" charset="-120"/>
              </a:rPr>
              <a:t>Évaluation des besoins en compétences</a:t>
            </a:r>
            <a:endParaRPr lang="en-US" sz="2900" dirty="0"/>
          </a:p>
        </p:txBody>
      </p:sp>
      <p:sp>
        <p:nvSpPr>
          <p:cNvPr id="5" name="Shape 2"/>
          <p:cNvSpPr/>
          <p:nvPr/>
        </p:nvSpPr>
        <p:spPr>
          <a:xfrm>
            <a:off x="10573207" y="384048"/>
            <a:ext cx="1051560" cy="310896"/>
          </a:xfrm>
          <a:prstGeom prst="roundRect">
            <a:avLst>
              <a:gd name="adj" fmla="val 17647"/>
            </a:avLst>
          </a:prstGeom>
          <a:solidFill>
            <a:srgbClr val="E6EDF1"/>
          </a:solidFill>
          <a:ln w="9525">
            <a:solidFill>
              <a:srgbClr val="D5DFE5"/>
            </a:solidFill>
            <a:prstDash val="solid"/>
          </a:ln>
        </p:spPr>
      </p:sp>
      <p:sp>
        <p:nvSpPr>
          <p:cNvPr id="6" name="Text 3"/>
          <p:cNvSpPr/>
          <p:nvPr/>
        </p:nvSpPr>
        <p:spPr>
          <a:xfrm>
            <a:off x="10573207" y="384048"/>
            <a:ext cx="1051560" cy="310896"/>
          </a:xfrm>
          <a:prstGeom prst="rect">
            <a:avLst/>
          </a:prstGeom>
          <a:noFill/>
          <a:ln/>
        </p:spPr>
        <p:txBody>
          <a:bodyPr wrap="square" lIns="0" tIns="0" rIns="0" bIns="0" rtlCol="0" anchor="ctr"/>
          <a:lstStyle/>
          <a:p>
            <a:pPr algn="ctr" indent="0" marL="0">
              <a:buNone/>
            </a:pPr>
            <a:r>
              <a:rPr lang="en-US" sz="1000" b="1" dirty="0">
                <a:solidFill>
                  <a:srgbClr val="1F5468"/>
                </a:solidFill>
                <a:latin typeface="Courier New" pitchFamily="34" charset="0"/>
                <a:ea typeface="Courier New" pitchFamily="34" charset="-122"/>
                <a:cs typeface="Courier New" pitchFamily="34" charset="-120"/>
              </a:rPr>
              <a:t>C3.3.2</a:t>
            </a:r>
            <a:endParaRPr lang="en-US" sz="1000" dirty="0"/>
          </a:p>
        </p:txBody>
      </p:sp>
      <p:sp>
        <p:nvSpPr>
          <p:cNvPr id="7" name="Shape 4"/>
          <p:cNvSpPr/>
          <p:nvPr/>
        </p:nvSpPr>
        <p:spPr>
          <a:xfrm>
            <a:off x="9549079" y="384048"/>
            <a:ext cx="914400" cy="310896"/>
          </a:xfrm>
          <a:prstGeom prst="roundRect">
            <a:avLst>
              <a:gd name="adj" fmla="val 17647"/>
            </a:avLst>
          </a:prstGeom>
          <a:solidFill>
            <a:srgbClr val="E6EDF1"/>
          </a:solidFill>
          <a:ln w="9525">
            <a:solidFill>
              <a:srgbClr val="D5DFE5"/>
            </a:solidFill>
            <a:prstDash val="solid"/>
          </a:ln>
        </p:spPr>
      </p:sp>
      <p:sp>
        <p:nvSpPr>
          <p:cNvPr id="8" name="Text 5"/>
          <p:cNvSpPr/>
          <p:nvPr/>
        </p:nvSpPr>
        <p:spPr>
          <a:xfrm>
            <a:off x="9549079" y="384048"/>
            <a:ext cx="914400" cy="310896"/>
          </a:xfrm>
          <a:prstGeom prst="rect">
            <a:avLst/>
          </a:prstGeom>
          <a:noFill/>
          <a:ln/>
        </p:spPr>
        <p:txBody>
          <a:bodyPr wrap="square" lIns="0" tIns="0" rIns="0" bIns="0" rtlCol="0" anchor="ctr"/>
          <a:lstStyle/>
          <a:p>
            <a:pPr algn="ctr" indent="0" marL="0">
              <a:buNone/>
            </a:pPr>
            <a:r>
              <a:rPr lang="en-US" sz="1000" b="1" dirty="0">
                <a:solidFill>
                  <a:srgbClr val="1F5468"/>
                </a:solidFill>
                <a:latin typeface="Courier New" pitchFamily="34" charset="0"/>
                <a:ea typeface="Courier New" pitchFamily="34" charset="-122"/>
                <a:cs typeface="Courier New" pitchFamily="34" charset="-120"/>
              </a:rPr>
              <a:t>CIBLE</a:t>
            </a:r>
            <a:endParaRPr lang="en-US" sz="1000" dirty="0"/>
          </a:p>
        </p:txBody>
      </p:sp>
      <p:sp>
        <p:nvSpPr>
          <p:cNvPr id="9" name="Text 6"/>
          <p:cNvSpPr/>
          <p:nvPr/>
        </p:nvSpPr>
        <p:spPr>
          <a:xfrm>
            <a:off x="566928" y="1645920"/>
            <a:ext cx="11057839" cy="513876"/>
          </a:xfrm>
          <a:prstGeom prst="rect">
            <a:avLst/>
          </a:prstGeom>
          <a:noFill/>
          <a:ln/>
        </p:spPr>
        <p:txBody>
          <a:bodyPr wrap="square" lIns="0" tIns="0" rIns="0" bIns="0" rtlCol="0" anchor="t"/>
          <a:lstStyle/>
          <a:p>
            <a:pPr indent="0" marL="0">
              <a:buNone/>
            </a:pPr>
            <a:r>
              <a:rPr lang="en-US" sz="1250" b="1" dirty="0">
                <a:solidFill>
                  <a:srgbClr val="0E1D28"/>
                </a:solidFill>
                <a:latin typeface="Calibri" pitchFamily="34" charset="0"/>
                <a:ea typeface="Calibri" pitchFamily="34" charset="-122"/>
                <a:cs typeface="Calibri" pitchFamily="34" charset="-120"/>
              </a:rPr>
              <a:t>Niveau actuel / niveau requis, de 0 (novice) à 4 (expert). </a:t>
            </a:r>
            <a:pPr indent="0" marL="0">
              <a:buNone/>
            </a:pPr>
            <a:r>
              <a:rPr lang="en-US" sz="1250" dirty="0">
                <a:solidFill>
                  <a:srgbClr val="17303F"/>
                </a:solidFill>
                <a:latin typeface="Calibri" pitchFamily="34" charset="0"/>
                <a:ea typeface="Calibri" pitchFamily="34" charset="-122"/>
                <a:cs typeface="Calibri" pitchFamily="34" charset="-120"/>
              </a:rPr>
              <a:t>Le niveau requis est celui qui permet de tenir le rôle sans filet : 4 quand la personne est le dernier recours sur cet axe, 3 quand son travail passe en revue, 2 quand il suffit de comprendre pour collaborer.</a:t>
            </a:r>
            <a:endParaRPr lang="en-US" sz="12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66928" y="2360877"/>
          <a:ext cx="7635240" cy="914400"/>
        </p:xfrm>
        <a:graphic>
          <a:graphicData uri="http://schemas.openxmlformats.org/drawingml/2006/table">
            <a:tbl>
              <a:tblPr/>
              <a:tblGrid>
                <a:gridCol w="3154680"/>
                <a:gridCol w="1097280"/>
                <a:gridCol w="1097280"/>
                <a:gridCol w="1097280"/>
                <a:gridCol w="1188720"/>
              </a:tblGrid>
              <a:tr h="44684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Compétence à mobiliser</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0E1D28"/>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Lead / CdP</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0E1D28"/>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Développeur</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0E1D28"/>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Designer</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0E1D28"/>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Écart</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0E1D28"/>
                    </a:solidFill>
                  </a:tcPr>
                </a:tc>
              </a:tr>
              <a:tr h="446848">
                <a:tc>
                  <a:txBody>
                    <a:bodyPr/>
                    <a:lstStyle/>
                    <a:p>
                      <a:pPr indent="0" marL="0">
                        <a:buNone/>
                      </a:pPr>
                      <a:r>
                        <a:rPr lang="en-US" sz="1150" dirty="0">
                          <a:solidFill>
                            <a:srgbClr val="17303F"/>
                          </a:solidFill>
                          <a:latin typeface="Calibri" pitchFamily="34" charset="0"/>
                          <a:ea typeface="Calibri" pitchFamily="34" charset="-122"/>
                          <a:cs typeface="Calibri" pitchFamily="34" charset="-120"/>
                        </a:rPr>
                        <a:t>Architecture hybride et conteneurisation</a:t>
                      </a:r>
                      <a:endParaRPr lang="en-US" sz="11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AE3F2C"/>
                          </a:solidFill>
                          <a:latin typeface="Courier New" pitchFamily="34" charset="0"/>
                          <a:ea typeface="Courier New" pitchFamily="34" charset="-122"/>
                          <a:cs typeface="Courier New" pitchFamily="34" charset="-120"/>
                        </a:rPr>
                        <a:t>3 / 4</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AE3F2C"/>
                          </a:solidFill>
                          <a:latin typeface="Courier New" pitchFamily="34" charset="0"/>
                          <a:ea typeface="Courier New" pitchFamily="34" charset="-122"/>
                          <a:cs typeface="Courier New" pitchFamily="34" charset="-120"/>
                        </a:rPr>
                        <a:t>2 / 3</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B6E7B"/>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150" dirty="0">
                          <a:solidFill>
                            <a:srgbClr val="17303F"/>
                          </a:solidFill>
                          <a:latin typeface="Calibri" pitchFamily="34" charset="0"/>
                          <a:ea typeface="Calibri" pitchFamily="34" charset="-122"/>
                          <a:cs typeface="Calibri" pitchFamily="34" charset="-120"/>
                        </a:rPr>
                        <a:t>Modéré</a:t>
                      </a:r>
                      <a:endParaRPr lang="en-US" sz="11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r>
              <a:tr h="446848">
                <a:tc>
                  <a:txBody>
                    <a:bodyPr/>
                    <a:lstStyle/>
                    <a:p>
                      <a:pPr indent="0" marL="0">
                        <a:buNone/>
                      </a:pPr>
                      <a:r>
                        <a:rPr lang="en-US" sz="1150" dirty="0">
                          <a:solidFill>
                            <a:srgbClr val="17303F"/>
                          </a:solidFill>
                          <a:latin typeface="Calibri" pitchFamily="34" charset="0"/>
                          <a:ea typeface="Calibri" pitchFamily="34" charset="-122"/>
                          <a:cs typeface="Calibri" pitchFamily="34" charset="-120"/>
                        </a:rPr>
                        <a:t>Développement NestJS / TypeScript</a:t>
                      </a:r>
                      <a:endParaRPr lang="en-US" sz="11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5704F"/>
                          </a:solidFill>
                          <a:latin typeface="Courier New" pitchFamily="34" charset="0"/>
                          <a:ea typeface="Courier New" pitchFamily="34" charset="-122"/>
                          <a:cs typeface="Courier New" pitchFamily="34" charset="-120"/>
                        </a:rPr>
                        <a:t>4 / 4</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5704F"/>
                          </a:solidFill>
                          <a:latin typeface="Courier New" pitchFamily="34" charset="0"/>
                          <a:ea typeface="Courier New" pitchFamily="34" charset="-122"/>
                          <a:cs typeface="Courier New" pitchFamily="34" charset="-120"/>
                        </a:rPr>
                        <a:t>3 / 3</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B6E7B"/>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150" dirty="0">
                          <a:solidFill>
                            <a:srgbClr val="17303F"/>
                          </a:solidFill>
                          <a:latin typeface="Calibri" pitchFamily="34" charset="0"/>
                          <a:ea typeface="Calibri" pitchFamily="34" charset="-122"/>
                          <a:cs typeface="Calibri" pitchFamily="34" charset="-120"/>
                        </a:rPr>
                        <a:t>Aucun</a:t>
                      </a:r>
                      <a:endParaRPr lang="en-US" sz="11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r>
              <a:tr h="446848">
                <a:tc>
                  <a:txBody>
                    <a:bodyPr/>
                    <a:lstStyle/>
                    <a:p>
                      <a:pPr indent="0" marL="0">
                        <a:buNone/>
                      </a:pPr>
                      <a:r>
                        <a:rPr lang="en-US" sz="1150" dirty="0">
                          <a:solidFill>
                            <a:srgbClr val="17303F"/>
                          </a:solidFill>
                          <a:latin typeface="Calibri" pitchFamily="34" charset="0"/>
                          <a:ea typeface="Calibri" pitchFamily="34" charset="-122"/>
                          <a:cs typeface="Calibri" pitchFamily="34" charset="-120"/>
                        </a:rPr>
                        <a:t>Algorithmie de scoring, Python / FastAPI</a:t>
                      </a:r>
                      <a:endParaRPr lang="en-US" sz="11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AE3F2C"/>
                          </a:solidFill>
                          <a:latin typeface="Courier New" pitchFamily="34" charset="0"/>
                          <a:ea typeface="Courier New" pitchFamily="34" charset="-122"/>
                          <a:cs typeface="Courier New" pitchFamily="34" charset="-120"/>
                        </a:rPr>
                        <a:t>3 / 4</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AE3F2C"/>
                          </a:solidFill>
                          <a:latin typeface="Courier New" pitchFamily="34" charset="0"/>
                          <a:ea typeface="Courier New" pitchFamily="34" charset="-122"/>
                          <a:cs typeface="Courier New" pitchFamily="34" charset="-120"/>
                        </a:rPr>
                        <a:t>1 / 2</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B6E7B"/>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150" dirty="0">
                          <a:solidFill>
                            <a:srgbClr val="17303F"/>
                          </a:solidFill>
                          <a:latin typeface="Calibri" pitchFamily="34" charset="0"/>
                          <a:ea typeface="Calibri" pitchFamily="34" charset="-122"/>
                          <a:cs typeface="Calibri" pitchFamily="34" charset="-120"/>
                        </a:rPr>
                        <a:t>Modéré</a:t>
                      </a:r>
                      <a:endParaRPr lang="en-US" sz="11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r>
              <a:tr h="446848">
                <a:tc>
                  <a:txBody>
                    <a:bodyPr/>
                    <a:lstStyle/>
                    <a:p>
                      <a:pPr indent="0" marL="0">
                        <a:buNone/>
                      </a:pPr>
                      <a:r>
                        <a:rPr lang="en-US" sz="1150" dirty="0">
                          <a:solidFill>
                            <a:srgbClr val="17303F"/>
                          </a:solidFill>
                          <a:latin typeface="Calibri" pitchFamily="34" charset="0"/>
                          <a:ea typeface="Calibri" pitchFamily="34" charset="-122"/>
                          <a:cs typeface="Calibri" pitchFamily="34" charset="-120"/>
                        </a:rPr>
                        <a:t>Géospatial PostGIS</a:t>
                      </a:r>
                      <a:endParaRPr lang="en-US" sz="11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AE3F2C"/>
                          </a:solidFill>
                          <a:latin typeface="Courier New" pitchFamily="34" charset="0"/>
                          <a:ea typeface="Courier New" pitchFamily="34" charset="-122"/>
                          <a:cs typeface="Courier New" pitchFamily="34" charset="-120"/>
                        </a:rPr>
                        <a:t>2 / 3</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AE3F2C"/>
                          </a:solidFill>
                          <a:latin typeface="Courier New" pitchFamily="34" charset="0"/>
                          <a:ea typeface="Courier New" pitchFamily="34" charset="-122"/>
                          <a:cs typeface="Courier New" pitchFamily="34" charset="-120"/>
                        </a:rPr>
                        <a:t>1 / 2</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B6E7B"/>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150" b="1" dirty="0">
                          <a:solidFill>
                            <a:srgbClr val="AE3F2C"/>
                          </a:solidFill>
                          <a:latin typeface="Calibri" pitchFamily="34" charset="0"/>
                          <a:ea typeface="Calibri" pitchFamily="34" charset="-122"/>
                          <a:cs typeface="Calibri" pitchFamily="34" charset="-120"/>
                        </a:rPr>
                        <a:t>Fragilité unique</a:t>
                      </a:r>
                      <a:endParaRPr lang="en-US" sz="11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r>
              <a:tr h="446848">
                <a:tc>
                  <a:txBody>
                    <a:bodyPr/>
                    <a:lstStyle/>
                    <a:p>
                      <a:pPr indent="0" marL="0">
                        <a:buNone/>
                      </a:pPr>
                      <a:r>
                        <a:rPr lang="en-US" sz="1150" dirty="0">
                          <a:solidFill>
                            <a:srgbClr val="17303F"/>
                          </a:solidFill>
                          <a:latin typeface="Calibri" pitchFamily="34" charset="0"/>
                          <a:ea typeface="Calibri" pitchFamily="34" charset="-122"/>
                          <a:cs typeface="Calibri" pitchFamily="34" charset="-120"/>
                        </a:rPr>
                        <a:t>Sécurité applicative, OWASP et RGPD</a:t>
                      </a:r>
                      <a:endParaRPr lang="en-US" sz="11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AE3F2C"/>
                          </a:solidFill>
                          <a:latin typeface="Courier New" pitchFamily="34" charset="0"/>
                          <a:ea typeface="Courier New" pitchFamily="34" charset="-122"/>
                          <a:cs typeface="Courier New" pitchFamily="34" charset="-120"/>
                        </a:rPr>
                        <a:t>3 / 4</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AE3F2C"/>
                          </a:solidFill>
                          <a:latin typeface="Courier New" pitchFamily="34" charset="0"/>
                          <a:ea typeface="Courier New" pitchFamily="34" charset="-122"/>
                          <a:cs typeface="Courier New" pitchFamily="34" charset="-120"/>
                        </a:rPr>
                        <a:t>2 / 3</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B6E7B"/>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150" dirty="0">
                          <a:solidFill>
                            <a:srgbClr val="17303F"/>
                          </a:solidFill>
                          <a:latin typeface="Calibri" pitchFamily="34" charset="0"/>
                          <a:ea typeface="Calibri" pitchFamily="34" charset="-122"/>
                          <a:cs typeface="Calibri" pitchFamily="34" charset="-120"/>
                        </a:rPr>
                        <a:t>Modéré</a:t>
                      </a:r>
                      <a:endParaRPr lang="en-US" sz="11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r>
              <a:tr h="446848">
                <a:tc>
                  <a:txBody>
                    <a:bodyPr/>
                    <a:lstStyle/>
                    <a:p>
                      <a:pPr indent="0" marL="0">
                        <a:buNone/>
                      </a:pPr>
                      <a:r>
                        <a:rPr lang="en-US" sz="1150" dirty="0">
                          <a:solidFill>
                            <a:srgbClr val="17303F"/>
                          </a:solidFill>
                          <a:latin typeface="Calibri" pitchFamily="34" charset="0"/>
                          <a:ea typeface="Calibri" pitchFamily="34" charset="-122"/>
                          <a:cs typeface="Calibri" pitchFamily="34" charset="-120"/>
                        </a:rPr>
                        <a:t>Accessibilité RGAA 4.1</a:t>
                      </a:r>
                      <a:endParaRPr lang="en-US" sz="11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AE3F2C"/>
                          </a:solidFill>
                          <a:latin typeface="Courier New" pitchFamily="34" charset="0"/>
                          <a:ea typeface="Courier New" pitchFamily="34" charset="-122"/>
                          <a:cs typeface="Courier New" pitchFamily="34" charset="-120"/>
                        </a:rPr>
                        <a:t>2 / 3</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AE3F2C"/>
                          </a:solidFill>
                          <a:latin typeface="Courier New" pitchFamily="34" charset="0"/>
                          <a:ea typeface="Courier New" pitchFamily="34" charset="-122"/>
                          <a:cs typeface="Courier New" pitchFamily="34" charset="-120"/>
                        </a:rPr>
                        <a:t>2 / 3</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AE3F2C"/>
                          </a:solidFill>
                          <a:latin typeface="Courier New" pitchFamily="34" charset="0"/>
                          <a:ea typeface="Courier New" pitchFamily="34" charset="-122"/>
                          <a:cs typeface="Courier New" pitchFamily="34" charset="-120"/>
                        </a:rPr>
                        <a:t>2 / 4</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150" b="1" dirty="0">
                          <a:solidFill>
                            <a:srgbClr val="AE3F2C"/>
                          </a:solidFill>
                          <a:latin typeface="Calibri" pitchFamily="34" charset="0"/>
                          <a:ea typeface="Calibri" pitchFamily="34" charset="-122"/>
                          <a:cs typeface="Calibri" pitchFamily="34" charset="-120"/>
                        </a:rPr>
                        <a:t>Critique</a:t>
                      </a:r>
                      <a:endParaRPr lang="en-US" sz="11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r>
              <a:tr h="446848">
                <a:tc>
                  <a:txBody>
                    <a:bodyPr/>
                    <a:lstStyle/>
                    <a:p>
                      <a:pPr indent="0" marL="0">
                        <a:buNone/>
                      </a:pPr>
                      <a:r>
                        <a:rPr lang="en-US" sz="1150" dirty="0">
                          <a:solidFill>
                            <a:srgbClr val="17303F"/>
                          </a:solidFill>
                          <a:latin typeface="Calibri" pitchFamily="34" charset="0"/>
                          <a:ea typeface="Calibri" pitchFamily="34" charset="-122"/>
                          <a:cs typeface="Calibri" pitchFamily="34" charset="-120"/>
                        </a:rPr>
                        <a:t>Observabilité et supervision</a:t>
                      </a:r>
                      <a:endParaRPr lang="en-US" sz="11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AE3F2C"/>
                          </a:solidFill>
                          <a:latin typeface="Courier New" pitchFamily="34" charset="0"/>
                          <a:ea typeface="Courier New" pitchFamily="34" charset="-122"/>
                          <a:cs typeface="Courier New" pitchFamily="34" charset="-120"/>
                        </a:rPr>
                        <a:t>1 / 4</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AE3F2C"/>
                          </a:solidFill>
                          <a:latin typeface="Courier New" pitchFamily="34" charset="0"/>
                          <a:ea typeface="Courier New" pitchFamily="34" charset="-122"/>
                          <a:cs typeface="Courier New" pitchFamily="34" charset="-120"/>
                        </a:rPr>
                        <a:t>1 / 3</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B6E7B"/>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150" b="1" dirty="0">
                          <a:solidFill>
                            <a:srgbClr val="AE3F2C"/>
                          </a:solidFill>
                          <a:latin typeface="Calibri" pitchFamily="34" charset="0"/>
                          <a:ea typeface="Calibri" pitchFamily="34" charset="-122"/>
                          <a:cs typeface="Calibri" pitchFamily="34" charset="-120"/>
                        </a:rPr>
                        <a:t>Critique</a:t>
                      </a:r>
                      <a:endParaRPr lang="en-US" sz="11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r>
              <a:tr h="446848">
                <a:tc>
                  <a:txBody>
                    <a:bodyPr/>
                    <a:lstStyle/>
                    <a:p>
                      <a:pPr indent="0" marL="0">
                        <a:buNone/>
                      </a:pPr>
                      <a:r>
                        <a:rPr lang="en-US" sz="1150" dirty="0">
                          <a:solidFill>
                            <a:srgbClr val="17303F"/>
                          </a:solidFill>
                          <a:latin typeface="Calibri" pitchFamily="34" charset="0"/>
                          <a:ea typeface="Calibri" pitchFamily="34" charset="-122"/>
                          <a:cs typeface="Calibri" pitchFamily="34" charset="-120"/>
                        </a:rPr>
                        <a:t>UX et gamification</a:t>
                      </a:r>
                      <a:endParaRPr lang="en-US" sz="11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AE3F2C"/>
                          </a:solidFill>
                          <a:latin typeface="Courier New" pitchFamily="34" charset="0"/>
                          <a:ea typeface="Courier New" pitchFamily="34" charset="-122"/>
                          <a:cs typeface="Courier New" pitchFamily="34" charset="-120"/>
                        </a:rPr>
                        <a:t>2 / 3</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B6E7B"/>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5704F"/>
                          </a:solidFill>
                          <a:latin typeface="Courier New" pitchFamily="34" charset="0"/>
                          <a:ea typeface="Courier New" pitchFamily="34" charset="-122"/>
                          <a:cs typeface="Courier New" pitchFamily="34" charset="-120"/>
                        </a:rPr>
                        <a:t>4 / 4</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150" dirty="0">
                          <a:solidFill>
                            <a:srgbClr val="17303F"/>
                          </a:solidFill>
                          <a:latin typeface="Calibri" pitchFamily="34" charset="0"/>
                          <a:ea typeface="Calibri" pitchFamily="34" charset="-122"/>
                          <a:cs typeface="Calibri" pitchFamily="34" charset="-120"/>
                        </a:rPr>
                        <a:t>Aucun</a:t>
                      </a:r>
                      <a:endParaRPr lang="en-US" sz="11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r>
            </a:tbl>
          </a:graphicData>
        </a:graphic>
      </p:graphicFrame>
      <p:sp>
        <p:nvSpPr>
          <p:cNvPr id="11" name="Shape 7"/>
          <p:cNvSpPr/>
          <p:nvPr/>
        </p:nvSpPr>
        <p:spPr>
          <a:xfrm>
            <a:off x="8430768" y="2360877"/>
            <a:ext cx="3193999" cy="4021635"/>
          </a:xfrm>
          <a:prstGeom prst="roundRect">
            <a:avLst>
              <a:gd name="adj" fmla="val 1002"/>
            </a:avLst>
          </a:prstGeom>
          <a:solidFill>
            <a:srgbClr val="FBF3E6"/>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12" name="Text 8"/>
          <p:cNvSpPr/>
          <p:nvPr/>
        </p:nvSpPr>
        <p:spPr>
          <a:xfrm>
            <a:off x="8659368" y="2539617"/>
            <a:ext cx="2736799" cy="379821"/>
          </a:xfrm>
          <a:prstGeom prst="rect">
            <a:avLst/>
          </a:prstGeom>
          <a:noFill/>
          <a:ln/>
        </p:spPr>
        <p:txBody>
          <a:bodyPr wrap="square" lIns="0" tIns="0" rIns="0" bIns="0" rtlCol="0" anchor="ctr"/>
          <a:lstStyle/>
          <a:p>
            <a:pPr indent="0" marL="0">
              <a:buNone/>
            </a:pPr>
            <a:r>
              <a:rPr lang="en-US" sz="1450" b="1" dirty="0">
                <a:solidFill>
                  <a:srgbClr val="0E1D28"/>
                </a:solidFill>
                <a:latin typeface="Calibri" pitchFamily="34" charset="0"/>
                <a:ea typeface="Calibri" pitchFamily="34" charset="-122"/>
                <a:cs typeface="Calibri" pitchFamily="34" charset="-120"/>
              </a:rPr>
              <a:t>L'écart le plus coûteux</a:t>
            </a:r>
            <a:endParaRPr lang="en-US" sz="1450" dirty="0"/>
          </a:p>
        </p:txBody>
      </p:sp>
      <p:sp>
        <p:nvSpPr>
          <p:cNvPr id="13" name="Text 9"/>
          <p:cNvSpPr/>
          <p:nvPr/>
        </p:nvSpPr>
        <p:spPr>
          <a:xfrm>
            <a:off x="8659368" y="2986465"/>
            <a:ext cx="2736799" cy="3239650"/>
          </a:xfrm>
          <a:prstGeom prst="rect">
            <a:avLst/>
          </a:prstGeom>
          <a:noFill/>
          <a:ln/>
        </p:spPr>
        <p:txBody>
          <a:bodyPr wrap="square" lIns="0" tIns="0" rIns="0" bIns="0" rtlCol="0" anchor="t"/>
          <a:lstStyle/>
          <a:p>
            <a:pPr indent="0" marL="0">
              <a:spcAft>
                <a:spcPts val="400"/>
              </a:spcAft>
              <a:buNone/>
            </a:pPr>
            <a:r>
              <a:rPr lang="en-US" sz="1300" b="1" dirty="0">
                <a:solidFill>
                  <a:srgbClr val="0E1D28"/>
                </a:solidFill>
                <a:latin typeface="Calibri" pitchFamily="34" charset="0"/>
                <a:ea typeface="Calibri" pitchFamily="34" charset="-122"/>
                <a:cs typeface="Calibri" pitchFamily="34" charset="-120"/>
              </a:rPr>
              <a:t>1. Observabilité — acquis nul.</a:t>
            </a:r>
            <a:endParaRPr lang="en-US" sz="1300" dirty="0"/>
          </a:p>
          <a:p>
            <a:pPr indent="0" marL="0">
              <a:spcAft>
                <a:spcPts val="400"/>
              </a:spcAft>
              <a:buNone/>
            </a:pPr>
            <a:r>
              <a:rPr lang="en-US" sz="1300" dirty="0">
                <a:solidFill>
                  <a:srgbClr val="17303F"/>
                </a:solidFill>
                <a:latin typeface="Calibri" pitchFamily="34" charset="0"/>
                <a:ea typeface="Calibri" pitchFamily="34" charset="-122"/>
                <a:cs typeface="Calibri" pitchFamily="34" charset="-120"/>
              </a:rPr>
              <a:t>27 jours en production sans supervision.</a:t>
            </a:r>
            <a:endParaRPr lang="en-US" sz="1300" dirty="0"/>
          </a:p>
          <a:p>
            <a:pPr indent="0" marL="0">
              <a:spcAft>
                <a:spcPts val="400"/>
              </a:spcAft>
              <a:buNone/>
            </a:pPr>
            <a:endParaRPr lang="en-US" sz="1300" dirty="0"/>
          </a:p>
          <a:p>
            <a:pPr indent="0" marL="0">
              <a:spcAft>
                <a:spcPts val="400"/>
              </a:spcAft>
              <a:buNone/>
            </a:pPr>
            <a:r>
              <a:rPr lang="en-US" sz="1300" b="1" dirty="0">
                <a:solidFill>
                  <a:srgbClr val="0E1D28"/>
                </a:solidFill>
                <a:latin typeface="Calibri" pitchFamily="34" charset="0"/>
                <a:ea typeface="Calibri" pitchFamily="34" charset="-122"/>
                <a:cs typeface="Calibri" pitchFamily="34" charset="-120"/>
              </a:rPr>
              <a:t>2. Géospatial PostGIS.</a:t>
            </a:r>
            <a:endParaRPr lang="en-US" sz="1300" dirty="0"/>
          </a:p>
          <a:p>
            <a:pPr indent="0" marL="0">
              <a:spcAft>
                <a:spcPts val="400"/>
              </a:spcAft>
              <a:buNone/>
            </a:pPr>
            <a:r>
              <a:rPr lang="en-US" sz="1300" dirty="0">
                <a:solidFill>
                  <a:srgbClr val="17303F"/>
                </a:solidFill>
                <a:latin typeface="Calibri" pitchFamily="34" charset="0"/>
                <a:ea typeface="Calibri" pitchFamily="34" charset="-122"/>
                <a:cs typeface="Calibri" pitchFamily="34" charset="-120"/>
              </a:rPr>
              <a:t>Un seul porteur : fragilité unique.</a:t>
            </a:r>
            <a:endParaRPr lang="en-US" sz="1300" dirty="0"/>
          </a:p>
          <a:p>
            <a:pPr indent="0" marL="0">
              <a:spcAft>
                <a:spcPts val="400"/>
              </a:spcAft>
              <a:buNone/>
            </a:pPr>
            <a:endParaRPr lang="en-US" sz="1300" dirty="0"/>
          </a:p>
          <a:p>
            <a:pPr indent="0" marL="0">
              <a:spcAft>
                <a:spcPts val="400"/>
              </a:spcAft>
              <a:buNone/>
            </a:pPr>
            <a:r>
              <a:rPr lang="en-US" sz="1300" b="1" dirty="0">
                <a:solidFill>
                  <a:srgbClr val="0E1D28"/>
                </a:solidFill>
                <a:latin typeface="Calibri" pitchFamily="34" charset="0"/>
                <a:ea typeface="Calibri" pitchFamily="34" charset="-122"/>
                <a:cs typeface="Calibri" pitchFamily="34" charset="-120"/>
              </a:rPr>
              <a:t>3. Accessibilité RGAA.</a:t>
            </a:r>
            <a:endParaRPr lang="en-US" sz="1300" dirty="0"/>
          </a:p>
          <a:p>
            <a:pPr indent="0" marL="0">
              <a:spcAft>
                <a:spcPts val="400"/>
              </a:spcAft>
              <a:buNone/>
            </a:pPr>
            <a:r>
              <a:rPr lang="en-US" sz="1300" dirty="0">
                <a:solidFill>
                  <a:srgbClr val="17303F"/>
                </a:solidFill>
                <a:latin typeface="Calibri" pitchFamily="34" charset="0"/>
                <a:ea typeface="Calibri" pitchFamily="34" charset="-122"/>
                <a:cs typeface="Calibri" pitchFamily="34" charset="-120"/>
              </a:rPr>
              <a:t>Niveau 2 pour un requis 3, seuil bloquant.</a:t>
            </a:r>
            <a:endParaRPr lang="en-US" sz="1300" dirty="0"/>
          </a:p>
        </p:txBody>
      </p:sp>
      <p:sp>
        <p:nvSpPr>
          <p:cNvPr id="14" name="Text 10"/>
          <p:cNvSpPr/>
          <p:nvPr/>
        </p:nvSpPr>
        <p:spPr>
          <a:xfrm>
            <a:off x="10984687" y="6419088"/>
            <a:ext cx="640080" cy="256032"/>
          </a:xfrm>
          <a:prstGeom prst="rect">
            <a:avLst/>
          </a:prstGeom>
          <a:noFill/>
          <a:ln/>
        </p:spPr>
        <p:txBody>
          <a:bodyPr wrap="square" lIns="0" tIns="0" rIns="0" bIns="0" rtlCol="0" anchor="ctr"/>
          <a:lstStyle/>
          <a:p>
            <a:pPr algn="r" indent="0" marL="0">
              <a:buNone/>
            </a:pPr>
            <a:r>
              <a:rPr lang="en-US" sz="1000" dirty="0">
                <a:solidFill>
                  <a:srgbClr val="9FB2BD"/>
                </a:solidFill>
                <a:latin typeface="Courier New" pitchFamily="34" charset="0"/>
                <a:ea typeface="Courier New" pitchFamily="34" charset="-122"/>
                <a:cs typeface="Courier New"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66928" y="384048"/>
            <a:ext cx="7740487" cy="219456"/>
          </a:xfrm>
          <a:prstGeom prst="rect">
            <a:avLst/>
          </a:prstGeom>
          <a:noFill/>
          <a:ln/>
        </p:spPr>
        <p:txBody>
          <a:bodyPr wrap="square" lIns="0" tIns="0" rIns="0" bIns="0" rtlCol="0" anchor="ctr"/>
          <a:lstStyle/>
          <a:p>
            <a:pPr indent="0" marL="0">
              <a:buNone/>
            </a:pPr>
            <a:r>
              <a:rPr lang="en-US" sz="1050" b="1" spc="160" kern="0" dirty="0">
                <a:solidFill>
                  <a:srgbClr val="1F5468"/>
                </a:solidFill>
                <a:latin typeface="Courier New" pitchFamily="34" charset="0"/>
                <a:ea typeface="Courier New" pitchFamily="34" charset="-122"/>
                <a:cs typeface="Courier New" pitchFamily="34" charset="-120"/>
              </a:rPr>
              <a:t>PARTIE 3 · MANAGER</a:t>
            </a:r>
            <a:endParaRPr lang="en-US" sz="1050" dirty="0"/>
          </a:p>
        </p:txBody>
      </p:sp>
      <p:sp>
        <p:nvSpPr>
          <p:cNvPr id="4" name="Text 1"/>
          <p:cNvSpPr/>
          <p:nvPr/>
        </p:nvSpPr>
        <p:spPr>
          <a:xfrm>
            <a:off x="566928" y="621792"/>
            <a:ext cx="8403958" cy="731520"/>
          </a:xfrm>
          <a:prstGeom prst="rect">
            <a:avLst/>
          </a:prstGeom>
          <a:noFill/>
          <a:ln/>
        </p:spPr>
        <p:txBody>
          <a:bodyPr wrap="square" lIns="0" tIns="0" rIns="0" bIns="0" rtlCol="0" anchor="t"/>
          <a:lstStyle/>
          <a:p>
            <a:pPr indent="0" marL="0">
              <a:buNone/>
            </a:pPr>
            <a:r>
              <a:rPr lang="en-US" sz="2900" b="1" dirty="0">
                <a:solidFill>
                  <a:srgbClr val="0E1D28"/>
                </a:solidFill>
                <a:latin typeface="Cambria" pitchFamily="34" charset="0"/>
                <a:ea typeface="Cambria" pitchFamily="34" charset="-122"/>
                <a:cs typeface="Cambria" pitchFamily="34" charset="-120"/>
              </a:rPr>
              <a:t>Le plan de développement des compétences</a:t>
            </a:r>
            <a:endParaRPr lang="en-US" sz="2900" dirty="0"/>
          </a:p>
        </p:txBody>
      </p:sp>
      <p:sp>
        <p:nvSpPr>
          <p:cNvPr id="5" name="Shape 2"/>
          <p:cNvSpPr/>
          <p:nvPr/>
        </p:nvSpPr>
        <p:spPr>
          <a:xfrm>
            <a:off x="10573207" y="384048"/>
            <a:ext cx="1051560" cy="310896"/>
          </a:xfrm>
          <a:prstGeom prst="roundRect">
            <a:avLst>
              <a:gd name="adj" fmla="val 17647"/>
            </a:avLst>
          </a:prstGeom>
          <a:solidFill>
            <a:srgbClr val="E6EDF1"/>
          </a:solidFill>
          <a:ln w="9525">
            <a:solidFill>
              <a:srgbClr val="D5DFE5"/>
            </a:solidFill>
            <a:prstDash val="solid"/>
          </a:ln>
        </p:spPr>
      </p:sp>
      <p:sp>
        <p:nvSpPr>
          <p:cNvPr id="6" name="Text 3"/>
          <p:cNvSpPr/>
          <p:nvPr/>
        </p:nvSpPr>
        <p:spPr>
          <a:xfrm>
            <a:off x="10573207" y="384048"/>
            <a:ext cx="1051560" cy="310896"/>
          </a:xfrm>
          <a:prstGeom prst="rect">
            <a:avLst/>
          </a:prstGeom>
          <a:noFill/>
          <a:ln/>
        </p:spPr>
        <p:txBody>
          <a:bodyPr wrap="square" lIns="0" tIns="0" rIns="0" bIns="0" rtlCol="0" anchor="ctr"/>
          <a:lstStyle/>
          <a:p>
            <a:pPr algn="ctr" indent="0" marL="0">
              <a:buNone/>
            </a:pPr>
            <a:r>
              <a:rPr lang="en-US" sz="1000" b="1" dirty="0">
                <a:solidFill>
                  <a:srgbClr val="1F5468"/>
                </a:solidFill>
                <a:latin typeface="Courier New" pitchFamily="34" charset="0"/>
                <a:ea typeface="Courier New" pitchFamily="34" charset="-122"/>
                <a:cs typeface="Courier New" pitchFamily="34" charset="-120"/>
              </a:rPr>
              <a:t>C3.3.2</a:t>
            </a:r>
            <a:endParaRPr lang="en-US" sz="1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66928" y="1481328"/>
          <a:ext cx="11057839" cy="914400"/>
        </p:xfrm>
        <a:graphic>
          <a:graphicData uri="http://schemas.openxmlformats.org/drawingml/2006/table">
            <a:tbl>
              <a:tblPr/>
              <a:tblGrid>
                <a:gridCol w="1691640"/>
                <a:gridCol w="4023360"/>
                <a:gridCol w="2788920"/>
                <a:gridCol w="1600200"/>
                <a:gridCol w="960120"/>
              </a:tblGrid>
              <a:tr h="54864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Écart traité</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0E1D28"/>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Action de montée en compétence</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0E1D28"/>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Modalité</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0E1D28"/>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Échéance</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0E1D28"/>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État</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0E1D28"/>
                    </a:solidFill>
                  </a:tcPr>
                </a:tc>
              </a:tr>
              <a:tr h="548640">
                <a:tc>
                  <a:txBody>
                    <a:bodyPr/>
                    <a:lstStyle/>
                    <a:p>
                      <a:pPr indent="0" marL="0">
                        <a:buNone/>
                      </a:pPr>
                      <a:r>
                        <a:rPr lang="en-US" sz="1050" dirty="0">
                          <a:solidFill>
                            <a:srgbClr val="17303F"/>
                          </a:solidFill>
                          <a:latin typeface="Calibri" pitchFamily="34" charset="0"/>
                          <a:ea typeface="Calibri" pitchFamily="34" charset="-122"/>
                          <a:cs typeface="Calibri" pitchFamily="34" charset="-120"/>
                        </a:rPr>
                        <a:t>Observabilité</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050" dirty="0">
                          <a:solidFill>
                            <a:srgbClr val="17303F"/>
                          </a:solidFill>
                          <a:latin typeface="Calibri" pitchFamily="34" charset="0"/>
                          <a:ea typeface="Calibri" pitchFamily="34" charset="-122"/>
                          <a:cs typeface="Calibri" pitchFamily="34" charset="-120"/>
                        </a:rPr>
                        <a:t>Instrumentation Prometheus, Loki et Grafana, puis rédaction du runbook d'exploitation</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050" dirty="0">
                          <a:solidFill>
                            <a:srgbClr val="17303F"/>
                          </a:solidFill>
                          <a:latin typeface="Calibri" pitchFamily="34" charset="0"/>
                          <a:ea typeface="Calibri" pitchFamily="34" charset="-122"/>
                          <a:cs typeface="Calibri" pitchFamily="34" charset="-120"/>
                        </a:rPr>
                        <a:t>Auto-formation encadrée par un livrable documentaire</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050" dirty="0">
                          <a:solidFill>
                            <a:srgbClr val="17303F"/>
                          </a:solidFill>
                          <a:latin typeface="Calibri" pitchFamily="34" charset="0"/>
                          <a:ea typeface="Calibri" pitchFamily="34" charset="-122"/>
                          <a:cs typeface="Calibri" pitchFamily="34" charset="-120"/>
                        </a:rPr>
                        <a:t>Avant mise en production</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050" b="1" dirty="0">
                          <a:solidFill>
                            <a:srgbClr val="35704F"/>
                          </a:solidFill>
                          <a:latin typeface="Calibri" pitchFamily="34" charset="0"/>
                          <a:ea typeface="Calibri" pitchFamily="34" charset="-122"/>
                          <a:cs typeface="Calibri" pitchFamily="34" charset="-120"/>
                        </a:rPr>
                        <a:t>Réalisé</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r>
              <a:tr h="548640">
                <a:tc>
                  <a:txBody>
                    <a:bodyPr/>
                    <a:lstStyle/>
                    <a:p>
                      <a:pPr indent="0" marL="0">
                        <a:buNone/>
                      </a:pPr>
                      <a:r>
                        <a:rPr lang="en-US" sz="1050" dirty="0">
                          <a:solidFill>
                            <a:srgbClr val="17303F"/>
                          </a:solidFill>
                          <a:latin typeface="Calibri" pitchFamily="34" charset="0"/>
                          <a:ea typeface="Calibri" pitchFamily="34" charset="-122"/>
                          <a:cs typeface="Calibri" pitchFamily="34" charset="-120"/>
                        </a:rPr>
                        <a:t>Géospatial PostGIS</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050" dirty="0">
                          <a:solidFill>
                            <a:srgbClr val="17303F"/>
                          </a:solidFill>
                          <a:latin typeface="Calibri" pitchFamily="34" charset="0"/>
                          <a:ea typeface="Calibri" pitchFamily="34" charset="-122"/>
                          <a:cs typeface="Calibri" pitchFamily="34" charset="-120"/>
                        </a:rPr>
                        <a:t>Programmation en binôme sur le module de recherche, puis rotation sur le scoring</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050" dirty="0">
                          <a:solidFill>
                            <a:srgbClr val="17303F"/>
                          </a:solidFill>
                          <a:latin typeface="Calibri" pitchFamily="34" charset="0"/>
                          <a:ea typeface="Calibri" pitchFamily="34" charset="-122"/>
                          <a:cs typeface="Calibri" pitchFamily="34" charset="-120"/>
                        </a:rPr>
                        <a:t>Binômage, pour supprimer le point de fragilité unique</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050" dirty="0">
                          <a:solidFill>
                            <a:srgbClr val="17303F"/>
                          </a:solidFill>
                          <a:latin typeface="Calibri" pitchFamily="34" charset="0"/>
                          <a:ea typeface="Calibri" pitchFamily="34" charset="-122"/>
                          <a:cs typeface="Calibri" pitchFamily="34" charset="-120"/>
                        </a:rPr>
                        <a:t>Sprints 3 et 4</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050" dirty="0">
                          <a:solidFill>
                            <a:srgbClr val="1F5468"/>
                          </a:solidFill>
                          <a:latin typeface="Calibri" pitchFamily="34" charset="0"/>
                          <a:ea typeface="Calibri" pitchFamily="34" charset="-122"/>
                          <a:cs typeface="Calibri" pitchFamily="34" charset="-120"/>
                        </a:rPr>
                        <a:t>Planifié</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r>
              <a:tr h="548640">
                <a:tc>
                  <a:txBody>
                    <a:bodyPr/>
                    <a:lstStyle/>
                    <a:p>
                      <a:pPr indent="0" marL="0">
                        <a:buNone/>
                      </a:pPr>
                      <a:r>
                        <a:rPr lang="en-US" sz="1050" dirty="0">
                          <a:solidFill>
                            <a:srgbClr val="17303F"/>
                          </a:solidFill>
                          <a:latin typeface="Calibri" pitchFamily="34" charset="0"/>
                          <a:ea typeface="Calibri" pitchFamily="34" charset="-122"/>
                          <a:cs typeface="Calibri" pitchFamily="34" charset="-120"/>
                        </a:rPr>
                        <a:t>Accessibilité RGAA</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050" dirty="0">
                          <a:solidFill>
                            <a:srgbClr val="17303F"/>
                          </a:solidFill>
                          <a:latin typeface="Calibri" pitchFamily="34" charset="0"/>
                          <a:ea typeface="Calibri" pitchFamily="34" charset="-122"/>
                          <a:cs typeface="Calibri" pitchFamily="34" charset="-120"/>
                        </a:rPr>
                        <a:t>Formation au référentiel RGAA 4.1, doublée d'un audit automatisé bloquant en intégration</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050" dirty="0">
                          <a:solidFill>
                            <a:srgbClr val="17303F"/>
                          </a:solidFill>
                          <a:latin typeface="Calibri" pitchFamily="34" charset="0"/>
                          <a:ea typeface="Calibri" pitchFamily="34" charset="-122"/>
                          <a:cs typeface="Calibri" pitchFamily="34" charset="-120"/>
                        </a:rPr>
                        <a:t>Formation en ligne gratuite, ressources publiques</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050" dirty="0">
                          <a:solidFill>
                            <a:srgbClr val="17303F"/>
                          </a:solidFill>
                          <a:latin typeface="Calibri" pitchFamily="34" charset="0"/>
                          <a:ea typeface="Calibri" pitchFamily="34" charset="-122"/>
                          <a:cs typeface="Calibri" pitchFamily="34" charset="-120"/>
                        </a:rPr>
                        <a:t>Avant le jalon J4</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050" b="1" dirty="0">
                          <a:solidFill>
                            <a:srgbClr val="35704F"/>
                          </a:solidFill>
                          <a:latin typeface="Calibri" pitchFamily="34" charset="0"/>
                          <a:ea typeface="Calibri" pitchFamily="34" charset="-122"/>
                          <a:cs typeface="Calibri" pitchFamily="34" charset="-120"/>
                        </a:rPr>
                        <a:t>Réalisé</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r>
              <a:tr h="548640">
                <a:tc>
                  <a:txBody>
                    <a:bodyPr/>
                    <a:lstStyle/>
                    <a:p>
                      <a:pPr indent="0" marL="0">
                        <a:buNone/>
                      </a:pPr>
                      <a:r>
                        <a:rPr lang="en-US" sz="1050" dirty="0">
                          <a:solidFill>
                            <a:srgbClr val="17303F"/>
                          </a:solidFill>
                          <a:latin typeface="Calibri" pitchFamily="34" charset="0"/>
                          <a:ea typeface="Calibri" pitchFamily="34" charset="-122"/>
                          <a:cs typeface="Calibri" pitchFamily="34" charset="-120"/>
                        </a:rPr>
                        <a:t>Sécurité et dépendances</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050" dirty="0">
                          <a:solidFill>
                            <a:srgbClr val="17303F"/>
                          </a:solidFill>
                          <a:latin typeface="Calibri" pitchFamily="34" charset="0"/>
                          <a:ea typeface="Calibri" pitchFamily="34" charset="-122"/>
                          <a:cs typeface="Calibri" pitchFamily="34" charset="-120"/>
                        </a:rPr>
                        <a:t>Politique de mise à jour formalisée, veille outillée sur quatre écosystèmes</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050" dirty="0">
                          <a:solidFill>
                            <a:srgbClr val="17303F"/>
                          </a:solidFill>
                          <a:latin typeface="Calibri" pitchFamily="34" charset="0"/>
                          <a:ea typeface="Calibri" pitchFamily="34" charset="-122"/>
                          <a:cs typeface="Calibri" pitchFamily="34" charset="-120"/>
                        </a:rPr>
                        <a:t>Procédure écrite et automatisation</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050" dirty="0">
                          <a:solidFill>
                            <a:srgbClr val="17303F"/>
                          </a:solidFill>
                          <a:latin typeface="Calibri" pitchFamily="34" charset="0"/>
                          <a:ea typeface="Calibri" pitchFamily="34" charset="-122"/>
                          <a:cs typeface="Calibri" pitchFamily="34" charset="-120"/>
                        </a:rPr>
                        <a:t>Continu</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050" b="1" dirty="0">
                          <a:solidFill>
                            <a:srgbClr val="35704F"/>
                          </a:solidFill>
                          <a:latin typeface="Calibri" pitchFamily="34" charset="0"/>
                          <a:ea typeface="Calibri" pitchFamily="34" charset="-122"/>
                          <a:cs typeface="Calibri" pitchFamily="34" charset="-120"/>
                        </a:rPr>
                        <a:t>Réalisé</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r>
              <a:tr h="548640">
                <a:tc>
                  <a:txBody>
                    <a:bodyPr/>
                    <a:lstStyle/>
                    <a:p>
                      <a:pPr indent="0" marL="0">
                        <a:buNone/>
                      </a:pPr>
                      <a:r>
                        <a:rPr lang="en-US" sz="1050" dirty="0">
                          <a:solidFill>
                            <a:srgbClr val="17303F"/>
                          </a:solidFill>
                          <a:latin typeface="Calibri" pitchFamily="34" charset="0"/>
                          <a:ea typeface="Calibri" pitchFamily="34" charset="-122"/>
                          <a:cs typeface="Calibri" pitchFamily="34" charset="-120"/>
                        </a:rPr>
                        <a:t>Renfort à recruter</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050" dirty="0">
                          <a:solidFill>
                            <a:srgbClr val="17303F"/>
                          </a:solidFill>
                          <a:latin typeface="Calibri" pitchFamily="34" charset="0"/>
                          <a:ea typeface="Calibri" pitchFamily="34" charset="-122"/>
                          <a:cs typeface="Calibri" pitchFamily="34" charset="-120"/>
                        </a:rPr>
                        <a:t>Profil DevOps à temps plein pour la phase de passage à l'échelle</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050" dirty="0">
                          <a:solidFill>
                            <a:srgbClr val="17303F"/>
                          </a:solidFill>
                          <a:latin typeface="Calibri" pitchFamily="34" charset="0"/>
                          <a:ea typeface="Calibri" pitchFamily="34" charset="-122"/>
                          <a:cs typeface="Calibri" pitchFamily="34" charset="-120"/>
                        </a:rPr>
                        <a:t>Fiche de poste transmise au service RH</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050" dirty="0">
                          <a:solidFill>
                            <a:srgbClr val="17303F"/>
                          </a:solidFill>
                          <a:latin typeface="Calibri" pitchFamily="34" charset="0"/>
                          <a:ea typeface="Calibri" pitchFamily="34" charset="-122"/>
                          <a:cs typeface="Calibri" pitchFamily="34" charset="-120"/>
                        </a:rPr>
                        <a:t>Lot 2</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c>
                  <a:txBody>
                    <a:bodyPr/>
                    <a:lstStyle/>
                    <a:p>
                      <a:pPr indent="0" marL="0">
                        <a:buNone/>
                      </a:pPr>
                      <a:r>
                        <a:rPr lang="en-US" sz="1050" dirty="0">
                          <a:solidFill>
                            <a:srgbClr val="1F5468"/>
                          </a:solidFill>
                          <a:latin typeface="Calibri" pitchFamily="34" charset="0"/>
                          <a:ea typeface="Calibri" pitchFamily="34" charset="-122"/>
                          <a:cs typeface="Calibri" pitchFamily="34" charset="-120"/>
                        </a:rPr>
                        <a:t>Transmis</a:t>
                      </a:r>
                      <a:endParaRPr lang="en-US" sz="1050" dirty="0">
                        <a:latin typeface="Calibri" charset="0"/>
                        <a:ea typeface="Calibri" charset="0"/>
                        <a:cs typeface="Calibri" charset="0"/>
                      </a:endParaRPr>
                    </a:p>
                  </a:txBody>
                  <a:tcPr marL="91440" marR="91440" marT="45720" marB="45720" anchor="ctr">
                    <a:lnL w="6350" cap="flat" cmpd="sng" algn="ctr">
                      <a:solidFill>
                        <a:srgbClr val="D5DFE5"/>
                      </a:solidFill>
                      <a:prstDash val="solid"/>
                      <a:round/>
                      <a:headEnd type="none" w="med" len="med"/>
                      <a:tailEnd type="none" w="med" len="med"/>
                    </a:lnL>
                    <a:lnR w="6350" cap="flat" cmpd="sng" algn="ctr">
                      <a:solidFill>
                        <a:srgbClr val="D5DFE5"/>
                      </a:solidFill>
                      <a:prstDash val="solid"/>
                      <a:round/>
                      <a:headEnd type="none" w="med" len="med"/>
                      <a:tailEnd type="none" w="med" len="med"/>
                    </a:lnR>
                    <a:lnT w="6350" cap="flat" cmpd="sng" algn="ctr">
                      <a:solidFill>
                        <a:srgbClr val="D5DFE5"/>
                      </a:solidFill>
                      <a:prstDash val="solid"/>
                      <a:round/>
                      <a:headEnd type="none" w="med" len="med"/>
                      <a:tailEnd type="none" w="med" len="med"/>
                    </a:lnT>
                    <a:lnB w="6350" cap="flat" cmpd="sng" algn="ctr">
                      <a:solidFill>
                        <a:srgbClr val="D5DFE5"/>
                      </a:solidFill>
                      <a:prstDash val="solid"/>
                      <a:round/>
                      <a:headEnd type="none" w="med" len="med"/>
                      <a:tailEnd type="none" w="med" len="med"/>
                    </a:lnB>
                    <a:solidFill>
                      <a:srgbClr val="FFFFFF"/>
                    </a:solidFill>
                  </a:tcPr>
                </a:tc>
              </a:tr>
            </a:tbl>
          </a:graphicData>
        </a:graphic>
      </p:graphicFrame>
      <p:sp>
        <p:nvSpPr>
          <p:cNvPr id="8" name="Shape 4"/>
          <p:cNvSpPr/>
          <p:nvPr/>
        </p:nvSpPr>
        <p:spPr>
          <a:xfrm>
            <a:off x="566928" y="5102352"/>
            <a:ext cx="11057839" cy="1133856"/>
          </a:xfrm>
          <a:prstGeom prst="roundRect">
            <a:avLst>
              <a:gd name="adj" fmla="val 2823"/>
            </a:avLst>
          </a:prstGeom>
          <a:solidFill>
            <a:srgbClr val="FBF3E6"/>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9" name="Text 5"/>
          <p:cNvSpPr/>
          <p:nvPr/>
        </p:nvSpPr>
        <p:spPr>
          <a:xfrm>
            <a:off x="841248" y="5230368"/>
            <a:ext cx="5486400" cy="219456"/>
          </a:xfrm>
          <a:prstGeom prst="rect">
            <a:avLst/>
          </a:prstGeom>
          <a:noFill/>
          <a:ln/>
        </p:spPr>
        <p:txBody>
          <a:bodyPr wrap="square" lIns="0" tIns="0" rIns="0" bIns="0" rtlCol="0" anchor="ctr"/>
          <a:lstStyle/>
          <a:p>
            <a:pPr indent="0" marL="0">
              <a:buNone/>
            </a:pPr>
            <a:r>
              <a:rPr lang="en-US" sz="950" b="1" spc="130" kern="0" dirty="0">
                <a:solidFill>
                  <a:srgbClr val="D98A21"/>
                </a:solidFill>
                <a:latin typeface="Courier New" pitchFamily="34" charset="0"/>
                <a:ea typeface="Courier New" pitchFamily="34" charset="-122"/>
                <a:cs typeface="Courier New" pitchFamily="34" charset="-120"/>
              </a:rPr>
              <a:t>MODALITÉS ADAPTÉES AUX SITUATIONS DE HANDICAP</a:t>
            </a:r>
            <a:endParaRPr lang="en-US" sz="950" dirty="0"/>
          </a:p>
        </p:txBody>
      </p:sp>
      <p:sp>
        <p:nvSpPr>
          <p:cNvPr id="10" name="Text 6"/>
          <p:cNvSpPr/>
          <p:nvPr/>
        </p:nvSpPr>
        <p:spPr>
          <a:xfrm>
            <a:off x="841248" y="5486400"/>
            <a:ext cx="10509199" cy="658368"/>
          </a:xfrm>
          <a:prstGeom prst="rect">
            <a:avLst/>
          </a:prstGeom>
          <a:noFill/>
          <a:ln/>
        </p:spPr>
        <p:txBody>
          <a:bodyPr wrap="square" lIns="0" tIns="0" rIns="0" bIns="0" rtlCol="0" anchor="t"/>
          <a:lstStyle/>
          <a:p>
            <a:pPr indent="0" marL="0">
              <a:buNone/>
            </a:pPr>
            <a:r>
              <a:rPr lang="en-US" sz="1250" b="1" dirty="0">
                <a:solidFill>
                  <a:srgbClr val="0E1D28"/>
                </a:solidFill>
                <a:latin typeface="Calibri" pitchFamily="34" charset="0"/>
                <a:ea typeface="Calibri" pitchFamily="34" charset="-122"/>
                <a:cs typeface="Calibri" pitchFamily="34" charset="-120"/>
              </a:rPr>
              <a:t>La même logique qu'à la slide 11 : </a:t>
            </a:r>
            <a:endParaRPr lang="en-US" sz="1250" dirty="0"/>
          </a:p>
          <a:p>
            <a:pPr indent="0" marL="0">
              <a:buNone/>
            </a:pPr>
            <a:r>
              <a:rPr lang="en-US" sz="1250" dirty="0">
                <a:solidFill>
                  <a:srgbClr val="17303F"/>
                </a:solidFill>
                <a:latin typeface="Calibri" pitchFamily="34" charset="0"/>
                <a:ea typeface="Calibri" pitchFamily="34" charset="-122"/>
                <a:cs typeface="Calibri" pitchFamily="34" charset="-120"/>
              </a:rPr>
              <a:t>chaque montée en compétence a produit un support écrit — une formation qui laisse une trace est suivable sans l'oral.</a:t>
            </a:r>
            <a:endParaRPr lang="en-US" sz="1250" dirty="0"/>
          </a:p>
          <a:p>
            <a:pPr indent="0" marL="0">
              <a:buNone/>
            </a:pPr>
            <a:r>
              <a:rPr lang="en-US" sz="1250" dirty="0">
                <a:solidFill>
                  <a:srgbClr val="17303F"/>
                </a:solidFill>
                <a:latin typeface="Calibri" pitchFamily="34" charset="0"/>
                <a:ea typeface="Calibri" pitchFamily="34" charset="-122"/>
                <a:cs typeface="Calibri" pitchFamily="34" charset="-120"/>
              </a:rPr>
              <a:t>Pour l'équipe cible : asynchrone, temps majoré, poste aménagé, sous-titres.</a:t>
            </a:r>
            <a:endParaRPr lang="en-US" sz="1250" dirty="0"/>
          </a:p>
        </p:txBody>
      </p:sp>
      <p:sp>
        <p:nvSpPr>
          <p:cNvPr id="11" name="Text 7"/>
          <p:cNvSpPr/>
          <p:nvPr/>
        </p:nvSpPr>
        <p:spPr>
          <a:xfrm>
            <a:off x="10984687" y="6419088"/>
            <a:ext cx="640080" cy="256032"/>
          </a:xfrm>
          <a:prstGeom prst="rect">
            <a:avLst/>
          </a:prstGeom>
          <a:noFill/>
          <a:ln/>
        </p:spPr>
        <p:txBody>
          <a:bodyPr wrap="square" lIns="0" tIns="0" rIns="0" bIns="0" rtlCol="0" anchor="ctr"/>
          <a:lstStyle/>
          <a:p>
            <a:pPr algn="r" indent="0" marL="0">
              <a:buNone/>
            </a:pPr>
            <a:r>
              <a:rPr lang="en-US" sz="1000" dirty="0">
                <a:solidFill>
                  <a:srgbClr val="9FB2BD"/>
                </a:solidFill>
                <a:latin typeface="Courier New" pitchFamily="34" charset="0"/>
                <a:ea typeface="Courier New" pitchFamily="34" charset="-122"/>
                <a:cs typeface="Courier New"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E1D28"/>
        </a:solidFill>
      </p:bgPr>
    </p:bg>
    <p:spTree>
      <p:nvGrpSpPr>
        <p:cNvPr id="1" name=""/>
        <p:cNvGrpSpPr/>
        <p:nvPr/>
      </p:nvGrpSpPr>
      <p:grpSpPr>
        <a:xfrm>
          <a:off x="0" y="0"/>
          <a:ext cx="0" cy="0"/>
          <a:chOff x="0" y="0"/>
          <a:chExt cx="0" cy="0"/>
        </a:xfrm>
      </p:grpSpPr>
      <p:sp>
        <p:nvSpPr>
          <p:cNvPr id="3" name="Text 0"/>
          <p:cNvSpPr/>
          <p:nvPr/>
        </p:nvSpPr>
        <p:spPr>
          <a:xfrm>
            <a:off x="566928" y="1737360"/>
            <a:ext cx="1828800" cy="1463040"/>
          </a:xfrm>
          <a:prstGeom prst="rect">
            <a:avLst/>
          </a:prstGeom>
          <a:noFill/>
          <a:ln/>
        </p:spPr>
        <p:txBody>
          <a:bodyPr wrap="square" lIns="0" tIns="0" rIns="0" bIns="0" rtlCol="0" anchor="ctr"/>
          <a:lstStyle/>
          <a:p>
            <a:pPr indent="0" marL="0">
              <a:buNone/>
            </a:pPr>
            <a:r>
              <a:rPr lang="en-US" sz="10000" b="1" dirty="0">
                <a:solidFill>
                  <a:srgbClr val="1E3646"/>
                </a:solidFill>
                <a:latin typeface="Cambria" pitchFamily="34" charset="0"/>
                <a:ea typeface="Cambria" pitchFamily="34" charset="-122"/>
                <a:cs typeface="Cambria" pitchFamily="34" charset="-120"/>
              </a:rPr>
              <a:t>04</a:t>
            </a:r>
            <a:endParaRPr lang="en-US" sz="10000" dirty="0"/>
          </a:p>
        </p:txBody>
      </p:sp>
      <p:sp>
        <p:nvSpPr>
          <p:cNvPr id="4" name="Text 1"/>
          <p:cNvSpPr/>
          <p:nvPr/>
        </p:nvSpPr>
        <p:spPr>
          <a:xfrm>
            <a:off x="566928" y="3017520"/>
            <a:ext cx="9144000" cy="100584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Suivre le client</a:t>
            </a:r>
            <a:endParaRPr lang="en-US" sz="6000" dirty="0"/>
          </a:p>
        </p:txBody>
      </p:sp>
      <p:sp>
        <p:nvSpPr>
          <p:cNvPr id="5" name="Text 2"/>
          <p:cNvSpPr/>
          <p:nvPr/>
        </p:nvSpPr>
        <p:spPr>
          <a:xfrm>
            <a:off x="566928" y="4069080"/>
            <a:ext cx="7863840" cy="548640"/>
          </a:xfrm>
          <a:prstGeom prst="rect">
            <a:avLst/>
          </a:prstGeom>
          <a:noFill/>
          <a:ln/>
        </p:spPr>
        <p:txBody>
          <a:bodyPr wrap="square" lIns="0" tIns="0" rIns="0" bIns="0" rtlCol="0" anchor="ctr"/>
          <a:lstStyle/>
          <a:p>
            <a:pPr indent="0" marL="0">
              <a:buNone/>
            </a:pPr>
            <a:r>
              <a:rPr lang="en-US" sz="1500" dirty="0">
                <a:solidFill>
                  <a:srgbClr val="A9BDC9"/>
                </a:solidFill>
                <a:latin typeface="Calibri" pitchFamily="34" charset="0"/>
                <a:ea typeface="Calibri" pitchFamily="34" charset="-122"/>
                <a:cs typeface="Calibri" pitchFamily="34" charset="-120"/>
              </a:rPr>
              <a:t>Comptes rendus, points de validation et indicateurs de satisfaction</a:t>
            </a:r>
            <a:endParaRPr lang="en-US" sz="1500" dirty="0"/>
          </a:p>
        </p:txBody>
      </p:sp>
      <p:sp>
        <p:nvSpPr>
          <p:cNvPr id="6" name="Shape 3"/>
          <p:cNvSpPr/>
          <p:nvPr/>
        </p:nvSpPr>
        <p:spPr>
          <a:xfrm>
            <a:off x="10253167" y="3154680"/>
            <a:ext cx="1371600" cy="420624"/>
          </a:xfrm>
          <a:prstGeom prst="roundRect">
            <a:avLst>
              <a:gd name="adj" fmla="val 15217"/>
            </a:avLst>
          </a:prstGeom>
          <a:solidFill>
            <a:srgbClr val="1F5468"/>
          </a:solidFill>
          <a:ln w="12700">
            <a:solidFill>
              <a:srgbClr val="3E7A93"/>
            </a:solidFill>
            <a:prstDash val="solid"/>
          </a:ln>
        </p:spPr>
      </p:sp>
      <p:sp>
        <p:nvSpPr>
          <p:cNvPr id="7" name="Text 4"/>
          <p:cNvSpPr/>
          <p:nvPr/>
        </p:nvSpPr>
        <p:spPr>
          <a:xfrm>
            <a:off x="10253167" y="3154680"/>
            <a:ext cx="1371600"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C3.4.1</a:t>
            </a:r>
            <a:endParaRPr lang="en-US" sz="1300" dirty="0"/>
          </a:p>
        </p:txBody>
      </p:sp>
      <p:sp>
        <p:nvSpPr>
          <p:cNvPr id="8" name="Text 5"/>
          <p:cNvSpPr/>
          <p:nvPr/>
        </p:nvSpPr>
        <p:spPr>
          <a:xfrm>
            <a:off x="10984687" y="6419088"/>
            <a:ext cx="640080" cy="256032"/>
          </a:xfrm>
          <a:prstGeom prst="rect">
            <a:avLst/>
          </a:prstGeom>
          <a:noFill/>
          <a:ln/>
        </p:spPr>
        <p:txBody>
          <a:bodyPr wrap="square" lIns="0" tIns="0" rIns="0" bIns="0" rtlCol="0" anchor="ctr"/>
          <a:lstStyle/>
          <a:p>
            <a:pPr algn="r" indent="0" marL="0">
              <a:buNone/>
            </a:pPr>
            <a:r>
              <a:rPr lang="en-US" sz="1000" dirty="0">
                <a:solidFill>
                  <a:srgbClr val="5D7686"/>
                </a:solidFill>
                <a:latin typeface="Courier New" pitchFamily="34" charset="0"/>
                <a:ea typeface="Courier New" pitchFamily="34" charset="-122"/>
                <a:cs typeface="Courier New"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66928" y="384048"/>
            <a:ext cx="7740487" cy="219456"/>
          </a:xfrm>
          <a:prstGeom prst="rect">
            <a:avLst/>
          </a:prstGeom>
          <a:noFill/>
          <a:ln/>
        </p:spPr>
        <p:txBody>
          <a:bodyPr wrap="square" lIns="0" tIns="0" rIns="0" bIns="0" rtlCol="0" anchor="ctr"/>
          <a:lstStyle/>
          <a:p>
            <a:pPr indent="0" marL="0">
              <a:buNone/>
            </a:pPr>
            <a:r>
              <a:rPr lang="en-US" sz="1050" b="1" spc="160" kern="0" dirty="0">
                <a:solidFill>
                  <a:srgbClr val="1F5468"/>
                </a:solidFill>
                <a:latin typeface="Courier New" pitchFamily="34" charset="0"/>
                <a:ea typeface="Courier New" pitchFamily="34" charset="-122"/>
                <a:cs typeface="Courier New" pitchFamily="34" charset="-120"/>
              </a:rPr>
              <a:t>PARTIE 4 · SUIVRE LE CLIENT</a:t>
            </a:r>
            <a:endParaRPr lang="en-US" sz="1050" dirty="0"/>
          </a:p>
        </p:txBody>
      </p:sp>
      <p:sp>
        <p:nvSpPr>
          <p:cNvPr id="4" name="Text 1"/>
          <p:cNvSpPr/>
          <p:nvPr/>
        </p:nvSpPr>
        <p:spPr>
          <a:xfrm>
            <a:off x="566928" y="621792"/>
            <a:ext cx="8403958" cy="731520"/>
          </a:xfrm>
          <a:prstGeom prst="rect">
            <a:avLst/>
          </a:prstGeom>
          <a:noFill/>
          <a:ln/>
        </p:spPr>
        <p:txBody>
          <a:bodyPr wrap="square" lIns="0" tIns="0" rIns="0" bIns="0" rtlCol="0" anchor="t"/>
          <a:lstStyle/>
          <a:p>
            <a:pPr indent="0" marL="0">
              <a:buNone/>
            </a:pPr>
            <a:r>
              <a:rPr lang="en-US" sz="2900" b="1" dirty="0">
                <a:solidFill>
                  <a:srgbClr val="0E1D28"/>
                </a:solidFill>
                <a:latin typeface="Cambria" pitchFamily="34" charset="0"/>
                <a:ea typeface="Cambria" pitchFamily="34" charset="-122"/>
                <a:cs typeface="Cambria" pitchFamily="34" charset="-120"/>
              </a:rPr>
              <a:t>Comptes rendus et points de validation</a:t>
            </a:r>
            <a:endParaRPr lang="en-US" sz="2900" dirty="0"/>
          </a:p>
        </p:txBody>
      </p:sp>
      <p:sp>
        <p:nvSpPr>
          <p:cNvPr id="5" name="Shape 2"/>
          <p:cNvSpPr/>
          <p:nvPr/>
        </p:nvSpPr>
        <p:spPr>
          <a:xfrm>
            <a:off x="10573207" y="384048"/>
            <a:ext cx="1051560" cy="310896"/>
          </a:xfrm>
          <a:prstGeom prst="roundRect">
            <a:avLst>
              <a:gd name="adj" fmla="val 17647"/>
            </a:avLst>
          </a:prstGeom>
          <a:solidFill>
            <a:srgbClr val="E6EDF1"/>
          </a:solidFill>
          <a:ln w="9525">
            <a:solidFill>
              <a:srgbClr val="D5DFE5"/>
            </a:solidFill>
            <a:prstDash val="solid"/>
          </a:ln>
        </p:spPr>
      </p:sp>
      <p:sp>
        <p:nvSpPr>
          <p:cNvPr id="6" name="Text 3"/>
          <p:cNvSpPr/>
          <p:nvPr/>
        </p:nvSpPr>
        <p:spPr>
          <a:xfrm>
            <a:off x="10573207" y="384048"/>
            <a:ext cx="1051560" cy="310896"/>
          </a:xfrm>
          <a:prstGeom prst="rect">
            <a:avLst/>
          </a:prstGeom>
          <a:noFill/>
          <a:ln/>
        </p:spPr>
        <p:txBody>
          <a:bodyPr wrap="square" lIns="0" tIns="0" rIns="0" bIns="0" rtlCol="0" anchor="ctr"/>
          <a:lstStyle/>
          <a:p>
            <a:pPr algn="ctr" indent="0" marL="0">
              <a:buNone/>
            </a:pPr>
            <a:r>
              <a:rPr lang="en-US" sz="1000" b="1" dirty="0">
                <a:solidFill>
                  <a:srgbClr val="1F5468"/>
                </a:solidFill>
                <a:latin typeface="Courier New" pitchFamily="34" charset="0"/>
                <a:ea typeface="Courier New" pitchFamily="34" charset="-122"/>
                <a:cs typeface="Courier New" pitchFamily="34" charset="-120"/>
              </a:rPr>
              <a:t>C3.4.1</a:t>
            </a:r>
            <a:endParaRPr lang="en-US" sz="1000" dirty="0"/>
          </a:p>
        </p:txBody>
      </p:sp>
      <p:sp>
        <p:nvSpPr>
          <p:cNvPr id="7" name="Shape 4"/>
          <p:cNvSpPr/>
          <p:nvPr/>
        </p:nvSpPr>
        <p:spPr>
          <a:xfrm>
            <a:off x="9549079" y="384048"/>
            <a:ext cx="914400" cy="310896"/>
          </a:xfrm>
          <a:prstGeom prst="roundRect">
            <a:avLst>
              <a:gd name="adj" fmla="val 17647"/>
            </a:avLst>
          </a:prstGeom>
          <a:solidFill>
            <a:srgbClr val="E6EDF1"/>
          </a:solidFill>
          <a:ln w="9525">
            <a:solidFill>
              <a:srgbClr val="D5DFE5"/>
            </a:solidFill>
            <a:prstDash val="solid"/>
          </a:ln>
        </p:spPr>
      </p:sp>
      <p:sp>
        <p:nvSpPr>
          <p:cNvPr id="8" name="Text 5"/>
          <p:cNvSpPr/>
          <p:nvPr/>
        </p:nvSpPr>
        <p:spPr>
          <a:xfrm>
            <a:off x="9549079" y="384048"/>
            <a:ext cx="914400" cy="310896"/>
          </a:xfrm>
          <a:prstGeom prst="rect">
            <a:avLst/>
          </a:prstGeom>
          <a:noFill/>
          <a:ln/>
        </p:spPr>
        <p:txBody>
          <a:bodyPr wrap="square" lIns="0" tIns="0" rIns="0" bIns="0" rtlCol="0" anchor="ctr"/>
          <a:lstStyle/>
          <a:p>
            <a:pPr algn="ctr" indent="0" marL="0">
              <a:buNone/>
            </a:pPr>
            <a:r>
              <a:rPr lang="en-US" sz="1000" b="1" dirty="0">
                <a:solidFill>
                  <a:srgbClr val="1F5468"/>
                </a:solidFill>
                <a:latin typeface="Courier New" pitchFamily="34" charset="0"/>
                <a:ea typeface="Courier New" pitchFamily="34" charset="-122"/>
                <a:cs typeface="Courier New" pitchFamily="34" charset="-120"/>
              </a:rPr>
              <a:t>RÉEL</a:t>
            </a:r>
            <a:endParaRPr lang="en-US" sz="1000" dirty="0"/>
          </a:p>
        </p:txBody>
      </p:sp>
      <p:sp>
        <p:nvSpPr>
          <p:cNvPr id="9" name="Shape 6"/>
          <p:cNvSpPr/>
          <p:nvPr/>
        </p:nvSpPr>
        <p:spPr>
          <a:xfrm>
            <a:off x="566928" y="1645920"/>
            <a:ext cx="5394960" cy="4707331"/>
          </a:xfrm>
          <a:prstGeom prst="roundRect">
            <a:avLst>
              <a:gd name="adj" fmla="val 680"/>
            </a:avLst>
          </a:prstGeom>
          <a:solidFill>
            <a:srgbClr val="F1F5F7"/>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10" name="Text 7"/>
          <p:cNvSpPr/>
          <p:nvPr/>
        </p:nvSpPr>
        <p:spPr>
          <a:xfrm>
            <a:off x="822960" y="1839041"/>
            <a:ext cx="4846320" cy="434523"/>
          </a:xfrm>
          <a:prstGeom prst="rect">
            <a:avLst/>
          </a:prstGeom>
          <a:noFill/>
          <a:ln/>
        </p:spPr>
        <p:txBody>
          <a:bodyPr wrap="square" lIns="0" tIns="0" rIns="0" bIns="0" rtlCol="0" anchor="ctr"/>
          <a:lstStyle/>
          <a:p>
            <a:pPr indent="0" marL="0">
              <a:buNone/>
            </a:pPr>
            <a:r>
              <a:rPr lang="en-US" sz="1700" b="1" dirty="0">
                <a:solidFill>
                  <a:srgbClr val="0E1D28"/>
                </a:solidFill>
                <a:latin typeface="Calibri" pitchFamily="34" charset="0"/>
                <a:ea typeface="Calibri" pitchFamily="34" charset="-122"/>
                <a:cs typeface="Calibri" pitchFamily="34" charset="-120"/>
              </a:rPr>
              <a:t>Le gabarit de compte rendu</a:t>
            </a:r>
            <a:endParaRPr lang="en-US" sz="1700" dirty="0"/>
          </a:p>
        </p:txBody>
      </p:sp>
      <p:sp>
        <p:nvSpPr>
          <p:cNvPr id="11" name="Text 8"/>
          <p:cNvSpPr/>
          <p:nvPr/>
        </p:nvSpPr>
        <p:spPr>
          <a:xfrm>
            <a:off x="822960" y="2321844"/>
            <a:ext cx="4846320" cy="337962"/>
          </a:xfrm>
          <a:prstGeom prst="rect">
            <a:avLst/>
          </a:prstGeom>
          <a:noFill/>
          <a:ln/>
        </p:spPr>
        <p:txBody>
          <a:bodyPr wrap="square" lIns="0" tIns="0" rIns="0" bIns="0" rtlCol="0" anchor="ctr"/>
          <a:lstStyle/>
          <a:p>
            <a:pPr indent="0" marL="0">
              <a:buNone/>
            </a:pPr>
            <a:r>
              <a:rPr lang="en-US" sz="1250" i="1" dirty="0">
                <a:solidFill>
                  <a:srgbClr val="5B6E7B"/>
                </a:solidFill>
                <a:latin typeface="Calibri" pitchFamily="34" charset="0"/>
                <a:ea typeface="Calibri" pitchFamily="34" charset="-122"/>
                <a:cs typeface="Calibri" pitchFamily="34" charset="-120"/>
              </a:rPr>
              <a:t>Format constant, cinq blocs, une page :</a:t>
            </a:r>
            <a:endParaRPr lang="en-US" sz="1250" dirty="0"/>
          </a:p>
        </p:txBody>
      </p:sp>
      <p:sp>
        <p:nvSpPr>
          <p:cNvPr id="12" name="Shape 9"/>
          <p:cNvSpPr/>
          <p:nvPr/>
        </p:nvSpPr>
        <p:spPr>
          <a:xfrm>
            <a:off x="822960" y="2804648"/>
            <a:ext cx="4846320" cy="603504"/>
          </a:xfrm>
          <a:prstGeom prst="roundRect">
            <a:avLst>
              <a:gd name="adj" fmla="val 6061"/>
            </a:avLst>
          </a:prstGeom>
          <a:solidFill>
            <a:srgbClr val="FFFFFF"/>
          </a:solidFill>
          <a:ln w="9525">
            <a:solidFill>
              <a:srgbClr val="D5DFE5"/>
            </a:solidFill>
            <a:prstDash val="solid"/>
          </a:ln>
        </p:spPr>
      </p:sp>
      <p:sp>
        <p:nvSpPr>
          <p:cNvPr id="13" name="Text 10"/>
          <p:cNvSpPr/>
          <p:nvPr/>
        </p:nvSpPr>
        <p:spPr>
          <a:xfrm>
            <a:off x="1005840" y="2804648"/>
            <a:ext cx="4572000" cy="603504"/>
          </a:xfrm>
          <a:prstGeom prst="rect">
            <a:avLst/>
          </a:prstGeom>
          <a:noFill/>
          <a:ln/>
        </p:spPr>
        <p:txBody>
          <a:bodyPr wrap="square" lIns="0" tIns="0" rIns="0" bIns="0" rtlCol="0" anchor="ctr"/>
          <a:lstStyle/>
          <a:p>
            <a:pPr indent="0" marL="0">
              <a:buNone/>
            </a:pPr>
            <a:r>
              <a:rPr lang="en-US" sz="1300" dirty="0">
                <a:solidFill>
                  <a:srgbClr val="0E1D28"/>
                </a:solidFill>
                <a:latin typeface="Calibri" pitchFamily="34" charset="0"/>
                <a:ea typeface="Calibri" pitchFamily="34" charset="-122"/>
                <a:cs typeface="Calibri" pitchFamily="34" charset="-120"/>
              </a:rPr>
              <a:t>1   Réalisé sur la période</a:t>
            </a:r>
            <a:endParaRPr lang="en-US" sz="1300" dirty="0"/>
          </a:p>
        </p:txBody>
      </p:sp>
      <p:sp>
        <p:nvSpPr>
          <p:cNvPr id="14" name="Shape 11"/>
          <p:cNvSpPr/>
          <p:nvPr/>
        </p:nvSpPr>
        <p:spPr>
          <a:xfrm>
            <a:off x="822960" y="3504712"/>
            <a:ext cx="4846320" cy="603504"/>
          </a:xfrm>
          <a:prstGeom prst="roundRect">
            <a:avLst>
              <a:gd name="adj" fmla="val 6061"/>
            </a:avLst>
          </a:prstGeom>
          <a:solidFill>
            <a:srgbClr val="FFFFFF"/>
          </a:solidFill>
          <a:ln w="9525">
            <a:solidFill>
              <a:srgbClr val="D5DFE5"/>
            </a:solidFill>
            <a:prstDash val="solid"/>
          </a:ln>
        </p:spPr>
      </p:sp>
      <p:sp>
        <p:nvSpPr>
          <p:cNvPr id="15" name="Text 12"/>
          <p:cNvSpPr/>
          <p:nvPr/>
        </p:nvSpPr>
        <p:spPr>
          <a:xfrm>
            <a:off x="1005840" y="3504712"/>
            <a:ext cx="4572000" cy="603504"/>
          </a:xfrm>
          <a:prstGeom prst="rect">
            <a:avLst/>
          </a:prstGeom>
          <a:noFill/>
          <a:ln/>
        </p:spPr>
        <p:txBody>
          <a:bodyPr wrap="square" lIns="0" tIns="0" rIns="0" bIns="0" rtlCol="0" anchor="ctr"/>
          <a:lstStyle/>
          <a:p>
            <a:pPr indent="0" marL="0">
              <a:buNone/>
            </a:pPr>
            <a:r>
              <a:rPr lang="en-US" sz="1300" dirty="0">
                <a:solidFill>
                  <a:srgbClr val="0E1D28"/>
                </a:solidFill>
                <a:latin typeface="Calibri" pitchFamily="34" charset="0"/>
                <a:ea typeface="Calibri" pitchFamily="34" charset="-122"/>
                <a:cs typeface="Calibri" pitchFamily="34" charset="-120"/>
              </a:rPr>
              <a:t>2   En cours</a:t>
            </a:r>
            <a:endParaRPr lang="en-US" sz="1300" dirty="0"/>
          </a:p>
        </p:txBody>
      </p:sp>
      <p:sp>
        <p:nvSpPr>
          <p:cNvPr id="16" name="Shape 13"/>
          <p:cNvSpPr/>
          <p:nvPr/>
        </p:nvSpPr>
        <p:spPr>
          <a:xfrm>
            <a:off x="822960" y="4204777"/>
            <a:ext cx="4846320" cy="603504"/>
          </a:xfrm>
          <a:prstGeom prst="roundRect">
            <a:avLst>
              <a:gd name="adj" fmla="val 6061"/>
            </a:avLst>
          </a:prstGeom>
          <a:solidFill>
            <a:srgbClr val="FFFFFF"/>
          </a:solidFill>
          <a:ln w="9525">
            <a:solidFill>
              <a:srgbClr val="D5DFE5"/>
            </a:solidFill>
            <a:prstDash val="solid"/>
          </a:ln>
        </p:spPr>
      </p:sp>
      <p:sp>
        <p:nvSpPr>
          <p:cNvPr id="17" name="Text 14"/>
          <p:cNvSpPr/>
          <p:nvPr/>
        </p:nvSpPr>
        <p:spPr>
          <a:xfrm>
            <a:off x="1005840" y="4204777"/>
            <a:ext cx="4572000" cy="603504"/>
          </a:xfrm>
          <a:prstGeom prst="rect">
            <a:avLst/>
          </a:prstGeom>
          <a:noFill/>
          <a:ln/>
        </p:spPr>
        <p:txBody>
          <a:bodyPr wrap="square" lIns="0" tIns="0" rIns="0" bIns="0" rtlCol="0" anchor="ctr"/>
          <a:lstStyle/>
          <a:p>
            <a:pPr indent="0" marL="0">
              <a:buNone/>
            </a:pPr>
            <a:r>
              <a:rPr lang="en-US" sz="1300" dirty="0">
                <a:solidFill>
                  <a:srgbClr val="0E1D28"/>
                </a:solidFill>
                <a:latin typeface="Calibri" pitchFamily="34" charset="0"/>
                <a:ea typeface="Calibri" pitchFamily="34" charset="-122"/>
                <a:cs typeface="Calibri" pitchFamily="34" charset="-120"/>
              </a:rPr>
              <a:t>3   Points bloqués</a:t>
            </a:r>
            <a:endParaRPr lang="en-US" sz="1300" dirty="0"/>
          </a:p>
        </p:txBody>
      </p:sp>
      <p:sp>
        <p:nvSpPr>
          <p:cNvPr id="18" name="Shape 15"/>
          <p:cNvSpPr/>
          <p:nvPr/>
        </p:nvSpPr>
        <p:spPr>
          <a:xfrm>
            <a:off x="822960" y="4904842"/>
            <a:ext cx="4846320" cy="603504"/>
          </a:xfrm>
          <a:prstGeom prst="roundRect">
            <a:avLst>
              <a:gd name="adj" fmla="val 6061"/>
            </a:avLst>
          </a:prstGeom>
          <a:solidFill>
            <a:srgbClr val="D98A21"/>
          </a:solidFill>
          <a:ln w="9525">
            <a:solidFill>
              <a:srgbClr val="D98A21"/>
            </a:solidFill>
            <a:prstDash val="solid"/>
          </a:ln>
        </p:spPr>
      </p:sp>
      <p:sp>
        <p:nvSpPr>
          <p:cNvPr id="19" name="Text 16"/>
          <p:cNvSpPr/>
          <p:nvPr/>
        </p:nvSpPr>
        <p:spPr>
          <a:xfrm>
            <a:off x="1005840" y="4904842"/>
            <a:ext cx="4572000" cy="603504"/>
          </a:xfrm>
          <a:prstGeom prst="rect">
            <a:avLst/>
          </a:prstGeom>
          <a:noFill/>
          <a:ln/>
        </p:spPr>
        <p:txBody>
          <a:bodyPr wrap="square" lIns="0" tIns="0" rIns="0" bIns="0" rtlCol="0" anchor="ctr"/>
          <a:lstStyle/>
          <a:p>
            <a:pPr indent="0" marL="0">
              <a:buNone/>
            </a:pPr>
            <a:r>
              <a:rPr lang="en-US" sz="1300" b="1" dirty="0">
                <a:solidFill>
                  <a:srgbClr val="0E1D28"/>
                </a:solidFill>
                <a:latin typeface="Calibri" pitchFamily="34" charset="0"/>
                <a:ea typeface="Calibri" pitchFamily="34" charset="-122"/>
                <a:cs typeface="Calibri" pitchFamily="34" charset="-120"/>
              </a:rPr>
              <a:t>4   Décisions attendues du client</a:t>
            </a:r>
            <a:endParaRPr lang="en-US" sz="1300" dirty="0"/>
          </a:p>
        </p:txBody>
      </p:sp>
      <p:sp>
        <p:nvSpPr>
          <p:cNvPr id="20" name="Shape 17"/>
          <p:cNvSpPr/>
          <p:nvPr/>
        </p:nvSpPr>
        <p:spPr>
          <a:xfrm>
            <a:off x="822960" y="5604906"/>
            <a:ext cx="4846320" cy="603504"/>
          </a:xfrm>
          <a:prstGeom prst="roundRect">
            <a:avLst>
              <a:gd name="adj" fmla="val 6061"/>
            </a:avLst>
          </a:prstGeom>
          <a:solidFill>
            <a:srgbClr val="FFFFFF"/>
          </a:solidFill>
          <a:ln w="9525">
            <a:solidFill>
              <a:srgbClr val="D5DFE5"/>
            </a:solidFill>
            <a:prstDash val="solid"/>
          </a:ln>
        </p:spPr>
      </p:sp>
      <p:sp>
        <p:nvSpPr>
          <p:cNvPr id="21" name="Text 18"/>
          <p:cNvSpPr/>
          <p:nvPr/>
        </p:nvSpPr>
        <p:spPr>
          <a:xfrm>
            <a:off x="1005840" y="5604906"/>
            <a:ext cx="4572000" cy="603504"/>
          </a:xfrm>
          <a:prstGeom prst="rect">
            <a:avLst/>
          </a:prstGeom>
          <a:noFill/>
          <a:ln/>
        </p:spPr>
        <p:txBody>
          <a:bodyPr wrap="square" lIns="0" tIns="0" rIns="0" bIns="0" rtlCol="0" anchor="ctr"/>
          <a:lstStyle/>
          <a:p>
            <a:pPr indent="0" marL="0">
              <a:buNone/>
            </a:pPr>
            <a:r>
              <a:rPr lang="en-US" sz="1300" dirty="0">
                <a:solidFill>
                  <a:srgbClr val="0E1D28"/>
                </a:solidFill>
                <a:latin typeface="Calibri" pitchFamily="34" charset="0"/>
                <a:ea typeface="Calibri" pitchFamily="34" charset="-122"/>
                <a:cs typeface="Calibri" pitchFamily="34" charset="-120"/>
              </a:rPr>
              <a:t>5   Risques et alertes</a:t>
            </a:r>
            <a:endParaRPr lang="en-US" sz="1300" dirty="0"/>
          </a:p>
        </p:txBody>
      </p:sp>
      <p:sp>
        <p:nvSpPr>
          <p:cNvPr id="22" name="Text 19"/>
          <p:cNvSpPr/>
          <p:nvPr/>
        </p:nvSpPr>
        <p:spPr>
          <a:xfrm>
            <a:off x="6190488" y="1645920"/>
            <a:ext cx="4572000" cy="289682"/>
          </a:xfrm>
          <a:prstGeom prst="rect">
            <a:avLst/>
          </a:prstGeom>
          <a:noFill/>
          <a:ln/>
        </p:spPr>
        <p:txBody>
          <a:bodyPr wrap="square" lIns="0" tIns="0" rIns="0" bIns="0" rtlCol="0" anchor="ctr"/>
          <a:lstStyle/>
          <a:p>
            <a:pPr indent="0" marL="0">
              <a:buNone/>
            </a:pPr>
            <a:r>
              <a:rPr lang="en-US" sz="950" b="1" spc="130" kern="0" dirty="0">
                <a:solidFill>
                  <a:srgbClr val="1F5468"/>
                </a:solidFill>
                <a:latin typeface="Courier New" pitchFamily="34" charset="0"/>
                <a:ea typeface="Courier New" pitchFamily="34" charset="-122"/>
                <a:cs typeface="Courier New" pitchFamily="34" charset="-120"/>
              </a:rPr>
              <a:t>LES POINTS DE VALIDATION PLANIFIÉS</a:t>
            </a:r>
            <a:endParaRPr lang="en-US" sz="950" dirty="0"/>
          </a:p>
        </p:txBody>
      </p:sp>
      <p:sp>
        <p:nvSpPr>
          <p:cNvPr id="23" name="Shape 20"/>
          <p:cNvSpPr/>
          <p:nvPr/>
        </p:nvSpPr>
        <p:spPr>
          <a:xfrm>
            <a:off x="6190488" y="2032163"/>
            <a:ext cx="5434279" cy="1013887"/>
          </a:xfrm>
          <a:prstGeom prst="roundRect">
            <a:avLst>
              <a:gd name="adj" fmla="val 3157"/>
            </a:avLst>
          </a:prstGeom>
          <a:solidFill>
            <a:srgbClr val="F1F5F7"/>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24" name="Text 21"/>
          <p:cNvSpPr/>
          <p:nvPr/>
        </p:nvSpPr>
        <p:spPr>
          <a:xfrm>
            <a:off x="6437376" y="2032163"/>
            <a:ext cx="1691640" cy="1013887"/>
          </a:xfrm>
          <a:prstGeom prst="rect">
            <a:avLst/>
          </a:prstGeom>
          <a:noFill/>
          <a:ln/>
        </p:spPr>
        <p:txBody>
          <a:bodyPr wrap="square" lIns="0" tIns="0" rIns="0" bIns="0" rtlCol="0" anchor="ctr"/>
          <a:lstStyle/>
          <a:p>
            <a:pPr indent="0" marL="0">
              <a:buNone/>
            </a:pPr>
            <a:r>
              <a:rPr lang="en-US" sz="1300" b="1" dirty="0">
                <a:solidFill>
                  <a:srgbClr val="1F5468"/>
                </a:solidFill>
                <a:latin typeface="Calibri" pitchFamily="34" charset="0"/>
                <a:ea typeface="Calibri" pitchFamily="34" charset="-122"/>
                <a:cs typeface="Calibri" pitchFamily="34" charset="-120"/>
              </a:rPr>
              <a:t>Par ticket</a:t>
            </a:r>
            <a:endParaRPr lang="en-US" sz="1300" dirty="0"/>
          </a:p>
        </p:txBody>
      </p:sp>
      <p:sp>
        <p:nvSpPr>
          <p:cNvPr id="25" name="Text 22"/>
          <p:cNvSpPr/>
          <p:nvPr/>
        </p:nvSpPr>
        <p:spPr>
          <a:xfrm>
            <a:off x="8202168" y="2032163"/>
            <a:ext cx="3193999" cy="1013887"/>
          </a:xfrm>
          <a:prstGeom prst="rect">
            <a:avLst/>
          </a:prstGeom>
          <a:noFill/>
          <a:ln/>
        </p:spPr>
        <p:txBody>
          <a:bodyPr wrap="square" lIns="0" tIns="0" rIns="0" bIns="0" rtlCol="0" anchor="ctr"/>
          <a:lstStyle/>
          <a:p>
            <a:pPr indent="0" marL="0">
              <a:buNone/>
            </a:pPr>
            <a:r>
              <a:rPr lang="en-US" sz="1250" dirty="0">
                <a:solidFill>
                  <a:srgbClr val="17303F"/>
                </a:solidFill>
                <a:latin typeface="Calibri" pitchFamily="34" charset="0"/>
                <a:ea typeface="Calibri" pitchFamily="34" charset="-122"/>
                <a:cs typeface="Calibri" pitchFamily="34" charset="-120"/>
              </a:rPr>
              <a:t>Definition of Done vérifiée avant fusion</a:t>
            </a:r>
            <a:endParaRPr lang="en-US" sz="1250" dirty="0"/>
          </a:p>
        </p:txBody>
      </p:sp>
      <p:sp>
        <p:nvSpPr>
          <p:cNvPr id="26" name="Shape 23"/>
          <p:cNvSpPr/>
          <p:nvPr/>
        </p:nvSpPr>
        <p:spPr>
          <a:xfrm>
            <a:off x="6190488" y="3142610"/>
            <a:ext cx="5434279" cy="1013887"/>
          </a:xfrm>
          <a:prstGeom prst="roundRect">
            <a:avLst>
              <a:gd name="adj" fmla="val 3157"/>
            </a:avLst>
          </a:prstGeom>
          <a:solidFill>
            <a:srgbClr val="F1F5F7"/>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27" name="Text 24"/>
          <p:cNvSpPr/>
          <p:nvPr/>
        </p:nvSpPr>
        <p:spPr>
          <a:xfrm>
            <a:off x="6437376" y="3142610"/>
            <a:ext cx="1691640" cy="1013887"/>
          </a:xfrm>
          <a:prstGeom prst="rect">
            <a:avLst/>
          </a:prstGeom>
          <a:noFill/>
          <a:ln/>
        </p:spPr>
        <p:txBody>
          <a:bodyPr wrap="square" lIns="0" tIns="0" rIns="0" bIns="0" rtlCol="0" anchor="ctr"/>
          <a:lstStyle/>
          <a:p>
            <a:pPr indent="0" marL="0">
              <a:buNone/>
            </a:pPr>
            <a:r>
              <a:rPr lang="en-US" sz="1300" b="1" dirty="0">
                <a:solidFill>
                  <a:srgbClr val="1F5468"/>
                </a:solidFill>
                <a:latin typeface="Calibri" pitchFamily="34" charset="0"/>
                <a:ea typeface="Calibri" pitchFamily="34" charset="-122"/>
                <a:cs typeface="Calibri" pitchFamily="34" charset="-120"/>
              </a:rPr>
              <a:t>Par Pull Request</a:t>
            </a:r>
            <a:endParaRPr lang="en-US" sz="1300" dirty="0"/>
          </a:p>
        </p:txBody>
      </p:sp>
      <p:sp>
        <p:nvSpPr>
          <p:cNvPr id="28" name="Text 25"/>
          <p:cNvSpPr/>
          <p:nvPr/>
        </p:nvSpPr>
        <p:spPr>
          <a:xfrm>
            <a:off x="8202168" y="3142610"/>
            <a:ext cx="3193999" cy="1013887"/>
          </a:xfrm>
          <a:prstGeom prst="rect">
            <a:avLst/>
          </a:prstGeom>
          <a:noFill/>
          <a:ln/>
        </p:spPr>
        <p:txBody>
          <a:bodyPr wrap="square" lIns="0" tIns="0" rIns="0" bIns="0" rtlCol="0" anchor="ctr"/>
          <a:lstStyle/>
          <a:p>
            <a:pPr indent="0" marL="0">
              <a:buNone/>
            </a:pPr>
            <a:r>
              <a:rPr lang="en-US" sz="1250" dirty="0">
                <a:solidFill>
                  <a:srgbClr val="17303F"/>
                </a:solidFill>
                <a:latin typeface="Calibri" pitchFamily="34" charset="0"/>
                <a:ea typeface="Calibri" pitchFamily="34" charset="-122"/>
                <a:cs typeface="Calibri" pitchFamily="34" charset="-120"/>
              </a:rPr>
              <a:t>55 revues, intégration continue bloquante</a:t>
            </a:r>
            <a:endParaRPr lang="en-US" sz="1250" dirty="0"/>
          </a:p>
        </p:txBody>
      </p:sp>
      <p:sp>
        <p:nvSpPr>
          <p:cNvPr id="29" name="Shape 26"/>
          <p:cNvSpPr/>
          <p:nvPr/>
        </p:nvSpPr>
        <p:spPr>
          <a:xfrm>
            <a:off x="6190488" y="4253057"/>
            <a:ext cx="5434279" cy="1013887"/>
          </a:xfrm>
          <a:prstGeom prst="roundRect">
            <a:avLst>
              <a:gd name="adj" fmla="val 3157"/>
            </a:avLst>
          </a:prstGeom>
          <a:solidFill>
            <a:srgbClr val="F1F5F7"/>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30" name="Text 27"/>
          <p:cNvSpPr/>
          <p:nvPr/>
        </p:nvSpPr>
        <p:spPr>
          <a:xfrm>
            <a:off x="6437376" y="4253057"/>
            <a:ext cx="1691640" cy="1013887"/>
          </a:xfrm>
          <a:prstGeom prst="rect">
            <a:avLst/>
          </a:prstGeom>
          <a:noFill/>
          <a:ln/>
        </p:spPr>
        <p:txBody>
          <a:bodyPr wrap="square" lIns="0" tIns="0" rIns="0" bIns="0" rtlCol="0" anchor="ctr"/>
          <a:lstStyle/>
          <a:p>
            <a:pPr indent="0" marL="0">
              <a:buNone/>
            </a:pPr>
            <a:r>
              <a:rPr lang="en-US" sz="1300" b="1" dirty="0">
                <a:solidFill>
                  <a:srgbClr val="1F5468"/>
                </a:solidFill>
                <a:latin typeface="Calibri" pitchFamily="34" charset="0"/>
                <a:ea typeface="Calibri" pitchFamily="34" charset="-122"/>
                <a:cs typeface="Calibri" pitchFamily="34" charset="-120"/>
              </a:rPr>
              <a:t>Par jalon</a:t>
            </a:r>
            <a:endParaRPr lang="en-US" sz="1300" dirty="0"/>
          </a:p>
        </p:txBody>
      </p:sp>
      <p:sp>
        <p:nvSpPr>
          <p:cNvPr id="31" name="Text 28"/>
          <p:cNvSpPr/>
          <p:nvPr/>
        </p:nvSpPr>
        <p:spPr>
          <a:xfrm>
            <a:off x="8202168" y="4253057"/>
            <a:ext cx="3193999" cy="1013887"/>
          </a:xfrm>
          <a:prstGeom prst="rect">
            <a:avLst/>
          </a:prstGeom>
          <a:noFill/>
          <a:ln/>
        </p:spPr>
        <p:txBody>
          <a:bodyPr wrap="square" lIns="0" tIns="0" rIns="0" bIns="0" rtlCol="0" anchor="ctr"/>
          <a:lstStyle/>
          <a:p>
            <a:pPr indent="0" marL="0">
              <a:buNone/>
            </a:pPr>
            <a:r>
              <a:rPr lang="en-US" sz="1250" dirty="0">
                <a:solidFill>
                  <a:srgbClr val="17303F"/>
                </a:solidFill>
                <a:latin typeface="Calibri" pitchFamily="34" charset="0"/>
                <a:ea typeface="Calibri" pitchFamily="34" charset="-122"/>
                <a:cs typeface="Calibri" pitchFamily="34" charset="-120"/>
              </a:rPr>
              <a:t>5 jalons contractuels, de J1 à J5</a:t>
            </a:r>
            <a:endParaRPr lang="en-US" sz="1250" dirty="0"/>
          </a:p>
        </p:txBody>
      </p:sp>
      <p:sp>
        <p:nvSpPr>
          <p:cNvPr id="32" name="Shape 29"/>
          <p:cNvSpPr/>
          <p:nvPr/>
        </p:nvSpPr>
        <p:spPr>
          <a:xfrm>
            <a:off x="6190488" y="5363505"/>
            <a:ext cx="5434279" cy="1013887"/>
          </a:xfrm>
          <a:prstGeom prst="roundRect">
            <a:avLst>
              <a:gd name="adj" fmla="val 3157"/>
            </a:avLst>
          </a:prstGeom>
          <a:solidFill>
            <a:srgbClr val="F1F5F7"/>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33" name="Text 30"/>
          <p:cNvSpPr/>
          <p:nvPr/>
        </p:nvSpPr>
        <p:spPr>
          <a:xfrm>
            <a:off x="6437376" y="5363505"/>
            <a:ext cx="1691640" cy="1013887"/>
          </a:xfrm>
          <a:prstGeom prst="rect">
            <a:avLst/>
          </a:prstGeom>
          <a:noFill/>
          <a:ln/>
        </p:spPr>
        <p:txBody>
          <a:bodyPr wrap="square" lIns="0" tIns="0" rIns="0" bIns="0" rtlCol="0" anchor="ctr"/>
          <a:lstStyle/>
          <a:p>
            <a:pPr indent="0" marL="0">
              <a:buNone/>
            </a:pPr>
            <a:r>
              <a:rPr lang="en-US" sz="1300" b="1" dirty="0">
                <a:solidFill>
                  <a:srgbClr val="1F5468"/>
                </a:solidFill>
                <a:latin typeface="Calibri" pitchFamily="34" charset="0"/>
                <a:ea typeface="Calibri" pitchFamily="34" charset="-122"/>
                <a:cs typeface="Calibri" pitchFamily="34" charset="-120"/>
              </a:rPr>
              <a:t>En recette</a:t>
            </a:r>
            <a:endParaRPr lang="en-US" sz="1300" dirty="0"/>
          </a:p>
        </p:txBody>
      </p:sp>
      <p:sp>
        <p:nvSpPr>
          <p:cNvPr id="34" name="Text 31"/>
          <p:cNvSpPr/>
          <p:nvPr/>
        </p:nvSpPr>
        <p:spPr>
          <a:xfrm>
            <a:off x="8202168" y="5363505"/>
            <a:ext cx="3193999" cy="1013887"/>
          </a:xfrm>
          <a:prstGeom prst="rect">
            <a:avLst/>
          </a:prstGeom>
          <a:noFill/>
          <a:ln/>
        </p:spPr>
        <p:txBody>
          <a:bodyPr wrap="square" lIns="0" tIns="0" rIns="0" bIns="0" rtlCol="0" anchor="ctr"/>
          <a:lstStyle/>
          <a:p>
            <a:pPr indent="0" marL="0">
              <a:buNone/>
            </a:pPr>
            <a:r>
              <a:rPr lang="en-US" sz="1250" dirty="0">
                <a:solidFill>
                  <a:srgbClr val="17303F"/>
                </a:solidFill>
                <a:latin typeface="Calibri" pitchFamily="34" charset="0"/>
                <a:ea typeface="Calibri" pitchFamily="34" charset="-122"/>
                <a:cs typeface="Calibri" pitchFamily="34" charset="-120"/>
              </a:rPr>
              <a:t>18 scénarios : fonctionnels, structurels, de sécurité</a:t>
            </a:r>
            <a:endParaRPr lang="en-US" sz="1250" dirty="0"/>
          </a:p>
        </p:txBody>
      </p:sp>
      <p:sp>
        <p:nvSpPr>
          <p:cNvPr id="35" name="Text 32"/>
          <p:cNvSpPr/>
          <p:nvPr/>
        </p:nvSpPr>
        <p:spPr>
          <a:xfrm>
            <a:off x="10984687" y="6419088"/>
            <a:ext cx="640080" cy="256032"/>
          </a:xfrm>
          <a:prstGeom prst="rect">
            <a:avLst/>
          </a:prstGeom>
          <a:noFill/>
          <a:ln/>
        </p:spPr>
        <p:txBody>
          <a:bodyPr wrap="square" lIns="0" tIns="0" rIns="0" bIns="0" rtlCol="0" anchor="ctr"/>
          <a:lstStyle/>
          <a:p>
            <a:pPr algn="r" indent="0" marL="0">
              <a:buNone/>
            </a:pPr>
            <a:r>
              <a:rPr lang="en-US" sz="1000" dirty="0">
                <a:solidFill>
                  <a:srgbClr val="9FB2BD"/>
                </a:solidFill>
                <a:latin typeface="Courier New" pitchFamily="34" charset="0"/>
                <a:ea typeface="Courier New" pitchFamily="34" charset="-122"/>
                <a:cs typeface="Courier New" pitchFamily="34" charset="-12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66928" y="384048"/>
            <a:ext cx="7740487" cy="219456"/>
          </a:xfrm>
          <a:prstGeom prst="rect">
            <a:avLst/>
          </a:prstGeom>
          <a:noFill/>
          <a:ln/>
        </p:spPr>
        <p:txBody>
          <a:bodyPr wrap="square" lIns="0" tIns="0" rIns="0" bIns="0" rtlCol="0" anchor="ctr"/>
          <a:lstStyle/>
          <a:p>
            <a:pPr indent="0" marL="0">
              <a:buNone/>
            </a:pPr>
            <a:r>
              <a:rPr lang="en-US" sz="1050" b="1" spc="160" kern="0" dirty="0">
                <a:solidFill>
                  <a:srgbClr val="1F5468"/>
                </a:solidFill>
                <a:latin typeface="Courier New" pitchFamily="34" charset="0"/>
                <a:ea typeface="Courier New" pitchFamily="34" charset="-122"/>
                <a:cs typeface="Courier New" pitchFamily="34" charset="-120"/>
              </a:rPr>
              <a:t>PARTIE 4 · SUIVRE LE CLIENT</a:t>
            </a:r>
            <a:endParaRPr lang="en-US" sz="1050" dirty="0"/>
          </a:p>
        </p:txBody>
      </p:sp>
      <p:sp>
        <p:nvSpPr>
          <p:cNvPr id="4" name="Text 1"/>
          <p:cNvSpPr/>
          <p:nvPr/>
        </p:nvSpPr>
        <p:spPr>
          <a:xfrm>
            <a:off x="566928" y="621792"/>
            <a:ext cx="8403958" cy="731520"/>
          </a:xfrm>
          <a:prstGeom prst="rect">
            <a:avLst/>
          </a:prstGeom>
          <a:noFill/>
          <a:ln/>
        </p:spPr>
        <p:txBody>
          <a:bodyPr wrap="square" lIns="0" tIns="0" rIns="0" bIns="0" rtlCol="0" anchor="t"/>
          <a:lstStyle/>
          <a:p>
            <a:pPr indent="0" marL="0">
              <a:buNone/>
            </a:pPr>
            <a:r>
              <a:rPr lang="en-US" sz="2900" b="1" dirty="0">
                <a:solidFill>
                  <a:srgbClr val="0E1D28"/>
                </a:solidFill>
                <a:latin typeface="Cambria" pitchFamily="34" charset="0"/>
                <a:ea typeface="Cambria" pitchFamily="34" charset="-122"/>
                <a:cs typeface="Cambria" pitchFamily="34" charset="-120"/>
              </a:rPr>
              <a:t>Les indicateurs de satisfaction</a:t>
            </a:r>
            <a:endParaRPr lang="en-US" sz="2900" dirty="0"/>
          </a:p>
        </p:txBody>
      </p:sp>
      <p:sp>
        <p:nvSpPr>
          <p:cNvPr id="5" name="Shape 2"/>
          <p:cNvSpPr/>
          <p:nvPr/>
        </p:nvSpPr>
        <p:spPr>
          <a:xfrm>
            <a:off x="10573207" y="384048"/>
            <a:ext cx="1051560" cy="310896"/>
          </a:xfrm>
          <a:prstGeom prst="roundRect">
            <a:avLst>
              <a:gd name="adj" fmla="val 17647"/>
            </a:avLst>
          </a:prstGeom>
          <a:solidFill>
            <a:srgbClr val="E6EDF1"/>
          </a:solidFill>
          <a:ln w="9525">
            <a:solidFill>
              <a:srgbClr val="D5DFE5"/>
            </a:solidFill>
            <a:prstDash val="solid"/>
          </a:ln>
        </p:spPr>
      </p:sp>
      <p:sp>
        <p:nvSpPr>
          <p:cNvPr id="6" name="Text 3"/>
          <p:cNvSpPr/>
          <p:nvPr/>
        </p:nvSpPr>
        <p:spPr>
          <a:xfrm>
            <a:off x="10573207" y="384048"/>
            <a:ext cx="1051560" cy="310896"/>
          </a:xfrm>
          <a:prstGeom prst="rect">
            <a:avLst/>
          </a:prstGeom>
          <a:noFill/>
          <a:ln/>
        </p:spPr>
        <p:txBody>
          <a:bodyPr wrap="square" lIns="0" tIns="0" rIns="0" bIns="0" rtlCol="0" anchor="ctr"/>
          <a:lstStyle/>
          <a:p>
            <a:pPr algn="ctr" indent="0" marL="0">
              <a:buNone/>
            </a:pPr>
            <a:r>
              <a:rPr lang="en-US" sz="1000" b="1" dirty="0">
                <a:solidFill>
                  <a:srgbClr val="1F5468"/>
                </a:solidFill>
                <a:latin typeface="Courier New" pitchFamily="34" charset="0"/>
                <a:ea typeface="Courier New" pitchFamily="34" charset="-122"/>
                <a:cs typeface="Courier New" pitchFamily="34" charset="-120"/>
              </a:rPr>
              <a:t>C3.4.1</a:t>
            </a:r>
            <a:endParaRPr lang="en-US" sz="1000" dirty="0"/>
          </a:p>
        </p:txBody>
      </p:sp>
      <p:sp>
        <p:nvSpPr>
          <p:cNvPr id="7" name="Text 4"/>
          <p:cNvSpPr/>
          <p:nvPr/>
        </p:nvSpPr>
        <p:spPr>
          <a:xfrm>
            <a:off x="566928" y="1645920"/>
            <a:ext cx="4572000" cy="241355"/>
          </a:xfrm>
          <a:prstGeom prst="rect">
            <a:avLst/>
          </a:prstGeom>
          <a:noFill/>
          <a:ln/>
        </p:spPr>
        <p:txBody>
          <a:bodyPr wrap="square" lIns="0" tIns="0" rIns="0" bIns="0" rtlCol="0" anchor="ctr"/>
          <a:lstStyle/>
          <a:p>
            <a:pPr indent="0" marL="0">
              <a:buNone/>
            </a:pPr>
            <a:r>
              <a:rPr lang="en-US" sz="950" b="1" spc="130" kern="0" dirty="0">
                <a:solidFill>
                  <a:srgbClr val="1F5468"/>
                </a:solidFill>
                <a:latin typeface="Courier New" pitchFamily="34" charset="0"/>
                <a:ea typeface="Courier New" pitchFamily="34" charset="-122"/>
                <a:cs typeface="Courier New" pitchFamily="34" charset="-120"/>
              </a:rPr>
              <a:t>MESURÉS SUR LE PROJET</a:t>
            </a:r>
            <a:endParaRPr lang="en-US" sz="950" dirty="0"/>
          </a:p>
        </p:txBody>
      </p:sp>
      <p:sp>
        <p:nvSpPr>
          <p:cNvPr id="8" name="Shape 5"/>
          <p:cNvSpPr/>
          <p:nvPr/>
        </p:nvSpPr>
        <p:spPr>
          <a:xfrm>
            <a:off x="566928" y="1927501"/>
            <a:ext cx="3533546" cy="1860445"/>
          </a:xfrm>
          <a:prstGeom prst="roundRect">
            <a:avLst>
              <a:gd name="adj" fmla="val 1720"/>
            </a:avLst>
          </a:prstGeom>
          <a:solidFill>
            <a:srgbClr val="F1F5F7"/>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9" name="Text 6"/>
          <p:cNvSpPr/>
          <p:nvPr/>
        </p:nvSpPr>
        <p:spPr>
          <a:xfrm>
            <a:off x="786384" y="2048178"/>
            <a:ext cx="3094634" cy="623500"/>
          </a:xfrm>
          <a:prstGeom prst="rect">
            <a:avLst/>
          </a:prstGeom>
          <a:noFill/>
          <a:ln/>
        </p:spPr>
        <p:txBody>
          <a:bodyPr wrap="square" lIns="0" tIns="0" rIns="0" bIns="0" rtlCol="0" anchor="ctr"/>
          <a:lstStyle/>
          <a:p>
            <a:pPr indent="0" marL="0">
              <a:buNone/>
            </a:pPr>
            <a:r>
              <a:rPr lang="en-US" sz="3200" b="1" dirty="0">
                <a:solidFill>
                  <a:srgbClr val="35704F"/>
                </a:solidFill>
                <a:latin typeface="Cambria" pitchFamily="34" charset="0"/>
                <a:ea typeface="Cambria" pitchFamily="34" charset="-122"/>
                <a:cs typeface="Cambria" pitchFamily="34" charset="-120"/>
              </a:rPr>
              <a:t>16 / 18</a:t>
            </a:r>
            <a:endParaRPr lang="en-US" sz="3200" dirty="0"/>
          </a:p>
        </p:txBody>
      </p:sp>
      <p:sp>
        <p:nvSpPr>
          <p:cNvPr id="10" name="Text 7"/>
          <p:cNvSpPr/>
          <p:nvPr/>
        </p:nvSpPr>
        <p:spPr>
          <a:xfrm>
            <a:off x="786384" y="2671679"/>
            <a:ext cx="3094634" cy="683839"/>
          </a:xfrm>
          <a:prstGeom prst="rect">
            <a:avLst/>
          </a:prstGeom>
          <a:noFill/>
          <a:ln/>
        </p:spPr>
        <p:txBody>
          <a:bodyPr wrap="square" lIns="0" tIns="0" rIns="0" bIns="0" rtlCol="0" anchor="t"/>
          <a:lstStyle/>
          <a:p>
            <a:pPr indent="0" marL="0">
              <a:buNone/>
            </a:pPr>
            <a:r>
              <a:rPr lang="en-US" sz="1250" dirty="0">
                <a:solidFill>
                  <a:srgbClr val="0E1D28"/>
                </a:solidFill>
                <a:latin typeface="Calibri" pitchFamily="34" charset="0"/>
                <a:ea typeface="Calibri" pitchFamily="34" charset="-122"/>
                <a:cs typeface="Calibri" pitchFamily="34" charset="-120"/>
              </a:rPr>
              <a:t>scénarios de recette validés dès la première exécution</a:t>
            </a:r>
            <a:endParaRPr lang="en-US" sz="1250" dirty="0"/>
          </a:p>
        </p:txBody>
      </p:sp>
      <p:sp>
        <p:nvSpPr>
          <p:cNvPr id="11" name="Text 8"/>
          <p:cNvSpPr/>
          <p:nvPr/>
        </p:nvSpPr>
        <p:spPr>
          <a:xfrm>
            <a:off x="786384" y="3355518"/>
            <a:ext cx="3094634" cy="382145"/>
          </a:xfrm>
          <a:prstGeom prst="rect">
            <a:avLst/>
          </a:prstGeom>
          <a:noFill/>
          <a:ln/>
        </p:spPr>
        <p:txBody>
          <a:bodyPr wrap="square" lIns="0" tIns="0" rIns="0" bIns="0" rtlCol="0" anchor="t"/>
          <a:lstStyle/>
          <a:p>
            <a:pPr indent="0" marL="0">
              <a:buNone/>
            </a:pPr>
            <a:r>
              <a:rPr lang="en-US" sz="1050" i="1" dirty="0">
                <a:solidFill>
                  <a:srgbClr val="5B6E7B"/>
                </a:solidFill>
                <a:latin typeface="Calibri" pitchFamily="34" charset="0"/>
                <a:ea typeface="Calibri" pitchFamily="34" charset="-122"/>
                <a:cs typeface="Calibri" pitchFamily="34" charset="-120"/>
              </a:rPr>
              <a:t>les 2 autres ont été corrigés, puis re-testés avec succès</a:t>
            </a:r>
            <a:endParaRPr lang="en-US" sz="1050" dirty="0"/>
          </a:p>
        </p:txBody>
      </p:sp>
      <p:sp>
        <p:nvSpPr>
          <p:cNvPr id="12" name="Shape 9"/>
          <p:cNvSpPr/>
          <p:nvPr/>
        </p:nvSpPr>
        <p:spPr>
          <a:xfrm>
            <a:off x="4329074" y="1927501"/>
            <a:ext cx="3533546" cy="1860445"/>
          </a:xfrm>
          <a:prstGeom prst="roundRect">
            <a:avLst>
              <a:gd name="adj" fmla="val 1720"/>
            </a:avLst>
          </a:prstGeom>
          <a:solidFill>
            <a:srgbClr val="F1F5F7"/>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13" name="Text 10"/>
          <p:cNvSpPr/>
          <p:nvPr/>
        </p:nvSpPr>
        <p:spPr>
          <a:xfrm>
            <a:off x="4548530" y="2048178"/>
            <a:ext cx="3094634" cy="623500"/>
          </a:xfrm>
          <a:prstGeom prst="rect">
            <a:avLst/>
          </a:prstGeom>
          <a:noFill/>
          <a:ln/>
        </p:spPr>
        <p:txBody>
          <a:bodyPr wrap="square" lIns="0" tIns="0" rIns="0" bIns="0" rtlCol="0" anchor="ctr"/>
          <a:lstStyle/>
          <a:p>
            <a:pPr indent="0" marL="0">
              <a:buNone/>
            </a:pPr>
            <a:r>
              <a:rPr lang="en-US" sz="3200" b="1" dirty="0">
                <a:solidFill>
                  <a:srgbClr val="35704F"/>
                </a:solidFill>
                <a:latin typeface="Cambria" pitchFamily="34" charset="0"/>
                <a:ea typeface="Cambria" pitchFamily="34" charset="-122"/>
                <a:cs typeface="Cambria" pitchFamily="34" charset="-120"/>
              </a:rPr>
              <a:t>0</a:t>
            </a:r>
            <a:endParaRPr lang="en-US" sz="3200" dirty="0"/>
          </a:p>
        </p:txBody>
      </p:sp>
      <p:sp>
        <p:nvSpPr>
          <p:cNvPr id="14" name="Text 11"/>
          <p:cNvSpPr/>
          <p:nvPr/>
        </p:nvSpPr>
        <p:spPr>
          <a:xfrm>
            <a:off x="4548530" y="2671679"/>
            <a:ext cx="3094634" cy="683839"/>
          </a:xfrm>
          <a:prstGeom prst="rect">
            <a:avLst/>
          </a:prstGeom>
          <a:noFill/>
          <a:ln/>
        </p:spPr>
        <p:txBody>
          <a:bodyPr wrap="square" lIns="0" tIns="0" rIns="0" bIns="0" rtlCol="0" anchor="t"/>
          <a:lstStyle/>
          <a:p>
            <a:pPr indent="0" marL="0">
              <a:buNone/>
            </a:pPr>
            <a:r>
              <a:rPr lang="en-US" sz="1250" dirty="0">
                <a:solidFill>
                  <a:srgbClr val="0E1D28"/>
                </a:solidFill>
                <a:latin typeface="Calibri" pitchFamily="34" charset="0"/>
                <a:ea typeface="Calibri" pitchFamily="34" charset="-122"/>
                <a:cs typeface="Calibri" pitchFamily="34" charset="-120"/>
              </a:rPr>
              <a:t>anomalie bloquante encore ouverte le jour de la livraison</a:t>
            </a:r>
            <a:endParaRPr lang="en-US" sz="1250" dirty="0"/>
          </a:p>
        </p:txBody>
      </p:sp>
      <p:sp>
        <p:nvSpPr>
          <p:cNvPr id="15" name="Text 12"/>
          <p:cNvSpPr/>
          <p:nvPr/>
        </p:nvSpPr>
        <p:spPr>
          <a:xfrm>
            <a:off x="4548530" y="3355518"/>
            <a:ext cx="3094634" cy="382145"/>
          </a:xfrm>
          <a:prstGeom prst="rect">
            <a:avLst/>
          </a:prstGeom>
          <a:noFill/>
          <a:ln/>
        </p:spPr>
        <p:txBody>
          <a:bodyPr wrap="square" lIns="0" tIns="0" rIns="0" bIns="0" rtlCol="0" anchor="t"/>
          <a:lstStyle/>
          <a:p>
            <a:pPr indent="0" marL="0">
              <a:buNone/>
            </a:pPr>
            <a:r>
              <a:rPr lang="en-US" sz="1050" i="1" dirty="0">
                <a:solidFill>
                  <a:srgbClr val="5B6E7B"/>
                </a:solidFill>
                <a:latin typeface="Calibri" pitchFamily="34" charset="0"/>
                <a:ea typeface="Calibri" pitchFamily="34" charset="-122"/>
                <a:cs typeface="Calibri" pitchFamily="34" charset="-120"/>
              </a:rPr>
              <a:t>AN-01 et AN-02 corrigées et vérifiées avant la remise</a:t>
            </a:r>
            <a:endParaRPr lang="en-US" sz="1050" dirty="0"/>
          </a:p>
        </p:txBody>
      </p:sp>
      <p:sp>
        <p:nvSpPr>
          <p:cNvPr id="16" name="Shape 13"/>
          <p:cNvSpPr/>
          <p:nvPr/>
        </p:nvSpPr>
        <p:spPr>
          <a:xfrm>
            <a:off x="8091221" y="1927501"/>
            <a:ext cx="3533546" cy="1860445"/>
          </a:xfrm>
          <a:prstGeom prst="roundRect">
            <a:avLst>
              <a:gd name="adj" fmla="val 1720"/>
            </a:avLst>
          </a:prstGeom>
          <a:solidFill>
            <a:srgbClr val="F1F5F7"/>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17" name="Text 14"/>
          <p:cNvSpPr/>
          <p:nvPr/>
        </p:nvSpPr>
        <p:spPr>
          <a:xfrm>
            <a:off x="8310677" y="2048178"/>
            <a:ext cx="3094634" cy="623500"/>
          </a:xfrm>
          <a:prstGeom prst="rect">
            <a:avLst/>
          </a:prstGeom>
          <a:noFill/>
          <a:ln/>
        </p:spPr>
        <p:txBody>
          <a:bodyPr wrap="square" lIns="0" tIns="0" rIns="0" bIns="0" rtlCol="0" anchor="ctr"/>
          <a:lstStyle/>
          <a:p>
            <a:pPr indent="0" marL="0">
              <a:buNone/>
            </a:pPr>
            <a:r>
              <a:rPr lang="en-US" sz="3200" b="1" dirty="0">
                <a:solidFill>
                  <a:srgbClr val="35704F"/>
                </a:solidFill>
                <a:latin typeface="Cambria" pitchFamily="34" charset="0"/>
                <a:ea typeface="Cambria" pitchFamily="34" charset="-122"/>
                <a:cs typeface="Cambria" pitchFamily="34" charset="-120"/>
              </a:rPr>
              <a:t>&lt; 24 h</a:t>
            </a:r>
            <a:endParaRPr lang="en-US" sz="3200" dirty="0"/>
          </a:p>
        </p:txBody>
      </p:sp>
      <p:sp>
        <p:nvSpPr>
          <p:cNvPr id="18" name="Text 15"/>
          <p:cNvSpPr/>
          <p:nvPr/>
        </p:nvSpPr>
        <p:spPr>
          <a:xfrm>
            <a:off x="8310677" y="2671679"/>
            <a:ext cx="3094634" cy="683839"/>
          </a:xfrm>
          <a:prstGeom prst="rect">
            <a:avLst/>
          </a:prstGeom>
          <a:noFill/>
          <a:ln/>
        </p:spPr>
        <p:txBody>
          <a:bodyPr wrap="square" lIns="0" tIns="0" rIns="0" bIns="0" rtlCol="0" anchor="t"/>
          <a:lstStyle/>
          <a:p>
            <a:pPr indent="0" marL="0">
              <a:buNone/>
            </a:pPr>
            <a:r>
              <a:rPr lang="en-US" sz="1250" dirty="0">
                <a:solidFill>
                  <a:srgbClr val="0E1D28"/>
                </a:solidFill>
                <a:latin typeface="Calibri" pitchFamily="34" charset="0"/>
                <a:ea typeface="Calibri" pitchFamily="34" charset="-122"/>
                <a:cs typeface="Calibri" pitchFamily="34" charset="-120"/>
              </a:rPr>
              <a:t>entre le signalement d'une anomalie par un utilisateur et sa correction vérifiée</a:t>
            </a:r>
            <a:endParaRPr lang="en-US" sz="1250" dirty="0"/>
          </a:p>
        </p:txBody>
      </p:sp>
      <p:sp>
        <p:nvSpPr>
          <p:cNvPr id="19" name="Text 16"/>
          <p:cNvSpPr/>
          <p:nvPr/>
        </p:nvSpPr>
        <p:spPr>
          <a:xfrm>
            <a:off x="8310677" y="3355518"/>
            <a:ext cx="3094634" cy="382145"/>
          </a:xfrm>
          <a:prstGeom prst="rect">
            <a:avLst/>
          </a:prstGeom>
          <a:noFill/>
          <a:ln/>
        </p:spPr>
        <p:txBody>
          <a:bodyPr wrap="square" lIns="0" tIns="0" rIns="0" bIns="0" rtlCol="0" anchor="t"/>
          <a:lstStyle/>
          <a:p>
            <a:pPr indent="0" marL="0">
              <a:buNone/>
            </a:pPr>
            <a:r>
              <a:rPr lang="en-US" sz="1050" i="1" dirty="0">
                <a:solidFill>
                  <a:srgbClr val="5B6E7B"/>
                </a:solidFill>
                <a:latin typeface="Calibri" pitchFamily="34" charset="0"/>
                <a:ea typeface="Calibri" pitchFamily="34" charset="-122"/>
                <a:cs typeface="Calibri" pitchFamily="34" charset="-120"/>
              </a:rPr>
              <a:t>AN-02 : création de compte refusée, diagnostiquée et corrigée le jour même</a:t>
            </a:r>
            <a:endParaRPr lang="en-US" sz="1050" dirty="0"/>
          </a:p>
        </p:txBody>
      </p:sp>
      <p:sp>
        <p:nvSpPr>
          <p:cNvPr id="20" name="Shape 17"/>
          <p:cNvSpPr/>
          <p:nvPr/>
        </p:nvSpPr>
        <p:spPr>
          <a:xfrm>
            <a:off x="566928" y="4019244"/>
            <a:ext cx="11057839" cy="2363268"/>
          </a:xfrm>
          <a:prstGeom prst="roundRect">
            <a:avLst>
              <a:gd name="adj" fmla="val 1354"/>
            </a:avLst>
          </a:prstGeom>
          <a:solidFill>
            <a:srgbClr val="0E1D28"/>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21" name="Text 18"/>
          <p:cNvSpPr/>
          <p:nvPr/>
        </p:nvSpPr>
        <p:spPr>
          <a:xfrm>
            <a:off x="841248" y="4180148"/>
            <a:ext cx="4572000" cy="241355"/>
          </a:xfrm>
          <a:prstGeom prst="rect">
            <a:avLst/>
          </a:prstGeom>
          <a:noFill/>
          <a:ln/>
        </p:spPr>
        <p:txBody>
          <a:bodyPr wrap="square" lIns="0" tIns="0" rIns="0" bIns="0" rtlCol="0" anchor="ctr"/>
          <a:lstStyle/>
          <a:p>
            <a:pPr indent="0" marL="0">
              <a:buNone/>
            </a:pPr>
            <a:r>
              <a:rPr lang="en-US" sz="950" b="1" spc="130" kern="0" dirty="0">
                <a:solidFill>
                  <a:srgbClr val="F0AE44"/>
                </a:solidFill>
                <a:latin typeface="Courier New" pitchFamily="34" charset="0"/>
                <a:ea typeface="Courier New" pitchFamily="34" charset="-122"/>
                <a:cs typeface="Courier New" pitchFamily="34" charset="-120"/>
              </a:rPr>
              <a:t>LA LIMITE QUE J'ASSUME</a:t>
            </a:r>
            <a:endParaRPr lang="en-US" sz="950" dirty="0"/>
          </a:p>
        </p:txBody>
      </p:sp>
      <p:sp>
        <p:nvSpPr>
          <p:cNvPr id="22" name="Text 19"/>
          <p:cNvSpPr/>
          <p:nvPr/>
        </p:nvSpPr>
        <p:spPr>
          <a:xfrm>
            <a:off x="841248" y="4461728"/>
            <a:ext cx="10509199" cy="603388"/>
          </a:xfrm>
          <a:prstGeom prst="rect">
            <a:avLst/>
          </a:prstGeom>
          <a:noFill/>
          <a:ln/>
        </p:spPr>
        <p:txBody>
          <a:bodyPr wrap="square" lIns="0" tIns="0" rIns="0" bIns="0" rtlCol="0" anchor="t"/>
          <a:lstStyle/>
          <a:p>
            <a:pPr indent="0" marL="0">
              <a:buNone/>
            </a:pPr>
            <a:r>
              <a:rPr lang="en-US" sz="1300" dirty="0">
                <a:solidFill>
                  <a:srgbClr val="C6D6DF"/>
                </a:solidFill>
                <a:latin typeface="Calibri" pitchFamily="34" charset="0"/>
                <a:ea typeface="Calibri" pitchFamily="34" charset="-122"/>
                <a:cs typeface="Calibri" pitchFamily="34" charset="-120"/>
              </a:rPr>
              <a:t>Aucun retour utilisateur structuré n'a été collecté sur la démonstration publique. Mes indicateurs mesurent la conformité du produit, pas la satisfaction de ceux qui l'utilisent. C'est une limite réelle, et je préfère la nommer plutôt que de la combler par un exemple reconstitué.</a:t>
            </a:r>
            <a:endParaRPr lang="en-US" sz="1300" dirty="0"/>
          </a:p>
        </p:txBody>
      </p:sp>
      <p:sp>
        <p:nvSpPr>
          <p:cNvPr id="23" name="Text 20"/>
          <p:cNvSpPr/>
          <p:nvPr/>
        </p:nvSpPr>
        <p:spPr>
          <a:xfrm>
            <a:off x="841248" y="5165681"/>
            <a:ext cx="7315200" cy="241355"/>
          </a:xfrm>
          <a:prstGeom prst="rect">
            <a:avLst/>
          </a:prstGeom>
          <a:noFill/>
          <a:ln/>
        </p:spPr>
        <p:txBody>
          <a:bodyPr wrap="square" lIns="0" tIns="0" rIns="0" bIns="0" rtlCol="0" anchor="ctr"/>
          <a:lstStyle/>
          <a:p>
            <a:pPr indent="0" marL="0">
              <a:buNone/>
            </a:pPr>
            <a:r>
              <a:rPr lang="en-US" sz="900" b="1" spc="110" kern="0" dirty="0">
                <a:solidFill>
                  <a:srgbClr val="8FA6B4"/>
                </a:solidFill>
                <a:latin typeface="Courier New" pitchFamily="34" charset="0"/>
                <a:ea typeface="Courier New" pitchFamily="34" charset="-122"/>
                <a:cs typeface="Courier New" pitchFamily="34" charset="-120"/>
              </a:rPr>
              <a:t>LE DISPOSITIF PROPOSÉ, COHÉRENT AVEC UNE PLACE DE MARCHÉ À DEUX VERSANTS</a:t>
            </a:r>
            <a:endParaRPr lang="en-US" sz="900" dirty="0"/>
          </a:p>
        </p:txBody>
      </p:sp>
      <p:sp>
        <p:nvSpPr>
          <p:cNvPr id="24" name="Text 21"/>
          <p:cNvSpPr/>
          <p:nvPr/>
        </p:nvSpPr>
        <p:spPr>
          <a:xfrm>
            <a:off x="841248" y="5447261"/>
            <a:ext cx="3274466" cy="261468"/>
          </a:xfrm>
          <a:prstGeom prst="rect">
            <a:avLst/>
          </a:prstGeom>
          <a:noFill/>
          <a:ln/>
        </p:spPr>
        <p:txBody>
          <a:bodyPr wrap="square" lIns="0" tIns="0" rIns="0" bIns="0" rtlCol="0" anchor="ctr"/>
          <a:lstStyle/>
          <a:p>
            <a:pPr indent="0" marL="0">
              <a:buNone/>
            </a:pPr>
            <a:r>
              <a:rPr lang="en-US" sz="1250" b="1" dirty="0">
                <a:solidFill>
                  <a:srgbClr val="F0AE44"/>
                </a:solidFill>
                <a:latin typeface="Calibri" pitchFamily="34" charset="0"/>
                <a:ea typeface="Calibri" pitchFamily="34" charset="-122"/>
                <a:cs typeface="Calibri" pitchFamily="34" charset="-120"/>
              </a:rPr>
              <a:t>Côté recruteur</a:t>
            </a:r>
            <a:endParaRPr lang="en-US" sz="1250" dirty="0"/>
          </a:p>
        </p:txBody>
      </p:sp>
      <p:sp>
        <p:nvSpPr>
          <p:cNvPr id="25" name="Text 22"/>
          <p:cNvSpPr/>
          <p:nvPr/>
        </p:nvSpPr>
        <p:spPr>
          <a:xfrm>
            <a:off x="841248" y="5688616"/>
            <a:ext cx="3274466" cy="442484"/>
          </a:xfrm>
          <a:prstGeom prst="rect">
            <a:avLst/>
          </a:prstGeom>
          <a:noFill/>
          <a:ln/>
        </p:spPr>
        <p:txBody>
          <a:bodyPr wrap="square" lIns="0" tIns="0" rIns="0" bIns="0" rtlCol="0" anchor="t"/>
          <a:lstStyle/>
          <a:p>
            <a:pPr indent="0" marL="0">
              <a:buNone/>
            </a:pPr>
            <a:r>
              <a:rPr lang="en-US" sz="1100" dirty="0">
                <a:solidFill>
                  <a:srgbClr val="A9BDC9"/>
                </a:solidFill>
                <a:latin typeface="Calibri" pitchFamily="34" charset="0"/>
                <a:ea typeface="Calibri" pitchFamily="34" charset="-122"/>
                <a:cs typeface="Calibri" pitchFamily="34" charset="-120"/>
              </a:rPr>
              <a:t>Pertinence perçue des profils proposés, notée de 1 à 5 après chaque recherche</a:t>
            </a:r>
            <a:endParaRPr lang="en-US" sz="1100" dirty="0"/>
          </a:p>
        </p:txBody>
      </p:sp>
      <p:sp>
        <p:nvSpPr>
          <p:cNvPr id="26" name="Text 23"/>
          <p:cNvSpPr/>
          <p:nvPr/>
        </p:nvSpPr>
        <p:spPr>
          <a:xfrm>
            <a:off x="4344314" y="5447261"/>
            <a:ext cx="3274466" cy="261468"/>
          </a:xfrm>
          <a:prstGeom prst="rect">
            <a:avLst/>
          </a:prstGeom>
          <a:noFill/>
          <a:ln/>
        </p:spPr>
        <p:txBody>
          <a:bodyPr wrap="square" lIns="0" tIns="0" rIns="0" bIns="0" rtlCol="0" anchor="ctr"/>
          <a:lstStyle/>
          <a:p>
            <a:pPr indent="0" marL="0">
              <a:buNone/>
            </a:pPr>
            <a:r>
              <a:rPr lang="en-US" sz="1250" b="1" dirty="0">
                <a:solidFill>
                  <a:srgbClr val="F0AE44"/>
                </a:solidFill>
                <a:latin typeface="Calibri" pitchFamily="34" charset="0"/>
                <a:ea typeface="Calibri" pitchFamily="34" charset="-122"/>
                <a:cs typeface="Calibri" pitchFamily="34" charset="-120"/>
              </a:rPr>
              <a:t>Côté freelance</a:t>
            </a:r>
            <a:endParaRPr lang="en-US" sz="1250" dirty="0"/>
          </a:p>
        </p:txBody>
      </p:sp>
      <p:sp>
        <p:nvSpPr>
          <p:cNvPr id="27" name="Text 24"/>
          <p:cNvSpPr/>
          <p:nvPr/>
        </p:nvSpPr>
        <p:spPr>
          <a:xfrm>
            <a:off x="4344314" y="5688616"/>
            <a:ext cx="3274466" cy="442484"/>
          </a:xfrm>
          <a:prstGeom prst="rect">
            <a:avLst/>
          </a:prstGeom>
          <a:noFill/>
          <a:ln/>
        </p:spPr>
        <p:txBody>
          <a:bodyPr wrap="square" lIns="0" tIns="0" rIns="0" bIns="0" rtlCol="0" anchor="t"/>
          <a:lstStyle/>
          <a:p>
            <a:pPr indent="0" marL="0">
              <a:buNone/>
            </a:pPr>
            <a:r>
              <a:rPr lang="en-US" sz="1100" dirty="0">
                <a:solidFill>
                  <a:srgbClr val="A9BDC9"/>
                </a:solidFill>
                <a:latin typeface="Calibri" pitchFamily="34" charset="0"/>
                <a:ea typeface="Calibri" pitchFamily="34" charset="-122"/>
                <a:cs typeface="Calibri" pitchFamily="34" charset="-120"/>
              </a:rPr>
              <a:t>Taux de complétion du tunnel d'inscription — l'indicateur du risque R10</a:t>
            </a:r>
            <a:endParaRPr lang="en-US" sz="1100" dirty="0"/>
          </a:p>
        </p:txBody>
      </p:sp>
      <p:sp>
        <p:nvSpPr>
          <p:cNvPr id="28" name="Text 25"/>
          <p:cNvSpPr/>
          <p:nvPr/>
        </p:nvSpPr>
        <p:spPr>
          <a:xfrm>
            <a:off x="7847381" y="5447261"/>
            <a:ext cx="3274466" cy="261468"/>
          </a:xfrm>
          <a:prstGeom prst="rect">
            <a:avLst/>
          </a:prstGeom>
          <a:noFill/>
          <a:ln/>
        </p:spPr>
        <p:txBody>
          <a:bodyPr wrap="square" lIns="0" tIns="0" rIns="0" bIns="0" rtlCol="0" anchor="ctr"/>
          <a:lstStyle/>
          <a:p>
            <a:pPr indent="0" marL="0">
              <a:buNone/>
            </a:pPr>
            <a:r>
              <a:rPr lang="en-US" sz="1250" b="1" dirty="0">
                <a:solidFill>
                  <a:srgbClr val="F0AE44"/>
                </a:solidFill>
                <a:latin typeface="Calibri" pitchFamily="34" charset="0"/>
                <a:ea typeface="Calibri" pitchFamily="34" charset="-122"/>
                <a:cs typeface="Calibri" pitchFamily="34" charset="-120"/>
              </a:rPr>
              <a:t>Les deux</a:t>
            </a:r>
            <a:endParaRPr lang="en-US" sz="1250" dirty="0"/>
          </a:p>
        </p:txBody>
      </p:sp>
      <p:sp>
        <p:nvSpPr>
          <p:cNvPr id="29" name="Text 26"/>
          <p:cNvSpPr/>
          <p:nvPr/>
        </p:nvSpPr>
        <p:spPr>
          <a:xfrm>
            <a:off x="7847381" y="5688616"/>
            <a:ext cx="3274466" cy="442484"/>
          </a:xfrm>
          <a:prstGeom prst="rect">
            <a:avLst/>
          </a:prstGeom>
          <a:noFill/>
          <a:ln/>
        </p:spPr>
        <p:txBody>
          <a:bodyPr wrap="square" lIns="0" tIns="0" rIns="0" bIns="0" rtlCol="0" anchor="t"/>
          <a:lstStyle/>
          <a:p>
            <a:pPr indent="0" marL="0">
              <a:buNone/>
            </a:pPr>
            <a:r>
              <a:rPr lang="en-US" sz="1100" dirty="0">
                <a:solidFill>
                  <a:srgbClr val="A9BDC9"/>
                </a:solidFill>
                <a:latin typeface="Calibri" pitchFamily="34" charset="0"/>
                <a:ea typeface="Calibri" pitchFamily="34" charset="-122"/>
                <a:cs typeface="Calibri" pitchFamily="34" charset="-120"/>
              </a:rPr>
              <a:t>Entretiens avec trois utilisateurs cibles et formulaire en pied de démonstration</a:t>
            </a:r>
            <a:endParaRPr lang="en-US" sz="1100" dirty="0"/>
          </a:p>
        </p:txBody>
      </p:sp>
      <p:sp>
        <p:nvSpPr>
          <p:cNvPr id="30" name="Text 27"/>
          <p:cNvSpPr/>
          <p:nvPr/>
        </p:nvSpPr>
        <p:spPr>
          <a:xfrm>
            <a:off x="10984687" y="6419088"/>
            <a:ext cx="640080" cy="256032"/>
          </a:xfrm>
          <a:prstGeom prst="rect">
            <a:avLst/>
          </a:prstGeom>
          <a:noFill/>
          <a:ln/>
        </p:spPr>
        <p:txBody>
          <a:bodyPr wrap="square" lIns="0" tIns="0" rIns="0" bIns="0" rtlCol="0" anchor="ctr"/>
          <a:lstStyle/>
          <a:p>
            <a:pPr algn="r" indent="0" marL="0">
              <a:buNone/>
            </a:pPr>
            <a:r>
              <a:rPr lang="en-US" sz="1000" dirty="0">
                <a:solidFill>
                  <a:srgbClr val="9FB2BD"/>
                </a:solidFill>
                <a:latin typeface="Courier New" pitchFamily="34" charset="0"/>
                <a:ea typeface="Courier New" pitchFamily="34" charset="-122"/>
                <a:cs typeface="Courier New" pitchFamily="34" charset="-120"/>
              </a:rPr>
              <a:t>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E1D28"/>
        </a:solidFill>
      </p:bgPr>
    </p:bg>
    <p:spTree>
      <p:nvGrpSpPr>
        <p:cNvPr id="1" name=""/>
        <p:cNvGrpSpPr/>
        <p:nvPr/>
      </p:nvGrpSpPr>
      <p:grpSpPr>
        <a:xfrm>
          <a:off x="0" y="0"/>
          <a:ext cx="0" cy="0"/>
          <a:chOff x="0" y="0"/>
          <a:chExt cx="0" cy="0"/>
        </a:xfrm>
      </p:grpSpPr>
      <p:sp>
        <p:nvSpPr>
          <p:cNvPr id="3" name="Text 0"/>
          <p:cNvSpPr/>
          <p:nvPr/>
        </p:nvSpPr>
        <p:spPr>
          <a:xfrm>
            <a:off x="566928" y="1737360"/>
            <a:ext cx="1828800" cy="1463040"/>
          </a:xfrm>
          <a:prstGeom prst="rect">
            <a:avLst/>
          </a:prstGeom>
          <a:noFill/>
          <a:ln/>
        </p:spPr>
        <p:txBody>
          <a:bodyPr wrap="square" lIns="0" tIns="0" rIns="0" bIns="0" rtlCol="0" anchor="ctr"/>
          <a:lstStyle/>
          <a:p>
            <a:pPr indent="0" marL="0">
              <a:buNone/>
            </a:pPr>
            <a:r>
              <a:rPr lang="en-US" sz="10000" b="1" dirty="0">
                <a:solidFill>
                  <a:srgbClr val="1E3646"/>
                </a:solidFill>
                <a:latin typeface="Cambria" pitchFamily="34" charset="0"/>
                <a:ea typeface="Cambria" pitchFamily="34" charset="-122"/>
                <a:cs typeface="Cambria" pitchFamily="34" charset="-120"/>
              </a:rPr>
              <a:t>05</a:t>
            </a:r>
            <a:endParaRPr lang="en-US" sz="10000" dirty="0"/>
          </a:p>
        </p:txBody>
      </p:sp>
      <p:sp>
        <p:nvSpPr>
          <p:cNvPr id="4" name="Text 1"/>
          <p:cNvSpPr/>
          <p:nvPr/>
        </p:nvSpPr>
        <p:spPr>
          <a:xfrm>
            <a:off x="566928" y="3017520"/>
            <a:ext cx="9144000" cy="100584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Démontrer</a:t>
            </a:r>
            <a:endParaRPr lang="en-US" sz="6000" dirty="0"/>
          </a:p>
        </p:txBody>
      </p:sp>
      <p:sp>
        <p:nvSpPr>
          <p:cNvPr id="5" name="Text 2"/>
          <p:cNvSpPr/>
          <p:nvPr/>
        </p:nvSpPr>
        <p:spPr>
          <a:xfrm>
            <a:off x="566928" y="4069080"/>
            <a:ext cx="7863840" cy="548640"/>
          </a:xfrm>
          <a:prstGeom prst="rect">
            <a:avLst/>
          </a:prstGeom>
          <a:noFill/>
          <a:ln/>
        </p:spPr>
        <p:txBody>
          <a:bodyPr wrap="square" lIns="0" tIns="0" rIns="0" bIns="0" rtlCol="0" anchor="ctr"/>
          <a:lstStyle/>
          <a:p>
            <a:pPr indent="0" marL="0">
              <a:buNone/>
            </a:pPr>
            <a:r>
              <a:rPr lang="en-US" sz="1500" dirty="0">
                <a:solidFill>
                  <a:srgbClr val="A9BDC9"/>
                </a:solidFill>
                <a:latin typeface="Calibri" pitchFamily="34" charset="0"/>
                <a:ea typeface="Calibri" pitchFamily="34" charset="-122"/>
                <a:cs typeface="Calibri" pitchFamily="34" charset="-120"/>
              </a:rPr>
              <a:t>La dernière version du logiciel, en fonctionnement, devant le jury</a:t>
            </a:r>
            <a:endParaRPr lang="en-US" sz="1500" dirty="0"/>
          </a:p>
        </p:txBody>
      </p:sp>
      <p:sp>
        <p:nvSpPr>
          <p:cNvPr id="6" name="Shape 3"/>
          <p:cNvSpPr/>
          <p:nvPr/>
        </p:nvSpPr>
        <p:spPr>
          <a:xfrm>
            <a:off x="8790127" y="3154680"/>
            <a:ext cx="1463040" cy="420624"/>
          </a:xfrm>
          <a:prstGeom prst="roundRect">
            <a:avLst>
              <a:gd name="adj" fmla="val 15217"/>
            </a:avLst>
          </a:prstGeom>
          <a:solidFill>
            <a:srgbClr val="D98A21"/>
          </a:solidFill>
          <a:ln/>
        </p:spPr>
      </p:sp>
      <p:sp>
        <p:nvSpPr>
          <p:cNvPr id="7" name="Text 4"/>
          <p:cNvSpPr/>
          <p:nvPr/>
        </p:nvSpPr>
        <p:spPr>
          <a:xfrm>
            <a:off x="8790127" y="3154680"/>
            <a:ext cx="1463040" cy="420624"/>
          </a:xfrm>
          <a:prstGeom prst="rect">
            <a:avLst/>
          </a:prstGeom>
          <a:noFill/>
          <a:ln/>
        </p:spPr>
        <p:txBody>
          <a:bodyPr wrap="square" lIns="0" tIns="0" rIns="0" bIns="0" rtlCol="0" anchor="ctr"/>
          <a:lstStyle/>
          <a:p>
            <a:pPr algn="ctr" indent="0" marL="0">
              <a:buNone/>
            </a:pPr>
            <a:r>
              <a:rPr lang="en-US" sz="1500" b="1" dirty="0">
                <a:solidFill>
                  <a:srgbClr val="0E1D28"/>
                </a:solidFill>
                <a:latin typeface="Courier New" pitchFamily="34" charset="0"/>
                <a:ea typeface="Courier New" pitchFamily="34" charset="-122"/>
                <a:cs typeface="Courier New" pitchFamily="34" charset="-120"/>
              </a:rPr>
              <a:t>C3.4.2</a:t>
            </a:r>
            <a:endParaRPr lang="en-US" sz="1500" dirty="0"/>
          </a:p>
        </p:txBody>
      </p:sp>
      <p:sp>
        <p:nvSpPr>
          <p:cNvPr id="8" name="Shape 5"/>
          <p:cNvSpPr/>
          <p:nvPr/>
        </p:nvSpPr>
        <p:spPr>
          <a:xfrm>
            <a:off x="10344607" y="3154680"/>
            <a:ext cx="1280160" cy="420624"/>
          </a:xfrm>
          <a:prstGeom prst="roundRect">
            <a:avLst>
              <a:gd name="adj" fmla="val 15217"/>
            </a:avLst>
          </a:prstGeom>
          <a:solidFill>
            <a:srgbClr val="AE3F2C"/>
          </a:solidFill>
          <a:ln/>
        </p:spPr>
      </p:sp>
      <p:sp>
        <p:nvSpPr>
          <p:cNvPr id="9" name="Text 6"/>
          <p:cNvSpPr/>
          <p:nvPr/>
        </p:nvSpPr>
        <p:spPr>
          <a:xfrm>
            <a:off x="10344607" y="3154680"/>
            <a:ext cx="1280160"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ÉLIM.</a:t>
            </a:r>
            <a:endParaRPr lang="en-US" sz="1100" dirty="0"/>
          </a:p>
        </p:txBody>
      </p:sp>
      <p:sp>
        <p:nvSpPr>
          <p:cNvPr id="10" name="Text 7"/>
          <p:cNvSpPr/>
          <p:nvPr/>
        </p:nvSpPr>
        <p:spPr>
          <a:xfrm>
            <a:off x="10984687" y="6419088"/>
            <a:ext cx="640080" cy="256032"/>
          </a:xfrm>
          <a:prstGeom prst="rect">
            <a:avLst/>
          </a:prstGeom>
          <a:noFill/>
          <a:ln/>
        </p:spPr>
        <p:txBody>
          <a:bodyPr wrap="square" lIns="0" tIns="0" rIns="0" bIns="0" rtlCol="0" anchor="ctr"/>
          <a:lstStyle/>
          <a:p>
            <a:pPr algn="r" indent="0" marL="0">
              <a:buNone/>
            </a:pPr>
            <a:r>
              <a:rPr lang="en-US" sz="1000" dirty="0">
                <a:solidFill>
                  <a:srgbClr val="5D7686"/>
                </a:solidFill>
                <a:latin typeface="Courier New" pitchFamily="34" charset="0"/>
                <a:ea typeface="Courier New" pitchFamily="34" charset="-122"/>
                <a:cs typeface="Courier New" pitchFamily="34" charset="-120"/>
              </a:rPr>
              <a:t>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66928" y="384048"/>
            <a:ext cx="7740487" cy="219456"/>
          </a:xfrm>
          <a:prstGeom prst="rect">
            <a:avLst/>
          </a:prstGeom>
          <a:noFill/>
          <a:ln/>
        </p:spPr>
        <p:txBody>
          <a:bodyPr wrap="square" lIns="0" tIns="0" rIns="0" bIns="0" rtlCol="0" anchor="ctr"/>
          <a:lstStyle/>
          <a:p>
            <a:pPr indent="0" marL="0">
              <a:buNone/>
            </a:pPr>
            <a:r>
              <a:rPr lang="en-US" sz="1050" b="1" spc="160" kern="0" dirty="0">
                <a:solidFill>
                  <a:srgbClr val="1F5468"/>
                </a:solidFill>
                <a:latin typeface="Courier New" pitchFamily="34" charset="0"/>
                <a:ea typeface="Courier New" pitchFamily="34" charset="-122"/>
                <a:cs typeface="Courier New" pitchFamily="34" charset="-120"/>
              </a:rPr>
              <a:t>PARTIE 5 · DÉMONTRER</a:t>
            </a:r>
            <a:endParaRPr lang="en-US" sz="1050" dirty="0"/>
          </a:p>
        </p:txBody>
      </p:sp>
      <p:sp>
        <p:nvSpPr>
          <p:cNvPr id="4" name="Text 1"/>
          <p:cNvSpPr/>
          <p:nvPr/>
        </p:nvSpPr>
        <p:spPr>
          <a:xfrm>
            <a:off x="566928" y="621792"/>
            <a:ext cx="8403958" cy="731520"/>
          </a:xfrm>
          <a:prstGeom prst="rect">
            <a:avLst/>
          </a:prstGeom>
          <a:noFill/>
          <a:ln/>
        </p:spPr>
        <p:txBody>
          <a:bodyPr wrap="square" lIns="0" tIns="0" rIns="0" bIns="0" rtlCol="0" anchor="t"/>
          <a:lstStyle/>
          <a:p>
            <a:pPr indent="0" marL="0">
              <a:buNone/>
            </a:pPr>
            <a:r>
              <a:rPr lang="en-US" sz="2900" b="1" dirty="0">
                <a:solidFill>
                  <a:srgbClr val="0E1D28"/>
                </a:solidFill>
                <a:latin typeface="Cambria" pitchFamily="34" charset="0"/>
                <a:ea typeface="Cambria" pitchFamily="34" charset="-122"/>
                <a:cs typeface="Cambria" pitchFamily="34" charset="-120"/>
              </a:rPr>
              <a:t>Le scénario de démonstration</a:t>
            </a:r>
            <a:endParaRPr lang="en-US" sz="2900" dirty="0"/>
          </a:p>
        </p:txBody>
      </p:sp>
      <p:sp>
        <p:nvSpPr>
          <p:cNvPr id="5" name="Shape 2"/>
          <p:cNvSpPr/>
          <p:nvPr/>
        </p:nvSpPr>
        <p:spPr>
          <a:xfrm>
            <a:off x="10573207" y="384048"/>
            <a:ext cx="1051560" cy="310896"/>
          </a:xfrm>
          <a:prstGeom prst="roundRect">
            <a:avLst>
              <a:gd name="adj" fmla="val 17647"/>
            </a:avLst>
          </a:prstGeom>
          <a:solidFill>
            <a:srgbClr val="AE3F2C"/>
          </a:solidFill>
          <a:ln w="9525">
            <a:solidFill>
              <a:srgbClr val="AE3F2C"/>
            </a:solidFill>
            <a:prstDash val="solid"/>
          </a:ln>
        </p:spPr>
      </p:sp>
      <p:sp>
        <p:nvSpPr>
          <p:cNvPr id="6" name="Text 3"/>
          <p:cNvSpPr/>
          <p:nvPr/>
        </p:nvSpPr>
        <p:spPr>
          <a:xfrm>
            <a:off x="10573207" y="384048"/>
            <a:ext cx="105156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C3.4.2</a:t>
            </a:r>
            <a:endParaRPr lang="en-US" sz="1000" dirty="0"/>
          </a:p>
        </p:txBody>
      </p:sp>
      <p:sp>
        <p:nvSpPr>
          <p:cNvPr id="7" name="Shape 4"/>
          <p:cNvSpPr/>
          <p:nvPr/>
        </p:nvSpPr>
        <p:spPr>
          <a:xfrm>
            <a:off x="566928" y="1463040"/>
            <a:ext cx="2599868" cy="3749040"/>
          </a:xfrm>
          <a:prstGeom prst="roundRect">
            <a:avLst>
              <a:gd name="adj" fmla="val 1231"/>
            </a:avLst>
          </a:prstGeom>
          <a:solidFill>
            <a:srgbClr val="F1F5F7"/>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8" name="Shape 5"/>
          <p:cNvSpPr/>
          <p:nvPr/>
        </p:nvSpPr>
        <p:spPr>
          <a:xfrm>
            <a:off x="804672" y="1664208"/>
            <a:ext cx="493776" cy="493776"/>
          </a:xfrm>
          <a:prstGeom prst="roundRect">
            <a:avLst>
              <a:gd name="adj" fmla="val 50000"/>
            </a:avLst>
          </a:prstGeom>
          <a:solidFill>
            <a:srgbClr val="1F5468"/>
          </a:solidFill>
          <a:ln/>
        </p:spPr>
      </p:sp>
      <p:sp>
        <p:nvSpPr>
          <p:cNvPr id="9" name="Text 6"/>
          <p:cNvSpPr/>
          <p:nvPr/>
        </p:nvSpPr>
        <p:spPr>
          <a:xfrm>
            <a:off x="804672" y="1664208"/>
            <a:ext cx="493776"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10" name="Text 7"/>
          <p:cNvSpPr/>
          <p:nvPr/>
        </p:nvSpPr>
        <p:spPr>
          <a:xfrm>
            <a:off x="804672" y="2267712"/>
            <a:ext cx="2124380" cy="658368"/>
          </a:xfrm>
          <a:prstGeom prst="rect">
            <a:avLst/>
          </a:prstGeom>
          <a:noFill/>
          <a:ln/>
        </p:spPr>
        <p:txBody>
          <a:bodyPr wrap="square" lIns="0" tIns="0" rIns="0" bIns="0" rtlCol="0" anchor="t"/>
          <a:lstStyle/>
          <a:p>
            <a:pPr indent="0" marL="0">
              <a:buNone/>
            </a:pPr>
            <a:r>
              <a:rPr lang="en-US" sz="1550" b="1" dirty="0">
                <a:solidFill>
                  <a:srgbClr val="0E1D28"/>
                </a:solidFill>
                <a:latin typeface="Calibri" pitchFamily="34" charset="0"/>
                <a:ea typeface="Calibri" pitchFamily="34" charset="-122"/>
                <a:cs typeface="Calibri" pitchFamily="34" charset="-120"/>
              </a:rPr>
              <a:t>Un télépilote crée son profil</a:t>
            </a:r>
            <a:endParaRPr lang="en-US" sz="1550" dirty="0"/>
          </a:p>
        </p:txBody>
      </p:sp>
      <p:sp>
        <p:nvSpPr>
          <p:cNvPr id="11" name="Text 8"/>
          <p:cNvSpPr/>
          <p:nvPr/>
        </p:nvSpPr>
        <p:spPr>
          <a:xfrm>
            <a:off x="804672" y="2980944"/>
            <a:ext cx="2124380" cy="1463040"/>
          </a:xfrm>
          <a:prstGeom prst="rect">
            <a:avLst/>
          </a:prstGeom>
          <a:noFill/>
          <a:ln/>
        </p:spPr>
        <p:txBody>
          <a:bodyPr wrap="square" lIns="0" tIns="0" rIns="0" bIns="0" rtlCol="0" anchor="t"/>
          <a:lstStyle/>
          <a:p>
            <a:pPr indent="0" marL="0">
              <a:buNone/>
            </a:pPr>
            <a:r>
              <a:rPr lang="en-US" sz="1250" dirty="0">
                <a:solidFill>
                  <a:srgbClr val="17303F"/>
                </a:solidFill>
                <a:latin typeface="Calibri" pitchFamily="34" charset="0"/>
                <a:ea typeface="Calibri" pitchFamily="34" charset="-122"/>
                <a:cs typeface="Calibri" pitchFamily="34" charset="-120"/>
              </a:rPr>
              <a:t>Inscription, ville d'activité, puis l'Armurerie : déclaration du matériel sous forme de cartes, avec progression et badges.</a:t>
            </a:r>
            <a:endParaRPr lang="en-US" sz="1250" dirty="0"/>
          </a:p>
        </p:txBody>
      </p:sp>
      <p:sp>
        <p:nvSpPr>
          <p:cNvPr id="12" name="Shape 9"/>
          <p:cNvSpPr/>
          <p:nvPr/>
        </p:nvSpPr>
        <p:spPr>
          <a:xfrm>
            <a:off x="3386252" y="1463040"/>
            <a:ext cx="2599868" cy="3749040"/>
          </a:xfrm>
          <a:prstGeom prst="roundRect">
            <a:avLst>
              <a:gd name="adj" fmla="val 1231"/>
            </a:avLst>
          </a:prstGeom>
          <a:solidFill>
            <a:srgbClr val="F1F5F7"/>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13" name="Shape 10"/>
          <p:cNvSpPr/>
          <p:nvPr/>
        </p:nvSpPr>
        <p:spPr>
          <a:xfrm>
            <a:off x="3623996" y="1664208"/>
            <a:ext cx="493776" cy="493776"/>
          </a:xfrm>
          <a:prstGeom prst="roundRect">
            <a:avLst>
              <a:gd name="adj" fmla="val 50000"/>
            </a:avLst>
          </a:prstGeom>
          <a:solidFill>
            <a:srgbClr val="1F5468"/>
          </a:solidFill>
          <a:ln/>
        </p:spPr>
      </p:sp>
      <p:sp>
        <p:nvSpPr>
          <p:cNvPr id="14" name="Text 11"/>
          <p:cNvSpPr/>
          <p:nvPr/>
        </p:nvSpPr>
        <p:spPr>
          <a:xfrm>
            <a:off x="3623996" y="1664208"/>
            <a:ext cx="493776"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5" name="Text 12"/>
          <p:cNvSpPr/>
          <p:nvPr/>
        </p:nvSpPr>
        <p:spPr>
          <a:xfrm>
            <a:off x="3623996" y="2267712"/>
            <a:ext cx="2124380" cy="658368"/>
          </a:xfrm>
          <a:prstGeom prst="rect">
            <a:avLst/>
          </a:prstGeom>
          <a:noFill/>
          <a:ln/>
        </p:spPr>
        <p:txBody>
          <a:bodyPr wrap="square" lIns="0" tIns="0" rIns="0" bIns="0" rtlCol="0" anchor="t"/>
          <a:lstStyle/>
          <a:p>
            <a:pPr indent="0" marL="0">
              <a:buNone/>
            </a:pPr>
            <a:r>
              <a:rPr lang="en-US" sz="1550" b="1" dirty="0">
                <a:solidFill>
                  <a:srgbClr val="0E1D28"/>
                </a:solidFill>
                <a:latin typeface="Calibri" pitchFamily="34" charset="0"/>
                <a:ea typeface="Calibri" pitchFamily="34" charset="-122"/>
                <a:cs typeface="Calibri" pitchFamily="34" charset="-120"/>
              </a:rPr>
              <a:t>La validation, par l'API</a:t>
            </a:r>
            <a:endParaRPr lang="en-US" sz="1550" dirty="0"/>
          </a:p>
        </p:txBody>
      </p:sp>
      <p:sp>
        <p:nvSpPr>
          <p:cNvPr id="16" name="Text 13"/>
          <p:cNvSpPr/>
          <p:nvPr/>
        </p:nvSpPr>
        <p:spPr>
          <a:xfrm>
            <a:off x="3623996" y="2980944"/>
            <a:ext cx="2124380" cy="1463040"/>
          </a:xfrm>
          <a:prstGeom prst="rect">
            <a:avLst/>
          </a:prstGeom>
          <a:noFill/>
          <a:ln/>
        </p:spPr>
        <p:txBody>
          <a:bodyPr wrap="square" lIns="0" tIns="0" rIns="0" bIns="0" rtlCol="0" anchor="t"/>
          <a:lstStyle/>
          <a:p>
            <a:pPr indent="0" marL="0">
              <a:buNone/>
            </a:pPr>
            <a:r>
              <a:rPr lang="en-US" sz="1250" dirty="0">
                <a:solidFill>
                  <a:srgbClr val="17303F"/>
                </a:solidFill>
                <a:latin typeface="Calibri" pitchFamily="34" charset="0"/>
                <a:ea typeface="Calibri" pitchFamily="34" charset="-122"/>
                <a:cs typeface="Calibri" pitchFamily="34" charset="-120"/>
              </a:rPr>
              <a:t>Le back-office est une API documentée, pas un écran bricolé : la file de validation dans Swagger, puis l'appel qui bascule l'équipement en statut vérifié.</a:t>
            </a:r>
            <a:endParaRPr lang="en-US" sz="1250" dirty="0"/>
          </a:p>
        </p:txBody>
      </p:sp>
      <p:sp>
        <p:nvSpPr>
          <p:cNvPr id="17" name="Shape 14"/>
          <p:cNvSpPr/>
          <p:nvPr/>
        </p:nvSpPr>
        <p:spPr>
          <a:xfrm>
            <a:off x="6205576" y="1463040"/>
            <a:ext cx="2599868" cy="3749040"/>
          </a:xfrm>
          <a:prstGeom prst="roundRect">
            <a:avLst>
              <a:gd name="adj" fmla="val 1231"/>
            </a:avLst>
          </a:prstGeom>
          <a:solidFill>
            <a:srgbClr val="FBF3E6"/>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18" name="Shape 15"/>
          <p:cNvSpPr/>
          <p:nvPr/>
        </p:nvSpPr>
        <p:spPr>
          <a:xfrm>
            <a:off x="6443320" y="1664208"/>
            <a:ext cx="493776" cy="493776"/>
          </a:xfrm>
          <a:prstGeom prst="roundRect">
            <a:avLst>
              <a:gd name="adj" fmla="val 50000"/>
            </a:avLst>
          </a:prstGeom>
          <a:solidFill>
            <a:srgbClr val="D98A21"/>
          </a:solidFill>
          <a:ln/>
        </p:spPr>
      </p:sp>
      <p:sp>
        <p:nvSpPr>
          <p:cNvPr id="19" name="Text 16"/>
          <p:cNvSpPr/>
          <p:nvPr/>
        </p:nvSpPr>
        <p:spPr>
          <a:xfrm>
            <a:off x="6443320" y="1664208"/>
            <a:ext cx="493776" cy="493776"/>
          </a:xfrm>
          <a:prstGeom prst="rect">
            <a:avLst/>
          </a:prstGeom>
          <a:noFill/>
          <a:ln/>
        </p:spPr>
        <p:txBody>
          <a:bodyPr wrap="square" lIns="0" tIns="0" rIns="0" bIns="0" rtlCol="0" anchor="ctr"/>
          <a:lstStyle/>
          <a:p>
            <a:pPr algn="ctr" indent="0" marL="0">
              <a:buNone/>
            </a:pPr>
            <a:r>
              <a:rPr lang="en-US" sz="1700" b="1" dirty="0">
                <a:solidFill>
                  <a:srgbClr val="0E1D28"/>
                </a:solidFill>
                <a:latin typeface="Calibri" pitchFamily="34" charset="0"/>
                <a:ea typeface="Calibri" pitchFamily="34" charset="-122"/>
                <a:cs typeface="Calibri" pitchFamily="34" charset="-120"/>
              </a:rPr>
              <a:t>3</a:t>
            </a:r>
            <a:endParaRPr lang="en-US" sz="1700" dirty="0"/>
          </a:p>
        </p:txBody>
      </p:sp>
      <p:sp>
        <p:nvSpPr>
          <p:cNvPr id="20" name="Text 17"/>
          <p:cNvSpPr/>
          <p:nvPr/>
        </p:nvSpPr>
        <p:spPr>
          <a:xfrm>
            <a:off x="6443320" y="2267712"/>
            <a:ext cx="2124380" cy="658368"/>
          </a:xfrm>
          <a:prstGeom prst="rect">
            <a:avLst/>
          </a:prstGeom>
          <a:noFill/>
          <a:ln/>
        </p:spPr>
        <p:txBody>
          <a:bodyPr wrap="square" lIns="0" tIns="0" rIns="0" bIns="0" rtlCol="0" anchor="t"/>
          <a:lstStyle/>
          <a:p>
            <a:pPr indent="0" marL="0">
              <a:buNone/>
            </a:pPr>
            <a:r>
              <a:rPr lang="en-US" sz="1550" b="1" dirty="0">
                <a:solidFill>
                  <a:srgbClr val="0E1D28"/>
                </a:solidFill>
                <a:latin typeface="Calibri" pitchFamily="34" charset="0"/>
                <a:ea typeface="Calibri" pitchFamily="34" charset="-122"/>
                <a:cs typeface="Calibri" pitchFamily="34" charset="-120"/>
              </a:rPr>
              <a:t>Un recruteur recherche</a:t>
            </a:r>
            <a:endParaRPr lang="en-US" sz="1550" dirty="0"/>
          </a:p>
        </p:txBody>
      </p:sp>
      <p:sp>
        <p:nvSpPr>
          <p:cNvPr id="21" name="Text 18"/>
          <p:cNvSpPr/>
          <p:nvPr/>
        </p:nvSpPr>
        <p:spPr>
          <a:xfrm>
            <a:off x="6443320" y="2980944"/>
            <a:ext cx="2124380" cy="1463040"/>
          </a:xfrm>
          <a:prstGeom prst="rect">
            <a:avLst/>
          </a:prstGeom>
          <a:noFill/>
          <a:ln/>
        </p:spPr>
        <p:txBody>
          <a:bodyPr wrap="square" lIns="0" tIns="0" rIns="0" bIns="0" rtlCol="0" anchor="t"/>
          <a:lstStyle/>
          <a:p>
            <a:pPr indent="0" marL="0">
              <a:buNone/>
            </a:pPr>
            <a:r>
              <a:rPr lang="en-US" sz="1250" dirty="0">
                <a:solidFill>
                  <a:srgbClr val="17303F"/>
                </a:solidFill>
                <a:latin typeface="Calibri" pitchFamily="34" charset="0"/>
                <a:ea typeface="Calibri" pitchFamily="34" charset="-122"/>
                <a:cs typeface="Calibri" pitchFamily="34" charset="-120"/>
              </a:rPr>
              <a:t>Filtres compétence et matériel, rayon géographique. Les profils remontent classés par score de correspondance et s'affichent sur la carte.</a:t>
            </a:r>
            <a:endParaRPr lang="en-US" sz="1250" dirty="0"/>
          </a:p>
        </p:txBody>
      </p:sp>
      <p:sp>
        <p:nvSpPr>
          <p:cNvPr id="22" name="Text 19"/>
          <p:cNvSpPr/>
          <p:nvPr/>
        </p:nvSpPr>
        <p:spPr>
          <a:xfrm>
            <a:off x="6443320" y="4535424"/>
            <a:ext cx="2124380" cy="548640"/>
          </a:xfrm>
          <a:prstGeom prst="rect">
            <a:avLst/>
          </a:prstGeom>
          <a:noFill/>
          <a:ln/>
        </p:spPr>
        <p:txBody>
          <a:bodyPr wrap="square" lIns="0" tIns="0" rIns="0" bIns="0" rtlCol="0" anchor="t"/>
          <a:lstStyle/>
          <a:p>
            <a:pPr indent="0" marL="0">
              <a:buNone/>
            </a:pPr>
            <a:r>
              <a:rPr lang="en-US" sz="1150" i="1" dirty="0">
                <a:solidFill>
                  <a:srgbClr val="8A5A10"/>
                </a:solidFill>
                <a:latin typeface="Calibri" pitchFamily="34" charset="0"/>
                <a:ea typeface="Calibri" pitchFamily="34" charset="-122"/>
                <a:cs typeface="Calibri" pitchFamily="34" charset="-120"/>
              </a:rPr>
              <a:t>Le cœur différenciant du produit — donnez-lui un tiers du temps.</a:t>
            </a:r>
            <a:endParaRPr lang="en-US" sz="1150" dirty="0"/>
          </a:p>
        </p:txBody>
      </p:sp>
      <p:sp>
        <p:nvSpPr>
          <p:cNvPr id="23" name="Shape 20"/>
          <p:cNvSpPr/>
          <p:nvPr/>
        </p:nvSpPr>
        <p:spPr>
          <a:xfrm>
            <a:off x="9024899" y="1463040"/>
            <a:ext cx="2599868" cy="3749040"/>
          </a:xfrm>
          <a:prstGeom prst="roundRect">
            <a:avLst>
              <a:gd name="adj" fmla="val 1231"/>
            </a:avLst>
          </a:prstGeom>
          <a:solidFill>
            <a:srgbClr val="F1F5F7"/>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24" name="Shape 21"/>
          <p:cNvSpPr/>
          <p:nvPr/>
        </p:nvSpPr>
        <p:spPr>
          <a:xfrm>
            <a:off x="9262643" y="1664208"/>
            <a:ext cx="493776" cy="493776"/>
          </a:xfrm>
          <a:prstGeom prst="roundRect">
            <a:avLst>
              <a:gd name="adj" fmla="val 50000"/>
            </a:avLst>
          </a:prstGeom>
          <a:solidFill>
            <a:srgbClr val="1F5468"/>
          </a:solidFill>
          <a:ln/>
        </p:spPr>
      </p:sp>
      <p:sp>
        <p:nvSpPr>
          <p:cNvPr id="25" name="Text 22"/>
          <p:cNvSpPr/>
          <p:nvPr/>
        </p:nvSpPr>
        <p:spPr>
          <a:xfrm>
            <a:off x="9262643" y="1664208"/>
            <a:ext cx="493776"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26" name="Text 23"/>
          <p:cNvSpPr/>
          <p:nvPr/>
        </p:nvSpPr>
        <p:spPr>
          <a:xfrm>
            <a:off x="9262643" y="2267712"/>
            <a:ext cx="2124380" cy="658368"/>
          </a:xfrm>
          <a:prstGeom prst="rect">
            <a:avLst/>
          </a:prstGeom>
          <a:noFill/>
          <a:ln/>
        </p:spPr>
        <p:txBody>
          <a:bodyPr wrap="square" lIns="0" tIns="0" rIns="0" bIns="0" rtlCol="0" anchor="t"/>
          <a:lstStyle/>
          <a:p>
            <a:pPr indent="0" marL="0">
              <a:buNone/>
            </a:pPr>
            <a:r>
              <a:rPr lang="en-US" sz="1550" b="1" dirty="0">
                <a:solidFill>
                  <a:srgbClr val="0E1D28"/>
                </a:solidFill>
                <a:latin typeface="Calibri" pitchFamily="34" charset="0"/>
                <a:ea typeface="Calibri" pitchFamily="34" charset="-122"/>
                <a:cs typeface="Calibri" pitchFamily="34" charset="-120"/>
              </a:rPr>
              <a:t>La mise en relation</a:t>
            </a:r>
            <a:endParaRPr lang="en-US" sz="1550" dirty="0"/>
          </a:p>
        </p:txBody>
      </p:sp>
      <p:sp>
        <p:nvSpPr>
          <p:cNvPr id="27" name="Text 24"/>
          <p:cNvSpPr/>
          <p:nvPr/>
        </p:nvSpPr>
        <p:spPr>
          <a:xfrm>
            <a:off x="9262643" y="2980944"/>
            <a:ext cx="2124380" cy="1463040"/>
          </a:xfrm>
          <a:prstGeom prst="rect">
            <a:avLst/>
          </a:prstGeom>
          <a:noFill/>
          <a:ln/>
        </p:spPr>
        <p:txBody>
          <a:bodyPr wrap="square" lIns="0" tIns="0" rIns="0" bIns="0" rtlCol="0" anchor="t"/>
          <a:lstStyle/>
          <a:p>
            <a:pPr indent="0" marL="0">
              <a:buNone/>
            </a:pPr>
            <a:r>
              <a:rPr lang="en-US" sz="1250" dirty="0">
                <a:solidFill>
                  <a:srgbClr val="17303F"/>
                </a:solidFill>
                <a:latin typeface="Calibri" pitchFamily="34" charset="0"/>
                <a:ea typeface="Calibri" pitchFamily="34" charset="-122"/>
                <a:cs typeface="Calibri" pitchFamily="34" charset="-120"/>
              </a:rPr>
              <a:t>Consultation de l'armurerie publique du candidat, puis ouverture du chat contextuel et échange de messages en temps réel.</a:t>
            </a:r>
            <a:endParaRPr lang="en-US" sz="1250" dirty="0"/>
          </a:p>
        </p:txBody>
      </p:sp>
      <p:sp>
        <p:nvSpPr>
          <p:cNvPr id="28" name="Shape 25"/>
          <p:cNvSpPr/>
          <p:nvPr/>
        </p:nvSpPr>
        <p:spPr>
          <a:xfrm>
            <a:off x="566928" y="5413248"/>
            <a:ext cx="11057839" cy="786384"/>
          </a:xfrm>
          <a:prstGeom prst="roundRect">
            <a:avLst>
              <a:gd name="adj" fmla="val 4070"/>
            </a:avLst>
          </a:prstGeom>
          <a:solidFill>
            <a:srgbClr val="0E1D28"/>
          </a:solidFill>
          <a:ln w="9525">
            <a:solidFill>
              <a:srgbClr val="D5DFE5"/>
            </a:solidFill>
            <a:prstDash val="solid"/>
          </a:ln>
          <a:effectLst>
            <a:outerShdw sx="100000" sy="100000" kx="0" ky="0" algn="bl" rotWithShape="0" blurRad="177800" dist="38100" dir="5400000">
              <a:srgbClr val="0E1D28">
                <a:alpha val="10000"/>
              </a:srgbClr>
            </a:outerShdw>
          </a:effectLst>
        </p:spPr>
      </p:sp>
      <p:sp>
        <p:nvSpPr>
          <p:cNvPr id="29" name="Text 26"/>
          <p:cNvSpPr/>
          <p:nvPr/>
        </p:nvSpPr>
        <p:spPr>
          <a:xfrm>
            <a:off x="841248" y="5413248"/>
            <a:ext cx="10509199" cy="786384"/>
          </a:xfrm>
          <a:prstGeom prst="rect">
            <a:avLst/>
          </a:prstGeom>
          <a:noFill/>
          <a:ln/>
        </p:spPr>
        <p:txBody>
          <a:bodyPr wrap="square" lIns="0" tIns="0" rIns="0" bIns="0" rtlCol="0" anchor="ctr"/>
          <a:lstStyle/>
          <a:p>
            <a:pPr indent="0" marL="0">
              <a:buNone/>
            </a:pPr>
            <a:r>
              <a:rPr lang="en-US" sz="1300" b="1" dirty="0">
                <a:solidFill>
                  <a:srgbClr val="F0AE44"/>
                </a:solidFill>
                <a:latin typeface="Calibri" pitchFamily="34" charset="0"/>
                <a:ea typeface="Calibri" pitchFamily="34" charset="-122"/>
                <a:cs typeface="Calibri" pitchFamily="34" charset="-120"/>
              </a:rPr>
              <a:t>La phrase de clôture, obligatoire : </a:t>
            </a:r>
            <a:pPr indent="0" marL="0">
              <a:buNone/>
            </a:pPr>
            <a:r>
              <a:rPr lang="en-US" sz="1300" i="1" dirty="0">
                <a:solidFill>
                  <a:srgbClr val="FFFFFF"/>
                </a:solidFill>
                <a:latin typeface="Calibri" pitchFamily="34" charset="0"/>
                <a:ea typeface="Calibri" pitchFamily="34" charset="-122"/>
                <a:cs typeface="Calibri" pitchFamily="34" charset="-120"/>
              </a:rPr>
              <a:t>« cette version couvre l'intégralité du périmètre du Lot 1 tel qu'il a été arbitré le 16 juillet. Je vous propose de la valider pour la mise en production. »</a:t>
            </a:r>
            <a:endParaRPr lang="en-US" sz="1300" dirty="0"/>
          </a:p>
        </p:txBody>
      </p:sp>
      <p:sp>
        <p:nvSpPr>
          <p:cNvPr id="30" name="Text 27"/>
          <p:cNvSpPr/>
          <p:nvPr/>
        </p:nvSpPr>
        <p:spPr>
          <a:xfrm>
            <a:off x="10984687" y="6419088"/>
            <a:ext cx="640080" cy="256032"/>
          </a:xfrm>
          <a:prstGeom prst="rect">
            <a:avLst/>
          </a:prstGeom>
          <a:noFill/>
          <a:ln/>
        </p:spPr>
        <p:txBody>
          <a:bodyPr wrap="square" lIns="0" tIns="0" rIns="0" bIns="0" rtlCol="0" anchor="ctr"/>
          <a:lstStyle/>
          <a:p>
            <a:pPr algn="r" indent="0" marL="0">
              <a:buNone/>
            </a:pPr>
            <a:r>
              <a:rPr lang="en-US" sz="1000" dirty="0">
                <a:solidFill>
                  <a:srgbClr val="9FB2BD"/>
                </a:solidFill>
                <a:latin typeface="Courier New" pitchFamily="34" charset="0"/>
                <a:ea typeface="Courier New" pitchFamily="34" charset="-122"/>
                <a:cs typeface="Courier New" pitchFamily="34" charset="-120"/>
              </a:rPr>
              <a:t>29</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E1D28"/>
        </a:solidFill>
      </p:bgPr>
    </p:bg>
    <p:spTree>
      <p:nvGrpSpPr>
        <p:cNvPr id="1" name=""/>
        <p:cNvGrpSpPr/>
        <p:nvPr/>
      </p:nvGrpSpPr>
      <p:grpSpPr>
        <a:xfrm>
          <a:off x="0" y="0"/>
          <a:ext cx="0" cy="0"/>
          <a:chOff x="0" y="0"/>
          <a:chExt cx="0" cy="0"/>
        </a:xfrm>
      </p:grpSpPr>
      <p:sp>
        <p:nvSpPr>
          <p:cNvPr id="3" name="Text 0"/>
          <p:cNvSpPr/>
          <p:nvPr/>
        </p:nvSpPr>
        <p:spPr>
          <a:xfrm>
            <a:off x="566928" y="777240"/>
            <a:ext cx="914400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Ce que le dispositif a produit</a:t>
            </a:r>
            <a:endParaRPr lang="en-US" sz="3600" dirty="0"/>
          </a:p>
        </p:txBody>
      </p:sp>
      <p:sp>
        <p:nvSpPr>
          <p:cNvPr id="4" name="Shape 1"/>
          <p:cNvSpPr/>
          <p:nvPr/>
        </p:nvSpPr>
        <p:spPr>
          <a:xfrm>
            <a:off x="566928" y="1645920"/>
            <a:ext cx="2558720" cy="1667814"/>
          </a:xfrm>
          <a:prstGeom prst="roundRect">
            <a:avLst>
              <a:gd name="adj" fmla="val 2741"/>
            </a:avLst>
          </a:prstGeom>
          <a:solidFill>
            <a:srgbClr val="162936"/>
          </a:solidFill>
          <a:ln w="9525">
            <a:solidFill>
              <a:srgbClr val="24404F"/>
            </a:solidFill>
            <a:prstDash val="solid"/>
          </a:ln>
        </p:spPr>
      </p:sp>
      <p:sp>
        <p:nvSpPr>
          <p:cNvPr id="5" name="Text 2"/>
          <p:cNvSpPr/>
          <p:nvPr/>
        </p:nvSpPr>
        <p:spPr>
          <a:xfrm>
            <a:off x="804672" y="1823820"/>
            <a:ext cx="2083232" cy="667126"/>
          </a:xfrm>
          <a:prstGeom prst="rect">
            <a:avLst/>
          </a:prstGeom>
          <a:noFill/>
          <a:ln/>
        </p:spPr>
        <p:txBody>
          <a:bodyPr wrap="square" lIns="0" tIns="0" rIns="0" bIns="0" rtlCol="0" anchor="ctr"/>
          <a:lstStyle/>
          <a:p>
            <a:pPr indent="0" marL="0">
              <a:buNone/>
            </a:pPr>
            <a:r>
              <a:rPr lang="en-US" sz="2700" b="1" dirty="0">
                <a:solidFill>
                  <a:srgbClr val="F0AE44"/>
                </a:solidFill>
                <a:latin typeface="Cambria" pitchFamily="34" charset="0"/>
                <a:ea typeface="Cambria" pitchFamily="34" charset="-122"/>
                <a:cs typeface="Cambria" pitchFamily="34" charset="-120"/>
              </a:rPr>
              <a:t>23/07/2026</a:t>
            </a:r>
            <a:endParaRPr lang="en-US" sz="2700" dirty="0"/>
          </a:p>
        </p:txBody>
      </p:sp>
      <p:sp>
        <p:nvSpPr>
          <p:cNvPr id="6" name="Text 3"/>
          <p:cNvSpPr/>
          <p:nvPr/>
        </p:nvSpPr>
        <p:spPr>
          <a:xfrm>
            <a:off x="804672" y="2490946"/>
            <a:ext cx="2083232" cy="689363"/>
          </a:xfrm>
          <a:prstGeom prst="rect">
            <a:avLst/>
          </a:prstGeom>
          <a:noFill/>
          <a:ln/>
        </p:spPr>
        <p:txBody>
          <a:bodyPr wrap="square" lIns="0" tIns="0" rIns="0" bIns="0" rtlCol="0" anchor="ctr"/>
          <a:lstStyle/>
          <a:p>
            <a:pPr indent="0" marL="0">
              <a:buNone/>
            </a:pPr>
            <a:r>
              <a:rPr lang="en-US" sz="1150" dirty="0">
                <a:solidFill>
                  <a:srgbClr val="A9BDC9"/>
                </a:solidFill>
                <a:latin typeface="Calibri" pitchFamily="34" charset="0"/>
                <a:ea typeface="Calibri" pitchFamily="34" charset="-122"/>
                <a:cs typeface="Calibri" pitchFamily="34" charset="-120"/>
              </a:rPr>
              <a:t>Mise en production tenue,</a:t>
            </a:r>
            <a:endParaRPr lang="en-US" sz="1150" dirty="0"/>
          </a:p>
          <a:p>
            <a:pPr indent="0" marL="0">
              <a:buNone/>
            </a:pPr>
            <a:r>
              <a:rPr lang="en-US" sz="1150" dirty="0">
                <a:solidFill>
                  <a:srgbClr val="A9BDC9"/>
                </a:solidFill>
                <a:latin typeface="Calibri" pitchFamily="34" charset="0"/>
                <a:ea typeface="Calibri" pitchFamily="34" charset="-122"/>
                <a:cs typeface="Calibri" pitchFamily="34" charset="-120"/>
              </a:rPr>
              <a:t>à la date arbitrée</a:t>
            </a:r>
            <a:endParaRPr lang="en-US" sz="1150" dirty="0"/>
          </a:p>
        </p:txBody>
      </p:sp>
      <p:sp>
        <p:nvSpPr>
          <p:cNvPr id="7" name="Shape 4"/>
          <p:cNvSpPr/>
          <p:nvPr/>
        </p:nvSpPr>
        <p:spPr>
          <a:xfrm>
            <a:off x="3399968" y="1645920"/>
            <a:ext cx="2558720" cy="1667814"/>
          </a:xfrm>
          <a:prstGeom prst="roundRect">
            <a:avLst>
              <a:gd name="adj" fmla="val 2741"/>
            </a:avLst>
          </a:prstGeom>
          <a:solidFill>
            <a:srgbClr val="162936"/>
          </a:solidFill>
          <a:ln w="9525">
            <a:solidFill>
              <a:srgbClr val="24404F"/>
            </a:solidFill>
            <a:prstDash val="solid"/>
          </a:ln>
        </p:spPr>
      </p:sp>
      <p:sp>
        <p:nvSpPr>
          <p:cNvPr id="8" name="Text 5"/>
          <p:cNvSpPr/>
          <p:nvPr/>
        </p:nvSpPr>
        <p:spPr>
          <a:xfrm>
            <a:off x="3637712" y="1823820"/>
            <a:ext cx="2083232" cy="667126"/>
          </a:xfrm>
          <a:prstGeom prst="rect">
            <a:avLst/>
          </a:prstGeom>
          <a:noFill/>
          <a:ln/>
        </p:spPr>
        <p:txBody>
          <a:bodyPr wrap="square" lIns="0" tIns="0" rIns="0" bIns="0" rtlCol="0" anchor="ctr"/>
          <a:lstStyle/>
          <a:p>
            <a:pPr indent="0" marL="0">
              <a:buNone/>
            </a:pPr>
            <a:r>
              <a:rPr lang="en-US" sz="2700" b="1" dirty="0">
                <a:solidFill>
                  <a:srgbClr val="F0AE44"/>
                </a:solidFill>
                <a:latin typeface="Cambria" pitchFamily="34" charset="0"/>
                <a:ea typeface="Cambria" pitchFamily="34" charset="-122"/>
                <a:cs typeface="Cambria" pitchFamily="34" charset="-120"/>
              </a:rPr>
              <a:t>3</a:t>
            </a:r>
            <a:endParaRPr lang="en-US" sz="2700" dirty="0"/>
          </a:p>
        </p:txBody>
      </p:sp>
      <p:sp>
        <p:nvSpPr>
          <p:cNvPr id="9" name="Text 6"/>
          <p:cNvSpPr/>
          <p:nvPr/>
        </p:nvSpPr>
        <p:spPr>
          <a:xfrm>
            <a:off x="3637712" y="2490946"/>
            <a:ext cx="2083232" cy="689363"/>
          </a:xfrm>
          <a:prstGeom prst="rect">
            <a:avLst/>
          </a:prstGeom>
          <a:noFill/>
          <a:ln/>
        </p:spPr>
        <p:txBody>
          <a:bodyPr wrap="square" lIns="0" tIns="0" rIns="0" bIns="0" rtlCol="0" anchor="ctr"/>
          <a:lstStyle/>
          <a:p>
            <a:pPr indent="0" marL="0">
              <a:buNone/>
            </a:pPr>
            <a:r>
              <a:rPr lang="en-US" sz="1150" dirty="0">
                <a:solidFill>
                  <a:srgbClr val="A9BDC9"/>
                </a:solidFill>
                <a:latin typeface="Calibri" pitchFamily="34" charset="0"/>
                <a:ea typeface="Calibri" pitchFamily="34" charset="-122"/>
                <a:cs typeface="Calibri" pitchFamily="34" charset="-120"/>
              </a:rPr>
              <a:t>versions déployées, tracées</a:t>
            </a:r>
            <a:endParaRPr lang="en-US" sz="1150" dirty="0"/>
          </a:p>
          <a:p>
            <a:pPr indent="0" marL="0">
              <a:buNone/>
            </a:pPr>
            <a:r>
              <a:rPr lang="en-US" sz="1150" dirty="0">
                <a:solidFill>
                  <a:srgbClr val="A9BDC9"/>
                </a:solidFill>
                <a:latin typeface="Calibri" pitchFamily="34" charset="0"/>
                <a:ea typeface="Calibri" pitchFamily="34" charset="-122"/>
                <a:cs typeface="Calibri" pitchFamily="34" charset="-120"/>
              </a:rPr>
              <a:t>du ticket à l'image en production</a:t>
            </a:r>
            <a:endParaRPr lang="en-US" sz="1150" dirty="0"/>
          </a:p>
        </p:txBody>
      </p:sp>
      <p:sp>
        <p:nvSpPr>
          <p:cNvPr id="10" name="Shape 7"/>
          <p:cNvSpPr/>
          <p:nvPr/>
        </p:nvSpPr>
        <p:spPr>
          <a:xfrm>
            <a:off x="6233008" y="1645920"/>
            <a:ext cx="2558720" cy="1667814"/>
          </a:xfrm>
          <a:prstGeom prst="roundRect">
            <a:avLst>
              <a:gd name="adj" fmla="val 2741"/>
            </a:avLst>
          </a:prstGeom>
          <a:solidFill>
            <a:srgbClr val="162936"/>
          </a:solidFill>
          <a:ln w="9525">
            <a:solidFill>
              <a:srgbClr val="24404F"/>
            </a:solidFill>
            <a:prstDash val="solid"/>
          </a:ln>
        </p:spPr>
      </p:sp>
      <p:sp>
        <p:nvSpPr>
          <p:cNvPr id="11" name="Text 8"/>
          <p:cNvSpPr/>
          <p:nvPr/>
        </p:nvSpPr>
        <p:spPr>
          <a:xfrm>
            <a:off x="6470752" y="1823820"/>
            <a:ext cx="2083232" cy="667126"/>
          </a:xfrm>
          <a:prstGeom prst="rect">
            <a:avLst/>
          </a:prstGeom>
          <a:noFill/>
          <a:ln/>
        </p:spPr>
        <p:txBody>
          <a:bodyPr wrap="square" lIns="0" tIns="0" rIns="0" bIns="0" rtlCol="0" anchor="ctr"/>
          <a:lstStyle/>
          <a:p>
            <a:pPr indent="0" marL="0">
              <a:buNone/>
            </a:pPr>
            <a:r>
              <a:rPr lang="en-US" sz="2700" b="1" dirty="0">
                <a:solidFill>
                  <a:srgbClr val="F0AE44"/>
                </a:solidFill>
                <a:latin typeface="Cambria" pitchFamily="34" charset="0"/>
                <a:ea typeface="Cambria" pitchFamily="34" charset="-122"/>
                <a:cs typeface="Cambria" pitchFamily="34" charset="-120"/>
              </a:rPr>
              <a:t>87 %</a:t>
            </a:r>
            <a:endParaRPr lang="en-US" sz="2700" dirty="0"/>
          </a:p>
        </p:txBody>
      </p:sp>
      <p:sp>
        <p:nvSpPr>
          <p:cNvPr id="12" name="Text 9"/>
          <p:cNvSpPr/>
          <p:nvPr/>
        </p:nvSpPr>
        <p:spPr>
          <a:xfrm>
            <a:off x="6470752" y="2490946"/>
            <a:ext cx="2083232" cy="689363"/>
          </a:xfrm>
          <a:prstGeom prst="rect">
            <a:avLst/>
          </a:prstGeom>
          <a:noFill/>
          <a:ln/>
        </p:spPr>
        <p:txBody>
          <a:bodyPr wrap="square" lIns="0" tIns="0" rIns="0" bIns="0" rtlCol="0" anchor="ctr"/>
          <a:lstStyle/>
          <a:p>
            <a:pPr indent="0" marL="0">
              <a:buNone/>
            </a:pPr>
            <a:r>
              <a:rPr lang="en-US" sz="1150" dirty="0">
                <a:solidFill>
                  <a:srgbClr val="A9BDC9"/>
                </a:solidFill>
                <a:latin typeface="Calibri" pitchFamily="34" charset="0"/>
                <a:ea typeface="Calibri" pitchFamily="34" charset="-122"/>
                <a:cs typeface="Calibri" pitchFamily="34" charset="-120"/>
              </a:rPr>
              <a:t>de couverture de tests,</a:t>
            </a:r>
            <a:endParaRPr lang="en-US" sz="1150" dirty="0"/>
          </a:p>
          <a:p>
            <a:pPr indent="0" marL="0">
              <a:buNone/>
            </a:pPr>
            <a:r>
              <a:rPr lang="en-US" sz="1150" dirty="0">
                <a:solidFill>
                  <a:srgbClr val="A9BDC9"/>
                </a:solidFill>
                <a:latin typeface="Calibri" pitchFamily="34" charset="0"/>
                <a:ea typeface="Calibri" pitchFamily="34" charset="-122"/>
                <a:cs typeface="Calibri" pitchFamily="34" charset="-120"/>
              </a:rPr>
              <a:t>seuil bloquant à l'intégration</a:t>
            </a:r>
            <a:endParaRPr lang="en-US" sz="1150" dirty="0"/>
          </a:p>
        </p:txBody>
      </p:sp>
      <p:sp>
        <p:nvSpPr>
          <p:cNvPr id="13" name="Shape 10"/>
          <p:cNvSpPr/>
          <p:nvPr/>
        </p:nvSpPr>
        <p:spPr>
          <a:xfrm>
            <a:off x="9066047" y="1645920"/>
            <a:ext cx="2558720" cy="1667814"/>
          </a:xfrm>
          <a:prstGeom prst="roundRect">
            <a:avLst>
              <a:gd name="adj" fmla="val 2741"/>
            </a:avLst>
          </a:prstGeom>
          <a:solidFill>
            <a:srgbClr val="162936"/>
          </a:solidFill>
          <a:ln w="9525">
            <a:solidFill>
              <a:srgbClr val="24404F"/>
            </a:solidFill>
            <a:prstDash val="solid"/>
          </a:ln>
        </p:spPr>
      </p:sp>
      <p:sp>
        <p:nvSpPr>
          <p:cNvPr id="14" name="Text 11"/>
          <p:cNvSpPr/>
          <p:nvPr/>
        </p:nvSpPr>
        <p:spPr>
          <a:xfrm>
            <a:off x="9303791" y="1823820"/>
            <a:ext cx="2083232" cy="667126"/>
          </a:xfrm>
          <a:prstGeom prst="rect">
            <a:avLst/>
          </a:prstGeom>
          <a:noFill/>
          <a:ln/>
        </p:spPr>
        <p:txBody>
          <a:bodyPr wrap="square" lIns="0" tIns="0" rIns="0" bIns="0" rtlCol="0" anchor="ctr"/>
          <a:lstStyle/>
          <a:p>
            <a:pPr indent="0" marL="0">
              <a:buNone/>
            </a:pPr>
            <a:r>
              <a:rPr lang="en-US" sz="2700" b="1" dirty="0">
                <a:solidFill>
                  <a:srgbClr val="F0AE44"/>
                </a:solidFill>
                <a:latin typeface="Cambria" pitchFamily="34" charset="0"/>
                <a:ea typeface="Cambria" pitchFamily="34" charset="-122"/>
                <a:cs typeface="Cambria" pitchFamily="34" charset="-120"/>
              </a:rPr>
              <a:t>3 min 04</a:t>
            </a:r>
            <a:endParaRPr lang="en-US" sz="2700" dirty="0"/>
          </a:p>
        </p:txBody>
      </p:sp>
      <p:sp>
        <p:nvSpPr>
          <p:cNvPr id="15" name="Text 12"/>
          <p:cNvSpPr/>
          <p:nvPr/>
        </p:nvSpPr>
        <p:spPr>
          <a:xfrm>
            <a:off x="9303791" y="2490946"/>
            <a:ext cx="2083232" cy="689363"/>
          </a:xfrm>
          <a:prstGeom prst="rect">
            <a:avLst/>
          </a:prstGeom>
          <a:noFill/>
          <a:ln/>
        </p:spPr>
        <p:txBody>
          <a:bodyPr wrap="square" lIns="0" tIns="0" rIns="0" bIns="0" rtlCol="0" anchor="ctr"/>
          <a:lstStyle/>
          <a:p>
            <a:pPr indent="0" marL="0">
              <a:buNone/>
            </a:pPr>
            <a:r>
              <a:rPr lang="en-US" sz="1150" dirty="0">
                <a:solidFill>
                  <a:srgbClr val="A9BDC9"/>
                </a:solidFill>
                <a:latin typeface="Calibri" pitchFamily="34" charset="0"/>
                <a:ea typeface="Calibri" pitchFamily="34" charset="-122"/>
                <a:cs typeface="Calibri" pitchFamily="34" charset="-120"/>
              </a:rPr>
              <a:t>de délai de détection</a:t>
            </a:r>
            <a:endParaRPr lang="en-US" sz="1150" dirty="0"/>
          </a:p>
          <a:p>
            <a:pPr indent="0" marL="0">
              <a:buNone/>
            </a:pPr>
            <a:r>
              <a:rPr lang="en-US" sz="1150" dirty="0">
                <a:solidFill>
                  <a:srgbClr val="A9BDC9"/>
                </a:solidFill>
                <a:latin typeface="Calibri" pitchFamily="34" charset="0"/>
                <a:ea typeface="Calibri" pitchFamily="34" charset="-122"/>
                <a:cs typeface="Calibri" pitchFamily="34" charset="-120"/>
              </a:rPr>
              <a:t>d'un incident en production</a:t>
            </a:r>
            <a:endParaRPr lang="en-US" sz="1150" dirty="0"/>
          </a:p>
        </p:txBody>
      </p:sp>
      <p:sp>
        <p:nvSpPr>
          <p:cNvPr id="16" name="Text 13"/>
          <p:cNvSpPr/>
          <p:nvPr/>
        </p:nvSpPr>
        <p:spPr>
          <a:xfrm>
            <a:off x="566928" y="3647297"/>
            <a:ext cx="7315200" cy="289088"/>
          </a:xfrm>
          <a:prstGeom prst="rect">
            <a:avLst/>
          </a:prstGeom>
          <a:noFill/>
          <a:ln/>
        </p:spPr>
        <p:txBody>
          <a:bodyPr wrap="square" lIns="0" tIns="0" rIns="0" bIns="0" rtlCol="0" anchor="ctr"/>
          <a:lstStyle/>
          <a:p>
            <a:pPr indent="0" marL="0">
              <a:buNone/>
            </a:pPr>
            <a:r>
              <a:rPr lang="en-US" sz="1000" b="1" spc="140" kern="0" dirty="0">
                <a:solidFill>
                  <a:srgbClr val="F0AE44"/>
                </a:solidFill>
                <a:latin typeface="Courier New" pitchFamily="34" charset="0"/>
                <a:ea typeface="Courier New" pitchFamily="34" charset="-122"/>
                <a:cs typeface="Courier New" pitchFamily="34" charset="-120"/>
              </a:rPr>
              <a:t>CE QUI VIENT ENSUITE — LA VERSION 2</a:t>
            </a:r>
            <a:endParaRPr lang="en-US" sz="1000" dirty="0"/>
          </a:p>
        </p:txBody>
      </p:sp>
      <p:sp>
        <p:nvSpPr>
          <p:cNvPr id="17" name="Shape 14"/>
          <p:cNvSpPr/>
          <p:nvPr/>
        </p:nvSpPr>
        <p:spPr>
          <a:xfrm>
            <a:off x="566928" y="4003097"/>
            <a:ext cx="2586152" cy="1423201"/>
          </a:xfrm>
          <a:prstGeom prst="roundRect">
            <a:avLst>
              <a:gd name="adj" fmla="val 3212"/>
            </a:avLst>
          </a:prstGeom>
          <a:solidFill>
            <a:srgbClr val="162936"/>
          </a:solidFill>
          <a:ln w="9525">
            <a:solidFill>
              <a:srgbClr val="24404F"/>
            </a:solidFill>
            <a:prstDash val="solid"/>
          </a:ln>
        </p:spPr>
      </p:sp>
      <p:sp>
        <p:nvSpPr>
          <p:cNvPr id="18" name="Shape 15"/>
          <p:cNvSpPr/>
          <p:nvPr/>
        </p:nvSpPr>
        <p:spPr>
          <a:xfrm>
            <a:off x="566928" y="4003097"/>
            <a:ext cx="54864" cy="1423201"/>
          </a:xfrm>
          <a:prstGeom prst="rect">
            <a:avLst/>
          </a:prstGeom>
          <a:solidFill>
            <a:srgbClr val="D98A21"/>
          </a:solidFill>
          <a:ln w="12700">
            <a:solidFill>
              <a:srgbClr val="D98A21"/>
            </a:solidFill>
            <a:prstDash val="solid"/>
          </a:ln>
        </p:spPr>
      </p:sp>
      <p:sp>
        <p:nvSpPr>
          <p:cNvPr id="19" name="Text 16"/>
          <p:cNvSpPr/>
          <p:nvPr/>
        </p:nvSpPr>
        <p:spPr>
          <a:xfrm>
            <a:off x="804672" y="4158760"/>
            <a:ext cx="2128952" cy="37803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Microservice Média</a:t>
            </a:r>
            <a:endParaRPr lang="en-US" sz="1350" dirty="0"/>
          </a:p>
        </p:txBody>
      </p:sp>
      <p:sp>
        <p:nvSpPr>
          <p:cNvPr id="20" name="Text 17"/>
          <p:cNvSpPr/>
          <p:nvPr/>
        </p:nvSpPr>
        <p:spPr>
          <a:xfrm>
            <a:off x="804672" y="4559035"/>
            <a:ext cx="2128952" cy="756076"/>
          </a:xfrm>
          <a:prstGeom prst="rect">
            <a:avLst/>
          </a:prstGeom>
          <a:noFill/>
          <a:ln/>
        </p:spPr>
        <p:txBody>
          <a:bodyPr wrap="square" lIns="0" tIns="0" rIns="0" bIns="0" rtlCol="0" anchor="t"/>
          <a:lstStyle/>
          <a:p>
            <a:pPr indent="0" marL="0">
              <a:buNone/>
            </a:pPr>
            <a:r>
              <a:rPr lang="en-US" sz="1100" dirty="0">
                <a:solidFill>
                  <a:srgbClr val="A9BDC9"/>
                </a:solidFill>
                <a:latin typeface="Calibri" pitchFamily="34" charset="0"/>
                <a:ea typeface="Calibri" pitchFamily="34" charset="-122"/>
                <a:cs typeface="Calibri" pitchFamily="34" charset="-120"/>
              </a:rPr>
              <a:t>Transcodage asynchrone et portfolios vidéo — l'epic EP04, arbitré hors du Lot 1.</a:t>
            </a:r>
            <a:endParaRPr lang="en-US" sz="1100" dirty="0"/>
          </a:p>
        </p:txBody>
      </p:sp>
      <p:sp>
        <p:nvSpPr>
          <p:cNvPr id="21" name="Shape 18"/>
          <p:cNvSpPr/>
          <p:nvPr/>
        </p:nvSpPr>
        <p:spPr>
          <a:xfrm>
            <a:off x="3390824" y="4003097"/>
            <a:ext cx="2586152" cy="1423201"/>
          </a:xfrm>
          <a:prstGeom prst="roundRect">
            <a:avLst>
              <a:gd name="adj" fmla="val 3212"/>
            </a:avLst>
          </a:prstGeom>
          <a:solidFill>
            <a:srgbClr val="162936"/>
          </a:solidFill>
          <a:ln w="9525">
            <a:solidFill>
              <a:srgbClr val="24404F"/>
            </a:solidFill>
            <a:prstDash val="solid"/>
          </a:ln>
        </p:spPr>
      </p:sp>
      <p:sp>
        <p:nvSpPr>
          <p:cNvPr id="22" name="Shape 19"/>
          <p:cNvSpPr/>
          <p:nvPr/>
        </p:nvSpPr>
        <p:spPr>
          <a:xfrm>
            <a:off x="3390824" y="4003097"/>
            <a:ext cx="54864" cy="1423201"/>
          </a:xfrm>
          <a:prstGeom prst="rect">
            <a:avLst/>
          </a:prstGeom>
          <a:solidFill>
            <a:srgbClr val="D98A21"/>
          </a:solidFill>
          <a:ln w="12700">
            <a:solidFill>
              <a:srgbClr val="D98A21"/>
            </a:solidFill>
            <a:prstDash val="solid"/>
          </a:ln>
        </p:spPr>
      </p:sp>
      <p:sp>
        <p:nvSpPr>
          <p:cNvPr id="23" name="Text 20"/>
          <p:cNvSpPr/>
          <p:nvPr/>
        </p:nvSpPr>
        <p:spPr>
          <a:xfrm>
            <a:off x="3628568" y="4158760"/>
            <a:ext cx="2128952" cy="37803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Application mobile</a:t>
            </a:r>
            <a:endParaRPr lang="en-US" sz="1350" dirty="0"/>
          </a:p>
        </p:txBody>
      </p:sp>
      <p:sp>
        <p:nvSpPr>
          <p:cNvPr id="24" name="Text 21"/>
          <p:cNvSpPr/>
          <p:nvPr/>
        </p:nvSpPr>
        <p:spPr>
          <a:xfrm>
            <a:off x="3628568" y="4559035"/>
            <a:ext cx="2128952" cy="756076"/>
          </a:xfrm>
          <a:prstGeom prst="rect">
            <a:avLst/>
          </a:prstGeom>
          <a:noFill/>
          <a:ln/>
        </p:spPr>
        <p:txBody>
          <a:bodyPr wrap="square" lIns="0" tIns="0" rIns="0" bIns="0" rtlCol="0" anchor="t"/>
          <a:lstStyle/>
          <a:p>
            <a:pPr indent="0" marL="0">
              <a:buNone/>
            </a:pPr>
            <a:r>
              <a:rPr lang="en-US" sz="1100" dirty="0">
                <a:solidFill>
                  <a:srgbClr val="A9BDC9"/>
                </a:solidFill>
                <a:latin typeface="Calibri" pitchFamily="34" charset="0"/>
                <a:ea typeface="Calibri" pitchFamily="34" charset="-122"/>
                <a:cs typeface="Calibri" pitchFamily="34" charset="-120"/>
              </a:rPr>
              <a:t>React Native, avec les notifications push.</a:t>
            </a:r>
            <a:endParaRPr lang="en-US" sz="1100" dirty="0"/>
          </a:p>
        </p:txBody>
      </p:sp>
      <p:sp>
        <p:nvSpPr>
          <p:cNvPr id="25" name="Shape 22"/>
          <p:cNvSpPr/>
          <p:nvPr/>
        </p:nvSpPr>
        <p:spPr>
          <a:xfrm>
            <a:off x="6214720" y="4003097"/>
            <a:ext cx="2586152" cy="1423201"/>
          </a:xfrm>
          <a:prstGeom prst="roundRect">
            <a:avLst>
              <a:gd name="adj" fmla="val 3212"/>
            </a:avLst>
          </a:prstGeom>
          <a:solidFill>
            <a:srgbClr val="162936"/>
          </a:solidFill>
          <a:ln w="9525">
            <a:solidFill>
              <a:srgbClr val="24404F"/>
            </a:solidFill>
            <a:prstDash val="solid"/>
          </a:ln>
        </p:spPr>
      </p:sp>
      <p:sp>
        <p:nvSpPr>
          <p:cNvPr id="26" name="Shape 23"/>
          <p:cNvSpPr/>
          <p:nvPr/>
        </p:nvSpPr>
        <p:spPr>
          <a:xfrm>
            <a:off x="6214720" y="4003097"/>
            <a:ext cx="54864" cy="1423201"/>
          </a:xfrm>
          <a:prstGeom prst="rect">
            <a:avLst/>
          </a:prstGeom>
          <a:solidFill>
            <a:srgbClr val="D98A21"/>
          </a:solidFill>
          <a:ln w="12700">
            <a:solidFill>
              <a:srgbClr val="D98A21"/>
            </a:solidFill>
            <a:prstDash val="solid"/>
          </a:ln>
        </p:spPr>
      </p:sp>
      <p:sp>
        <p:nvSpPr>
          <p:cNvPr id="27" name="Text 24"/>
          <p:cNvSpPr/>
          <p:nvPr/>
        </p:nvSpPr>
        <p:spPr>
          <a:xfrm>
            <a:off x="6452464" y="4158760"/>
            <a:ext cx="2128952" cy="37803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Frontend</a:t>
            </a:r>
            <a:endParaRPr lang="en-US" sz="1350" dirty="0"/>
          </a:p>
        </p:txBody>
      </p:sp>
      <p:sp>
        <p:nvSpPr>
          <p:cNvPr id="28" name="Text 25"/>
          <p:cNvSpPr/>
          <p:nvPr/>
        </p:nvSpPr>
        <p:spPr>
          <a:xfrm>
            <a:off x="6452464" y="4559035"/>
            <a:ext cx="2128952" cy="756076"/>
          </a:xfrm>
          <a:prstGeom prst="rect">
            <a:avLst/>
          </a:prstGeom>
          <a:noFill/>
          <a:ln/>
        </p:spPr>
        <p:txBody>
          <a:bodyPr wrap="square" lIns="0" tIns="0" rIns="0" bIns="0" rtlCol="0" anchor="t"/>
          <a:lstStyle/>
          <a:p>
            <a:pPr indent="0" marL="0">
              <a:buNone/>
            </a:pPr>
            <a:r>
              <a:rPr lang="en-US" sz="1100" dirty="0">
                <a:solidFill>
                  <a:srgbClr val="A9BDC9"/>
                </a:solidFill>
                <a:latin typeface="Calibri" pitchFamily="34" charset="0"/>
                <a:ea typeface="Calibri" pitchFamily="34" charset="-122"/>
                <a:cs typeface="Calibri" pitchFamily="34" charset="-120"/>
              </a:rPr>
              <a:t>Améliorations issues de la recette et des retours d'usage.</a:t>
            </a:r>
            <a:endParaRPr lang="en-US" sz="1100" dirty="0"/>
          </a:p>
        </p:txBody>
      </p:sp>
      <p:sp>
        <p:nvSpPr>
          <p:cNvPr id="29" name="Shape 26"/>
          <p:cNvSpPr/>
          <p:nvPr/>
        </p:nvSpPr>
        <p:spPr>
          <a:xfrm>
            <a:off x="9038615" y="4003097"/>
            <a:ext cx="2586152" cy="1423201"/>
          </a:xfrm>
          <a:prstGeom prst="roundRect">
            <a:avLst>
              <a:gd name="adj" fmla="val 3212"/>
            </a:avLst>
          </a:prstGeom>
          <a:solidFill>
            <a:srgbClr val="162936"/>
          </a:solidFill>
          <a:ln w="9525">
            <a:solidFill>
              <a:srgbClr val="24404F"/>
            </a:solidFill>
            <a:prstDash val="solid"/>
          </a:ln>
        </p:spPr>
      </p:sp>
      <p:sp>
        <p:nvSpPr>
          <p:cNvPr id="30" name="Shape 27"/>
          <p:cNvSpPr/>
          <p:nvPr/>
        </p:nvSpPr>
        <p:spPr>
          <a:xfrm>
            <a:off x="9038615" y="4003097"/>
            <a:ext cx="54864" cy="1423201"/>
          </a:xfrm>
          <a:prstGeom prst="rect">
            <a:avLst/>
          </a:prstGeom>
          <a:solidFill>
            <a:srgbClr val="D98A21"/>
          </a:solidFill>
          <a:ln w="12700">
            <a:solidFill>
              <a:srgbClr val="D98A21"/>
            </a:solidFill>
            <a:prstDash val="solid"/>
          </a:ln>
        </p:spPr>
      </p:sp>
      <p:sp>
        <p:nvSpPr>
          <p:cNvPr id="31" name="Text 28"/>
          <p:cNvSpPr/>
          <p:nvPr/>
        </p:nvSpPr>
        <p:spPr>
          <a:xfrm>
            <a:off x="9276359" y="4158760"/>
            <a:ext cx="2128952" cy="37803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Vérification des certifications</a:t>
            </a:r>
            <a:endParaRPr lang="en-US" sz="1350" dirty="0"/>
          </a:p>
        </p:txBody>
      </p:sp>
      <p:sp>
        <p:nvSpPr>
          <p:cNvPr id="32" name="Text 29"/>
          <p:cNvSpPr/>
          <p:nvPr/>
        </p:nvSpPr>
        <p:spPr>
          <a:xfrm>
            <a:off x="9276359" y="4559035"/>
            <a:ext cx="2128952" cy="756076"/>
          </a:xfrm>
          <a:prstGeom prst="rect">
            <a:avLst/>
          </a:prstGeom>
          <a:noFill/>
          <a:ln/>
        </p:spPr>
        <p:txBody>
          <a:bodyPr wrap="square" lIns="0" tIns="0" rIns="0" bIns="0" rtlCol="0" anchor="t"/>
          <a:lstStyle/>
          <a:p>
            <a:pPr indent="0" marL="0">
              <a:buNone/>
            </a:pPr>
            <a:r>
              <a:rPr lang="en-US" sz="1100" dirty="0">
                <a:solidFill>
                  <a:srgbClr val="A9BDC9"/>
                </a:solidFill>
                <a:latin typeface="Calibri" pitchFamily="34" charset="0"/>
                <a:ea typeface="Calibri" pitchFamily="34" charset="-122"/>
                <a:cs typeface="Calibri" pitchFamily="34" charset="-120"/>
              </a:rPr>
              <a:t>Renforcement du contrôle et du workflow de validation.</a:t>
            </a:r>
            <a:endParaRPr lang="en-US" sz="1100" dirty="0"/>
          </a:p>
        </p:txBody>
      </p:sp>
      <p:sp>
        <p:nvSpPr>
          <p:cNvPr id="33" name="Shape 30"/>
          <p:cNvSpPr/>
          <p:nvPr/>
        </p:nvSpPr>
        <p:spPr>
          <a:xfrm>
            <a:off x="566928" y="5737624"/>
            <a:ext cx="11057839" cy="0"/>
          </a:xfrm>
          <a:prstGeom prst="line">
            <a:avLst/>
          </a:prstGeom>
          <a:noFill/>
          <a:ln w="12700">
            <a:solidFill>
              <a:srgbClr val="2C4657"/>
            </a:solidFill>
            <a:prstDash val="solid"/>
          </a:ln>
        </p:spPr>
      </p:sp>
      <p:sp>
        <p:nvSpPr>
          <p:cNvPr id="34" name="Text 31"/>
          <p:cNvSpPr/>
          <p:nvPr/>
        </p:nvSpPr>
        <p:spPr>
          <a:xfrm>
            <a:off x="566928" y="5937762"/>
            <a:ext cx="7772400" cy="444750"/>
          </a:xfrm>
          <a:prstGeom prst="rect">
            <a:avLst/>
          </a:prstGeom>
          <a:noFill/>
          <a:ln/>
        </p:spPr>
        <p:txBody>
          <a:bodyPr wrap="square" lIns="0" tIns="0" rIns="0" bIns="0" rtlCol="0" anchor="ctr"/>
          <a:lstStyle/>
          <a:p>
            <a:pPr indent="0" marL="0">
              <a:buNone/>
            </a:pPr>
            <a:r>
              <a:rPr lang="en-US" sz="1250" dirty="0">
                <a:solidFill>
                  <a:srgbClr val="A9BDC9"/>
                </a:solidFill>
                <a:latin typeface="Calibri" pitchFamily="34" charset="0"/>
                <a:ea typeface="Calibri" pitchFamily="34" charset="-122"/>
                <a:cs typeface="Calibri" pitchFamily="34" charset="-120"/>
              </a:rPr>
              <a:t>Le Lot 2 est budgété et conservé au backlog : rien n'a été abandonné, tout a été ordonnancé.</a:t>
            </a:r>
            <a:endParaRPr lang="en-US" sz="1250" dirty="0"/>
          </a:p>
        </p:txBody>
      </p:sp>
      <p:sp>
        <p:nvSpPr>
          <p:cNvPr id="35" name="Text 32"/>
          <p:cNvSpPr/>
          <p:nvPr/>
        </p:nvSpPr>
        <p:spPr>
          <a:xfrm>
            <a:off x="7509967" y="5937762"/>
            <a:ext cx="4114800" cy="444750"/>
          </a:xfrm>
          <a:prstGeom prst="rect">
            <a:avLst/>
          </a:prstGeom>
          <a:noFill/>
          <a:ln/>
        </p:spPr>
        <p:txBody>
          <a:bodyPr wrap="square" lIns="0" tIns="0" rIns="0" bIns="0" rtlCol="0" anchor="ctr"/>
          <a:lstStyle/>
          <a:p>
            <a:pPr algn="r" indent="0" marL="0">
              <a:buNone/>
            </a:pPr>
            <a:r>
              <a:rPr lang="en-US" sz="1400" b="1" dirty="0">
                <a:solidFill>
                  <a:srgbClr val="FFFFFF"/>
                </a:solidFill>
                <a:latin typeface="Calibri" pitchFamily="34" charset="0"/>
                <a:ea typeface="Calibri" pitchFamily="34" charset="-122"/>
                <a:cs typeface="Calibri" pitchFamily="34" charset="-120"/>
              </a:rPr>
              <a:t>Merci — je réponds à vos questions.</a:t>
            </a:r>
            <a:endParaRPr lang="en-US" sz="1400" dirty="0"/>
          </a:p>
        </p:txBody>
      </p:sp>
      <p:sp>
        <p:nvSpPr>
          <p:cNvPr id="36" name="Text 33"/>
          <p:cNvSpPr/>
          <p:nvPr/>
        </p:nvSpPr>
        <p:spPr>
          <a:xfrm>
            <a:off x="10984687" y="6419088"/>
            <a:ext cx="640080" cy="256032"/>
          </a:xfrm>
          <a:prstGeom prst="rect">
            <a:avLst/>
          </a:prstGeom>
          <a:noFill/>
          <a:ln/>
        </p:spPr>
        <p:txBody>
          <a:bodyPr wrap="square" lIns="0" tIns="0" rIns="0" bIns="0" rtlCol="0" anchor="ctr"/>
          <a:lstStyle/>
          <a:p>
            <a:pPr algn="r" indent="0" marL="0">
              <a:buNone/>
            </a:pPr>
            <a:r>
              <a:rPr lang="en-US" sz="1000" dirty="0">
                <a:solidFill>
                  <a:srgbClr val="5D7686"/>
                </a:solidFill>
                <a:latin typeface="Courier New" pitchFamily="34" charset="0"/>
                <a:ea typeface="Courier New" pitchFamily="34" charset="-122"/>
                <a:cs typeface="Courier New" pitchFamily="34" charset="-120"/>
              </a:rPr>
              <a:t>30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SkillHunt — Bloc 3 RNCP 39583</dc:title>
  <dc:subject>PptxGenJS Presentation</dc:subject>
  <dc:creator>Alix Allegre</dc:creator>
  <cp:lastModifiedBy>Alix Allegre</cp:lastModifiedBy>
  <cp:revision>1</cp:revision>
  <dcterms:created xsi:type="dcterms:W3CDTF">2026-09-02T12:35:57Z</dcterms:created>
  <dcterms:modified xsi:type="dcterms:W3CDTF">2026-09-02T12:35:57Z</dcterms:modified>
</cp:coreProperties>
</file>